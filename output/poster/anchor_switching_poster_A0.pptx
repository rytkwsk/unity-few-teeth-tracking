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0275784" cy="42803064"/>
  <p:notesSz cx="42803064" cy="3027578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000" b="0" i="0" u="none" strike="noStrike">
                <a:solidFill>
                  <a:srgbClr val="14213D"/>
                </a:solidFill>
                <a:latin typeface="+mn-lt"/>
              </a:defRPr>
            </a:pPr>
            <a:r>
              <a:rPr sz="2000" b="0" i="0" u="none" strike="noStrike">
                <a:solidFill>
                  <a:srgbClr val="14213D"/>
                </a:solidFill>
                <a:latin typeface="+mn-lt"/>
              </a:rPr>
              <a:t>遮蔽中にガイド表示が止まった割合</a:t>
            </a:r>
          </a:p>
        </c:rich>
      </c:tx>
      <c:layout/>
      <c:overlay val="0"/>
    </c:title>
    <c:autoTitleDeleted val="0"/>
    <c:plotArea>
      <c:layout/>
      <c:barChart>
        <c:barDir val="col"/>
        <c:grouping val="clustered"/>
        <c:varyColors val="0"/>
        <c:ser>
          <c:idx val="0"/>
          <c:order val="0"/>
          <c:tx>
            <c:strRef>
              <c:f>Sheet1!$B$1</c:f>
              <c:strCache>
                <c:ptCount val="1"/>
                <c:pt idx="0">
                  <c:v>遮蔽中にガイド表示が止まった割合</c:v>
                </c:pt>
              </c:strCache>
            </c:strRef>
          </c:tx>
          <c:spPr>
            <a:solidFill>
              <a:srgbClr val="9AA0A6"/>
            </a:solidFill>
            <a:effectLst/>
          </c:spPr>
          <c:invertIfNegative val="0"/>
          <c:dLbls>
            <c:numFmt formatCode="0.0&quot;%&quot;" sourceLinked="0"/>
            <c:txPr>
              <a:bodyPr/>
              <a:lstStyle/>
              <a:p>
                <a:pPr>
                  <a:defRPr b="0" i="0" strike="noStrike" sz="20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0A6"/>
              </a:solidFill>
              <a:effectLst/>
            </c:spPr>
          </c:dPt>
          <c:dPt>
            <c:idx val="1"/>
            <c:invertIfNegative val="0"/>
            <c:bubble3D val="0"/>
            <c:spPr>
              <a:solidFill>
                <a:srgbClr val="1F8A5B"/>
              </a:solidFill>
              <a:effectLst/>
            </c:spPr>
          </c:dPt>
          <c:cat>
            <c:multiLvlStrRef>
              <c:f>Sheet1!$A$2:$A$3</c:f>
              <c:multiLvlStrCache>
                <c:ptCount val="2"/>
                <c:lvl>
                  <c:pt idx="0">
                    <c:v>切替なし</c:v>
                  </c:pt>
                  <c:pt idx="1">
                    <c:v>切替あり</c:v>
                  </c:pt>
                </c:lvl>
              </c:multiLvlStrCache>
            </c:multiLvlStrRef>
          </c:cat>
          <c:val>
            <c:numRef>
              <c:f>Sheet1!$B$2:$B$3</c:f>
              <c:numCache>
                <c:formatCode>General</c:formatCode>
                <c:ptCount val="2"/>
                <c:pt idx="0">
                  <c:v>18</c:v>
                </c:pt>
                <c:pt idx="1">
                  <c:v>1.8</c:v>
                </c:pt>
              </c:numCache>
            </c:numRef>
          </c:val>
        </c:ser>
        <c:dLbls>
          <c:numFmt formatCode="0.0&quot;%&quot;" sourceLinked="0"/>
          <c:txPr>
            <a:bodyPr/>
            <a:lstStyle/>
            <a:p>
              <a:pPr>
                <a:defRPr b="0" i="0" strike="noStrike" sz="20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2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2000" b="0" i="0" u="none" strike="noStrike">
                <a:solidFill>
                  <a:srgbClr val="14213D"/>
                </a:solidFill>
                <a:latin typeface="+mn-lt"/>
              </a:defRPr>
            </a:pPr>
            <a:r>
              <a:rPr sz="2000" b="0" i="0" u="none" strike="noStrike">
                <a:solidFill>
                  <a:srgbClr val="14213D"/>
                </a:solidFill>
                <a:latin typeface="+mn-lt"/>
              </a:rPr>
              <a:t>最長の停止時間</a:t>
            </a:r>
          </a:p>
        </c:rich>
      </c:tx>
      <c:layout/>
      <c:overlay val="0"/>
    </c:title>
    <c:autoTitleDeleted val="0"/>
    <c:plotArea>
      <c:layout/>
      <c:barChart>
        <c:barDir val="col"/>
        <c:grouping val="clustered"/>
        <c:varyColors val="0"/>
        <c:ser>
          <c:idx val="0"/>
          <c:order val="0"/>
          <c:tx>
            <c:strRef>
              <c:f>Sheet1!$B$1</c:f>
              <c:strCache>
                <c:ptCount val="1"/>
                <c:pt idx="0">
                  <c:v>最長の停止時間</c:v>
                </c:pt>
              </c:strCache>
            </c:strRef>
          </c:tx>
          <c:spPr>
            <a:solidFill>
              <a:srgbClr val="9AA0A6"/>
            </a:solidFill>
            <a:effectLst/>
          </c:spPr>
          <c:invertIfNegative val="0"/>
          <c:dLbls>
            <c:numFmt formatCode="0.0&quot; s&quot;" sourceLinked="0"/>
            <c:txPr>
              <a:bodyPr/>
              <a:lstStyle/>
              <a:p>
                <a:pPr>
                  <a:defRPr b="0" i="0" strike="noStrike" sz="20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0A6"/>
              </a:solidFill>
              <a:effectLst/>
            </c:spPr>
          </c:dPt>
          <c:dPt>
            <c:idx val="1"/>
            <c:invertIfNegative val="0"/>
            <c:bubble3D val="0"/>
            <c:spPr>
              <a:solidFill>
                <a:srgbClr val="1F8A5B"/>
              </a:solidFill>
              <a:effectLst/>
            </c:spPr>
          </c:dPt>
          <c:cat>
            <c:multiLvlStrRef>
              <c:f>Sheet1!$A$2:$A$3</c:f>
              <c:multiLvlStrCache>
                <c:ptCount val="2"/>
                <c:lvl>
                  <c:pt idx="0">
                    <c:v>切替なし</c:v>
                  </c:pt>
                  <c:pt idx="1">
                    <c:v>切替あり</c:v>
                  </c:pt>
                </c:lvl>
              </c:multiLvlStrCache>
            </c:multiLvlStrRef>
          </c:cat>
          <c:val>
            <c:numRef>
              <c:f>Sheet1!$B$2:$B$3</c:f>
              <c:numCache>
                <c:formatCode>General</c:formatCode>
                <c:ptCount val="2"/>
                <c:pt idx="0">
                  <c:v>3.2</c:v>
                </c:pt>
                <c:pt idx="1">
                  <c:v>0.2</c:v>
                </c:pt>
              </c:numCache>
            </c:numRef>
          </c:val>
        </c:ser>
        <c:dLbls>
          <c:numFmt formatCode="0.0&quot; s&quot;" sourceLinked="0"/>
          <c:txPr>
            <a:bodyPr/>
            <a:lstStyle/>
            <a:p>
              <a:pPr>
                <a:defRPr b="0" i="0" strike="noStrike" sz="20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4.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chart" Target="/ppt/charts/chart1.xml"/><Relationship Id="rId8" Type="http://schemas.openxmlformats.org/officeDocument/2006/relationships/chart" Target="/ppt/charts/chart2.xml"/><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0275784" cy="5943600"/>
          </a:xfrm>
          <a:prstGeom prst="rect">
            <a:avLst/>
          </a:prstGeom>
          <a:solidFill>
            <a:srgbClr val="14213D"/>
          </a:solidFill>
          <a:ln w="19050">
            <a:solidFill>
              <a:srgbClr val="14213D"/>
            </a:solidFill>
            <a:prstDash val="solid"/>
          </a:ln>
        </p:spPr>
      </p:sp>
      <p:sp>
        <p:nvSpPr>
          <p:cNvPr id="3" name="Text 1"/>
          <p:cNvSpPr txBox="1"/>
          <p:nvPr/>
        </p:nvSpPr>
        <p:spPr>
          <a:xfrm>
            <a:off x="777240" y="411480"/>
            <a:ext cx="10972800" cy="640080"/>
          </a:xfrm>
          <a:prstGeom prst="rect">
            <a:avLst/>
          </a:prstGeom>
          <a:noFill/>
          <a:ln/>
        </p:spPr>
        <p:txBody>
          <a:bodyPr wrap="square" lIns="0" tIns="0" rIns="0" bIns="0" rtlCol="0" anchor="t"/>
          <a:lstStyle/>
          <a:p>
            <a:pPr indent="0" marL="0">
              <a:lnSpc>
                <a:spcPct val="125000"/>
              </a:lnSpc>
              <a:buNone/>
            </a:pPr>
            <a:r>
              <a:rPr lang="en-US" sz="2400" b="1" dirty="0">
                <a:solidFill>
                  <a:srgbClr val="BFD8D5"/>
                </a:solidFill>
              </a:rPr>
              <a:t>研究ミーティング（歯科）2026/10/3</a:t>
            </a:r>
            <a:endParaRPr lang="en-US" sz="2400" dirty="0"/>
          </a:p>
        </p:txBody>
      </p:sp>
      <p:sp>
        <p:nvSpPr>
          <p:cNvPr id="4" name="Text 2"/>
          <p:cNvSpPr txBox="1"/>
          <p:nvPr/>
        </p:nvSpPr>
        <p:spPr>
          <a:xfrm>
            <a:off x="24012144" y="320040"/>
            <a:ext cx="5486400" cy="1280160"/>
          </a:xfrm>
          <a:prstGeom prst="rect">
            <a:avLst/>
          </a:prstGeom>
          <a:noFill/>
          <a:ln/>
        </p:spPr>
        <p:txBody>
          <a:bodyPr wrap="square" lIns="0" tIns="0" rIns="0" bIns="0" rtlCol="0" anchor="t"/>
          <a:lstStyle/>
          <a:p>
            <a:pPr algn="r" indent="0" marL="0">
              <a:lnSpc>
                <a:spcPct val="110000"/>
              </a:lnSpc>
              <a:buNone/>
            </a:pPr>
            <a:r>
              <a:rPr lang="en-US" sz="2400" b="1" dirty="0">
                <a:solidFill>
                  <a:srgbClr val="FFFFFF"/>
                </a:solidFill>
              </a:rPr>
              <a:t>茨城大学</a:t>
            </a:r>
            <a:endParaRPr lang="en-US" sz="2400" dirty="0"/>
          </a:p>
          <a:p>
            <a:pPr algn="r" indent="0" marL="0">
              <a:lnSpc>
                <a:spcPct val="110000"/>
              </a:lnSpc>
              <a:buNone/>
            </a:pPr>
            <a:r>
              <a:rPr lang="en-US" sz="2400" b="1" dirty="0">
                <a:solidFill>
                  <a:srgbClr val="FFFFFF"/>
                </a:solidFill>
              </a:rPr>
              <a:t>Ibaraki University</a:t>
            </a:r>
            <a:endParaRPr lang="en-US" sz="2400" dirty="0"/>
          </a:p>
        </p:txBody>
      </p:sp>
      <p:sp>
        <p:nvSpPr>
          <p:cNvPr id="5" name="Text 3"/>
          <p:cNvSpPr txBox="1"/>
          <p:nvPr/>
        </p:nvSpPr>
        <p:spPr>
          <a:xfrm>
            <a:off x="777240" y="1097280"/>
            <a:ext cx="28721304" cy="2926080"/>
          </a:xfrm>
          <a:prstGeom prst="rect">
            <a:avLst/>
          </a:prstGeom>
          <a:noFill/>
          <a:ln/>
        </p:spPr>
        <p:txBody>
          <a:bodyPr wrap="square" lIns="0" tIns="0" rIns="0" bIns="0" rtlCol="0" anchor="ctr"/>
          <a:lstStyle/>
          <a:p>
            <a:pPr algn="ctr" indent="0" marL="0">
              <a:lnSpc>
                <a:spcPct val="115000"/>
              </a:lnSpc>
              <a:buNone/>
            </a:pPr>
            <a:r>
              <a:rPr lang="en-US" sz="6000" b="1" dirty="0">
                <a:solidFill>
                  <a:srgbClr val="FFFFFF"/>
                </a:solidFill>
              </a:rPr>
              <a:t>Anchor Switching を用いた</a:t>
            </a:r>
            <a:endParaRPr lang="en-US" sz="6000" dirty="0"/>
          </a:p>
          <a:p>
            <a:pPr algn="ctr" indent="0" marL="0">
              <a:lnSpc>
                <a:spcPct val="115000"/>
              </a:lnSpc>
              <a:buNone/>
            </a:pPr>
            <a:r>
              <a:rPr lang="en-US" sz="6000" b="1" dirty="0">
                <a:solidFill>
                  <a:srgbClr val="FFFFFF"/>
                </a:solidFill>
              </a:rPr>
              <a:t>遮蔽に強い AR インプラント治療支援システム</a:t>
            </a:r>
            <a:endParaRPr lang="en-US" sz="6000" dirty="0"/>
          </a:p>
        </p:txBody>
      </p:sp>
      <p:sp>
        <p:nvSpPr>
          <p:cNvPr id="6" name="Text 4"/>
          <p:cNvSpPr txBox="1"/>
          <p:nvPr/>
        </p:nvSpPr>
        <p:spPr>
          <a:xfrm>
            <a:off x="777240" y="4069080"/>
            <a:ext cx="28721304" cy="731520"/>
          </a:xfrm>
          <a:prstGeom prst="rect">
            <a:avLst/>
          </a:prstGeom>
          <a:noFill/>
          <a:ln/>
        </p:spPr>
        <p:txBody>
          <a:bodyPr wrap="square" lIns="0" tIns="0" rIns="0" bIns="0" rtlCol="0" anchor="ctr"/>
          <a:lstStyle/>
          <a:p>
            <a:pPr algn="ctr" indent="0" marL="0">
              <a:lnSpc>
                <a:spcPct val="125000"/>
              </a:lnSpc>
              <a:buNone/>
            </a:pPr>
            <a:r>
              <a:rPr lang="en-US" sz="2800" dirty="0">
                <a:solidFill>
                  <a:srgbClr val="BFD8D5"/>
                </a:solidFill>
                <a:latin typeface="Calibri" pitchFamily="34" charset="0"/>
                <a:ea typeface="Calibri" pitchFamily="34" charset="-122"/>
                <a:cs typeface="Calibri" pitchFamily="34" charset="-120"/>
              </a:rPr>
              <a:t>Development of an AR-Based Dental Implant Treatment Support System Using Anchor Switching</a:t>
            </a:r>
            <a:endParaRPr lang="en-US" sz="2800" dirty="0"/>
          </a:p>
        </p:txBody>
      </p:sp>
      <p:sp>
        <p:nvSpPr>
          <p:cNvPr id="7" name="Text 5"/>
          <p:cNvSpPr txBox="1"/>
          <p:nvPr/>
        </p:nvSpPr>
        <p:spPr>
          <a:xfrm>
            <a:off x="777240" y="4892040"/>
            <a:ext cx="28721304" cy="822960"/>
          </a:xfrm>
          <a:prstGeom prst="rect">
            <a:avLst/>
          </a:prstGeom>
          <a:noFill/>
          <a:ln/>
        </p:spPr>
        <p:txBody>
          <a:bodyPr wrap="square" lIns="0" tIns="0" rIns="0" bIns="0" rtlCol="0" anchor="ctr"/>
          <a:lstStyle/>
          <a:p>
            <a:pPr algn="ctr" indent="0" marL="0">
              <a:lnSpc>
                <a:spcPct val="125000"/>
              </a:lnSpc>
              <a:buNone/>
            </a:pPr>
            <a:r>
              <a:rPr lang="en-US" sz="2800" b="1" dirty="0">
                <a:solidFill>
                  <a:srgbClr val="FFFFFF"/>
                </a:solidFill>
              </a:rPr>
              <a:t>茨城大学　○川崎 涼太　狩野 徹</a:t>
            </a:r>
            <a:pPr algn="ctr" indent="0" marL="0">
              <a:lnSpc>
                <a:spcPct val="125000"/>
              </a:lnSpc>
              <a:buNone/>
            </a:pPr>
            <a:r>
              <a:rPr lang="en-US" sz="2800" dirty="0">
                <a:solidFill>
                  <a:srgbClr val="FFFFFF"/>
                </a:solidFill>
              </a:rPr>
              <a:t>　／　Medical Engineering Lab.　竹林 晃　／　Japan Institute for Advanced Dentistry　山本 宏明　／　南東北総合病院　春日井 昇平</a:t>
            </a:r>
            <a:endParaRPr lang="en-US" sz="2800" dirty="0"/>
          </a:p>
        </p:txBody>
      </p:sp>
      <p:sp>
        <p:nvSpPr>
          <p:cNvPr id="8" name="Shape 6"/>
          <p:cNvSpPr/>
          <p:nvPr/>
        </p:nvSpPr>
        <p:spPr>
          <a:xfrm>
            <a:off x="777240" y="6309360"/>
            <a:ext cx="14086332" cy="11064240"/>
          </a:xfrm>
          <a:prstGeom prst="rect">
            <a:avLst/>
          </a:prstGeom>
          <a:solidFill>
            <a:srgbClr val="FFFFFF"/>
          </a:solidFill>
          <a:ln w="19050">
            <a:solidFill>
              <a:srgbClr val="C9CED8"/>
            </a:solidFill>
            <a:prstDash val="solid"/>
          </a:ln>
        </p:spPr>
      </p:sp>
      <p:sp>
        <p:nvSpPr>
          <p:cNvPr id="9" name="Shape 7"/>
          <p:cNvSpPr/>
          <p:nvPr/>
        </p:nvSpPr>
        <p:spPr>
          <a:xfrm>
            <a:off x="777240" y="6309360"/>
            <a:ext cx="14086332" cy="960120"/>
          </a:xfrm>
          <a:prstGeom prst="rect">
            <a:avLst/>
          </a:prstGeom>
          <a:solidFill>
            <a:srgbClr val="14213D"/>
          </a:solidFill>
          <a:ln w="19050">
            <a:solidFill>
              <a:srgbClr val="14213D"/>
            </a:solidFill>
            <a:prstDash val="solid"/>
          </a:ln>
        </p:spPr>
      </p:sp>
      <p:sp>
        <p:nvSpPr>
          <p:cNvPr id="10" name="Text 8"/>
          <p:cNvSpPr txBox="1"/>
          <p:nvPr/>
        </p:nvSpPr>
        <p:spPr>
          <a:xfrm>
            <a:off x="1097280" y="6309360"/>
            <a:ext cx="1188720" cy="960120"/>
          </a:xfrm>
          <a:prstGeom prst="rect">
            <a:avLst/>
          </a:prstGeom>
          <a:noFill/>
          <a:ln/>
        </p:spPr>
        <p:txBody>
          <a:bodyPr wrap="square" lIns="0" tIns="0" rIns="0" bIns="0" rtlCol="0" anchor="ctr"/>
          <a:lstStyle/>
          <a:p>
            <a:pPr indent="0" marL="0">
              <a:lnSpc>
                <a:spcPct val="125000"/>
              </a:lnSpc>
              <a:buNone/>
            </a:pPr>
            <a:r>
              <a:rPr lang="en-US" sz="4000" b="1" dirty="0">
                <a:solidFill>
                  <a:srgbClr val="FFFFFF"/>
                </a:solidFill>
                <a:latin typeface="Calibri" pitchFamily="34" charset="0"/>
                <a:ea typeface="Calibri" pitchFamily="34" charset="-122"/>
                <a:cs typeface="Calibri" pitchFamily="34" charset="-120"/>
              </a:rPr>
              <a:t>1.</a:t>
            </a:r>
            <a:endParaRPr lang="en-US" sz="4000" dirty="0"/>
          </a:p>
        </p:txBody>
      </p:sp>
      <p:sp>
        <p:nvSpPr>
          <p:cNvPr id="11" name="Text 9"/>
          <p:cNvSpPr txBox="1"/>
          <p:nvPr/>
        </p:nvSpPr>
        <p:spPr>
          <a:xfrm>
            <a:off x="2331720" y="6309360"/>
            <a:ext cx="12257532" cy="960120"/>
          </a:xfrm>
          <a:prstGeom prst="rect">
            <a:avLst/>
          </a:prstGeom>
          <a:noFill/>
          <a:ln/>
        </p:spPr>
        <p:txBody>
          <a:bodyPr wrap="square" lIns="0" tIns="0" rIns="0" bIns="0" rtlCol="0" anchor="ctr"/>
          <a:lstStyle/>
          <a:p>
            <a:pPr indent="0" marL="0">
              <a:lnSpc>
                <a:spcPct val="125000"/>
              </a:lnSpc>
              <a:buNone/>
            </a:pPr>
            <a:r>
              <a:rPr lang="en-US" sz="3800" b="1" dirty="0">
                <a:solidFill>
                  <a:srgbClr val="FFFFFF"/>
                </a:solidFill>
              </a:rPr>
              <a:t>背景</a:t>
            </a:r>
            <a:endParaRPr lang="en-US" sz="3800" dirty="0"/>
          </a:p>
        </p:txBody>
      </p:sp>
      <p:sp>
        <p:nvSpPr>
          <p:cNvPr id="12" name="Shape 10"/>
          <p:cNvSpPr/>
          <p:nvPr/>
        </p:nvSpPr>
        <p:spPr>
          <a:xfrm>
            <a:off x="1143000" y="7498080"/>
            <a:ext cx="13354812" cy="658368"/>
          </a:xfrm>
          <a:prstGeom prst="roundRect">
            <a:avLst>
              <a:gd name="adj" fmla="val 11111"/>
            </a:avLst>
          </a:prstGeom>
          <a:solidFill>
            <a:srgbClr val="DCE3EE"/>
          </a:solidFill>
          <a:ln w="19050">
            <a:solidFill>
              <a:srgbClr val="DCE3EE"/>
            </a:solidFill>
            <a:prstDash val="solid"/>
          </a:ln>
        </p:spPr>
      </p:sp>
      <p:sp>
        <p:nvSpPr>
          <p:cNvPr id="13" name="Text 11"/>
          <p:cNvSpPr txBox="1"/>
          <p:nvPr/>
        </p:nvSpPr>
        <p:spPr>
          <a:xfrm>
            <a:off x="1417320" y="7498080"/>
            <a:ext cx="12806172" cy="658368"/>
          </a:xfrm>
          <a:prstGeom prst="rect">
            <a:avLst/>
          </a:prstGeom>
          <a:noFill/>
          <a:ln/>
        </p:spPr>
        <p:txBody>
          <a:bodyPr wrap="square" lIns="0" tIns="0" rIns="0" bIns="0" rtlCol="0" anchor="ctr"/>
          <a:lstStyle/>
          <a:p>
            <a:pPr indent="0" marL="0">
              <a:lnSpc>
                <a:spcPct val="125000"/>
              </a:lnSpc>
              <a:buNone/>
            </a:pPr>
            <a:r>
              <a:rPr lang="en-US" sz="2700" b="1" dirty="0">
                <a:solidFill>
                  <a:srgbClr val="14213D"/>
                </a:solidFill>
              </a:rPr>
              <a:t>インプラント手術：術前計画どおりにドリリングする</a:t>
            </a:r>
            <a:endParaRPr lang="en-US" sz="2700" dirty="0"/>
          </a:p>
        </p:txBody>
      </p:sp>
      <p:pic>
        <p:nvPicPr>
          <p:cNvPr id="14" name="Image 0" descr="C:/Users/rytkw/AppData/Local/Temp/claude/C--Users-rytkw-Projects-unity-few-teeth-tracking/426ee211-65a6-44e2-b903-6d0fa52dabdc/scratchpad/slides_img/raw_model_c.jpg">    </p:cNvPr>
          <p:cNvPicPr>
            <a:picLocks noChangeAspect="1"/>
          </p:cNvPicPr>
          <p:nvPr/>
        </p:nvPicPr>
        <p:blipFill>
          <a:blip r:embed="rId1"/>
          <a:srcRect l="0" r="0" t="0" b="0"/>
          <a:stretch/>
        </p:blipFill>
        <p:spPr>
          <a:xfrm>
            <a:off x="1143000" y="8321040"/>
            <a:ext cx="5486400" cy="3474720"/>
          </a:xfrm>
          <a:prstGeom prst="rect">
            <a:avLst/>
          </a:prstGeom>
        </p:spPr>
      </p:pic>
      <p:sp>
        <p:nvSpPr>
          <p:cNvPr id="15" name="Text 12"/>
          <p:cNvSpPr txBox="1"/>
          <p:nvPr/>
        </p:nvSpPr>
        <p:spPr>
          <a:xfrm>
            <a:off x="1143000" y="11841480"/>
            <a:ext cx="5486400" cy="822960"/>
          </a:xfrm>
          <a:prstGeom prst="rect">
            <a:avLst/>
          </a:prstGeom>
          <a:noFill/>
          <a:ln/>
        </p:spPr>
        <p:txBody>
          <a:bodyPr wrap="square" lIns="0" tIns="0" rIns="0" bIns="0" rtlCol="0" anchor="t"/>
          <a:lstStyle/>
          <a:p>
            <a:pPr indent="0" marL="0">
              <a:lnSpc>
                <a:spcPct val="120000"/>
              </a:lnSpc>
              <a:buNone/>
            </a:pPr>
            <a:r>
              <a:rPr lang="en-US" sz="2000" dirty="0">
                <a:solidFill>
                  <a:srgbClr val="5A6270"/>
                </a:solidFill>
              </a:rPr>
              <a:t>// 使用した下顎の歯列模型（右の板は精度測定用で、追跡には使わない）</a:t>
            </a:r>
            <a:endParaRPr lang="en-US" sz="2000" dirty="0"/>
          </a:p>
        </p:txBody>
      </p:sp>
      <p:sp>
        <p:nvSpPr>
          <p:cNvPr id="16" name="Shape 13"/>
          <p:cNvSpPr/>
          <p:nvPr/>
        </p:nvSpPr>
        <p:spPr>
          <a:xfrm>
            <a:off x="7086600" y="8321040"/>
            <a:ext cx="7411212" cy="1005840"/>
          </a:xfrm>
          <a:prstGeom prst="roundRect">
            <a:avLst>
              <a:gd name="adj" fmla="val 10909"/>
            </a:avLst>
          </a:prstGeom>
          <a:solidFill>
            <a:srgbClr val="14213D"/>
          </a:solidFill>
          <a:ln w="19050">
            <a:solidFill>
              <a:srgbClr val="14213D"/>
            </a:solidFill>
            <a:prstDash val="solid"/>
          </a:ln>
        </p:spPr>
      </p:sp>
      <p:sp>
        <p:nvSpPr>
          <p:cNvPr id="17" name="Text 14"/>
          <p:cNvSpPr txBox="1"/>
          <p:nvPr/>
        </p:nvSpPr>
        <p:spPr>
          <a:xfrm>
            <a:off x="7269480" y="8321040"/>
            <a:ext cx="7045452" cy="1005840"/>
          </a:xfrm>
          <a:prstGeom prst="rect">
            <a:avLst/>
          </a:prstGeom>
          <a:noFill/>
          <a:ln/>
        </p:spPr>
        <p:txBody>
          <a:bodyPr wrap="square" lIns="0" tIns="0" rIns="0" bIns="0" rtlCol="0" anchor="ctr"/>
          <a:lstStyle/>
          <a:p>
            <a:pPr algn="ctr" indent="0" marL="0">
              <a:lnSpc>
                <a:spcPct val="115000"/>
              </a:lnSpc>
              <a:buNone/>
            </a:pPr>
            <a:r>
              <a:rPr lang="en-US" sz="2400" b="1" dirty="0">
                <a:solidFill>
                  <a:srgbClr val="FFFFFF"/>
                </a:solidFill>
              </a:rPr>
              <a:t>CT から歯列の 3D モデルを作成</a:t>
            </a:r>
            <a:endParaRPr lang="en-US" sz="2400" dirty="0"/>
          </a:p>
        </p:txBody>
      </p:sp>
      <p:sp>
        <p:nvSpPr>
          <p:cNvPr id="18" name="Shape 15"/>
          <p:cNvSpPr/>
          <p:nvPr/>
        </p:nvSpPr>
        <p:spPr>
          <a:xfrm>
            <a:off x="10563606" y="9345168"/>
            <a:ext cx="457200" cy="320040"/>
          </a:xfrm>
          <a:prstGeom prst="downArrow">
            <a:avLst/>
          </a:prstGeom>
          <a:solidFill>
            <a:srgbClr val="5A6270"/>
          </a:solidFill>
          <a:ln w="12700">
            <a:solidFill>
              <a:srgbClr val="5A6270"/>
            </a:solidFill>
            <a:prstDash val="solid"/>
          </a:ln>
        </p:spPr>
      </p:sp>
      <p:sp>
        <p:nvSpPr>
          <p:cNvPr id="19" name="Shape 16"/>
          <p:cNvSpPr/>
          <p:nvPr/>
        </p:nvSpPr>
        <p:spPr>
          <a:xfrm>
            <a:off x="7086600" y="9692640"/>
            <a:ext cx="7411212" cy="1005840"/>
          </a:xfrm>
          <a:prstGeom prst="roundRect">
            <a:avLst>
              <a:gd name="adj" fmla="val 10909"/>
            </a:avLst>
          </a:prstGeom>
          <a:solidFill>
            <a:srgbClr val="14213D"/>
          </a:solidFill>
          <a:ln w="19050">
            <a:solidFill>
              <a:srgbClr val="14213D"/>
            </a:solidFill>
            <a:prstDash val="solid"/>
          </a:ln>
        </p:spPr>
      </p:sp>
      <p:sp>
        <p:nvSpPr>
          <p:cNvPr id="20" name="Text 17"/>
          <p:cNvSpPr txBox="1"/>
          <p:nvPr/>
        </p:nvSpPr>
        <p:spPr>
          <a:xfrm>
            <a:off x="7269480" y="9692640"/>
            <a:ext cx="7045452" cy="1005840"/>
          </a:xfrm>
          <a:prstGeom prst="rect">
            <a:avLst/>
          </a:prstGeom>
          <a:noFill/>
          <a:ln/>
        </p:spPr>
        <p:txBody>
          <a:bodyPr wrap="square" lIns="0" tIns="0" rIns="0" bIns="0" rtlCol="0" anchor="ctr"/>
          <a:lstStyle/>
          <a:p>
            <a:pPr algn="ctr" indent="0" marL="0">
              <a:lnSpc>
                <a:spcPct val="115000"/>
              </a:lnSpc>
              <a:buNone/>
            </a:pPr>
            <a:r>
              <a:rPr lang="en-US" sz="2400" b="1" dirty="0">
                <a:solidFill>
                  <a:srgbClr val="FFFFFF"/>
                </a:solidFill>
              </a:rPr>
              <a:t>モデル上で埋入位置と軸を計画</a:t>
            </a:r>
            <a:endParaRPr lang="en-US" sz="2400" dirty="0"/>
          </a:p>
        </p:txBody>
      </p:sp>
      <p:sp>
        <p:nvSpPr>
          <p:cNvPr id="21" name="Shape 18"/>
          <p:cNvSpPr/>
          <p:nvPr/>
        </p:nvSpPr>
        <p:spPr>
          <a:xfrm>
            <a:off x="10563606" y="10716768"/>
            <a:ext cx="457200" cy="320040"/>
          </a:xfrm>
          <a:prstGeom prst="downArrow">
            <a:avLst/>
          </a:prstGeom>
          <a:solidFill>
            <a:srgbClr val="5A6270"/>
          </a:solidFill>
          <a:ln w="12700">
            <a:solidFill>
              <a:srgbClr val="5A6270"/>
            </a:solidFill>
            <a:prstDash val="solid"/>
          </a:ln>
        </p:spPr>
      </p:sp>
      <p:sp>
        <p:nvSpPr>
          <p:cNvPr id="22" name="Shape 19"/>
          <p:cNvSpPr/>
          <p:nvPr/>
        </p:nvSpPr>
        <p:spPr>
          <a:xfrm>
            <a:off x="7086600" y="11064240"/>
            <a:ext cx="7411212" cy="1005840"/>
          </a:xfrm>
          <a:prstGeom prst="roundRect">
            <a:avLst>
              <a:gd name="adj" fmla="val 10909"/>
            </a:avLst>
          </a:prstGeom>
          <a:solidFill>
            <a:srgbClr val="14213D"/>
          </a:solidFill>
          <a:ln w="19050">
            <a:solidFill>
              <a:srgbClr val="14213D"/>
            </a:solidFill>
            <a:prstDash val="solid"/>
          </a:ln>
        </p:spPr>
      </p:sp>
      <p:sp>
        <p:nvSpPr>
          <p:cNvPr id="23" name="Text 20"/>
          <p:cNvSpPr txBox="1"/>
          <p:nvPr/>
        </p:nvSpPr>
        <p:spPr>
          <a:xfrm>
            <a:off x="7269480" y="11064240"/>
            <a:ext cx="7045452" cy="1005840"/>
          </a:xfrm>
          <a:prstGeom prst="rect">
            <a:avLst/>
          </a:prstGeom>
          <a:noFill/>
          <a:ln/>
        </p:spPr>
        <p:txBody>
          <a:bodyPr wrap="square" lIns="0" tIns="0" rIns="0" bIns="0" rtlCol="0" anchor="ctr"/>
          <a:lstStyle/>
          <a:p>
            <a:pPr algn="ctr" indent="0" marL="0">
              <a:lnSpc>
                <a:spcPct val="115000"/>
              </a:lnSpc>
              <a:buNone/>
            </a:pPr>
            <a:r>
              <a:rPr lang="en-US" sz="2400" b="1" dirty="0">
                <a:solidFill>
                  <a:srgbClr val="FFFFFF"/>
                </a:solidFill>
              </a:rPr>
              <a:t>計画どおりにドリリング</a:t>
            </a:r>
            <a:endParaRPr lang="en-US" sz="2400" dirty="0"/>
          </a:p>
        </p:txBody>
      </p:sp>
      <p:sp>
        <p:nvSpPr>
          <p:cNvPr id="24" name="Shape 21"/>
          <p:cNvSpPr/>
          <p:nvPr/>
        </p:nvSpPr>
        <p:spPr>
          <a:xfrm>
            <a:off x="1143000" y="12801600"/>
            <a:ext cx="13354812" cy="658368"/>
          </a:xfrm>
          <a:prstGeom prst="roundRect">
            <a:avLst>
              <a:gd name="adj" fmla="val 11111"/>
            </a:avLst>
          </a:prstGeom>
          <a:solidFill>
            <a:srgbClr val="DCE3EE"/>
          </a:solidFill>
          <a:ln w="19050">
            <a:solidFill>
              <a:srgbClr val="DCE3EE"/>
            </a:solidFill>
            <a:prstDash val="solid"/>
          </a:ln>
        </p:spPr>
      </p:sp>
      <p:sp>
        <p:nvSpPr>
          <p:cNvPr id="25" name="Text 22"/>
          <p:cNvSpPr txBox="1"/>
          <p:nvPr/>
        </p:nvSpPr>
        <p:spPr>
          <a:xfrm>
            <a:off x="1417320" y="12801600"/>
            <a:ext cx="12806172" cy="658368"/>
          </a:xfrm>
          <a:prstGeom prst="rect">
            <a:avLst/>
          </a:prstGeom>
          <a:noFill/>
          <a:ln/>
        </p:spPr>
        <p:txBody>
          <a:bodyPr wrap="square" lIns="0" tIns="0" rIns="0" bIns="0" rtlCol="0" anchor="ctr"/>
          <a:lstStyle/>
          <a:p>
            <a:pPr indent="0" marL="0">
              <a:lnSpc>
                <a:spcPct val="125000"/>
              </a:lnSpc>
              <a:buNone/>
            </a:pPr>
            <a:r>
              <a:rPr lang="en-US" sz="2700" b="1" dirty="0">
                <a:solidFill>
                  <a:srgbClr val="14213D"/>
                </a:solidFill>
              </a:rPr>
              <a:t>現在の提示法：サージカルガイドプレート</a:t>
            </a:r>
            <a:endParaRPr lang="en-US" sz="2700" dirty="0"/>
          </a:p>
        </p:txBody>
      </p:sp>
      <p:sp>
        <p:nvSpPr>
          <p:cNvPr id="26" name="Shape 23"/>
          <p:cNvSpPr/>
          <p:nvPr/>
        </p:nvSpPr>
        <p:spPr>
          <a:xfrm>
            <a:off x="1143000" y="13624560"/>
            <a:ext cx="6448806" cy="1737360"/>
          </a:xfrm>
          <a:prstGeom prst="roundRect">
            <a:avLst>
              <a:gd name="adj" fmla="val 6316"/>
            </a:avLst>
          </a:prstGeom>
          <a:solidFill>
            <a:srgbClr val="EEF1F6"/>
          </a:solidFill>
          <a:ln w="19050">
            <a:solidFill>
              <a:srgbClr val="EEF1F6"/>
            </a:solidFill>
            <a:prstDash val="solid"/>
          </a:ln>
        </p:spPr>
      </p:sp>
      <p:sp>
        <p:nvSpPr>
          <p:cNvPr id="27" name="Text 24"/>
          <p:cNvSpPr txBox="1"/>
          <p:nvPr/>
        </p:nvSpPr>
        <p:spPr>
          <a:xfrm>
            <a:off x="1371600" y="13789152"/>
            <a:ext cx="5991606" cy="729691"/>
          </a:xfrm>
          <a:prstGeom prst="rect">
            <a:avLst/>
          </a:prstGeom>
          <a:noFill/>
          <a:ln/>
        </p:spPr>
        <p:txBody>
          <a:bodyPr wrap="square" lIns="0" tIns="0" rIns="0" bIns="0" rtlCol="0" anchor="t"/>
          <a:lstStyle/>
          <a:p>
            <a:pPr indent="0" marL="0">
              <a:lnSpc>
                <a:spcPct val="115000"/>
              </a:lnSpc>
              <a:buNone/>
            </a:pPr>
            <a:r>
              <a:rPr lang="en-US" sz="2500" b="1" dirty="0">
                <a:solidFill>
                  <a:srgbClr val="1F8A5B"/>
                </a:solidFill>
              </a:rPr>
              <a:t>○ ドリルを物理的に誘導できる</a:t>
            </a:r>
            <a:endParaRPr lang="en-US" sz="2500" dirty="0"/>
          </a:p>
        </p:txBody>
      </p:sp>
      <p:sp>
        <p:nvSpPr>
          <p:cNvPr id="28" name="Text 25"/>
          <p:cNvSpPr txBox="1"/>
          <p:nvPr/>
        </p:nvSpPr>
        <p:spPr>
          <a:xfrm>
            <a:off x="1371600" y="14458493"/>
            <a:ext cx="5991606" cy="86868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計画位置へ確実に導く</a:t>
            </a:r>
            <a:endParaRPr lang="en-US" sz="2100" dirty="0"/>
          </a:p>
        </p:txBody>
      </p:sp>
      <p:sp>
        <p:nvSpPr>
          <p:cNvPr id="29" name="Shape 26"/>
          <p:cNvSpPr/>
          <p:nvPr/>
        </p:nvSpPr>
        <p:spPr>
          <a:xfrm>
            <a:off x="8049006" y="13624560"/>
            <a:ext cx="6448806" cy="1737360"/>
          </a:xfrm>
          <a:prstGeom prst="roundRect">
            <a:avLst>
              <a:gd name="adj" fmla="val 6316"/>
            </a:avLst>
          </a:prstGeom>
          <a:solidFill>
            <a:srgbClr val="EEF1F6"/>
          </a:solidFill>
          <a:ln w="19050">
            <a:solidFill>
              <a:srgbClr val="EEF1F6"/>
            </a:solidFill>
            <a:prstDash val="solid"/>
          </a:ln>
        </p:spPr>
      </p:sp>
      <p:sp>
        <p:nvSpPr>
          <p:cNvPr id="30" name="Text 27"/>
          <p:cNvSpPr txBox="1"/>
          <p:nvPr/>
        </p:nvSpPr>
        <p:spPr>
          <a:xfrm>
            <a:off x="8277606" y="13789152"/>
            <a:ext cx="5991606" cy="729691"/>
          </a:xfrm>
          <a:prstGeom prst="rect">
            <a:avLst/>
          </a:prstGeom>
          <a:noFill/>
          <a:ln/>
        </p:spPr>
        <p:txBody>
          <a:bodyPr wrap="square" lIns="0" tIns="0" rIns="0" bIns="0" rtlCol="0" anchor="t"/>
          <a:lstStyle/>
          <a:p>
            <a:pPr indent="0" marL="0">
              <a:lnSpc>
                <a:spcPct val="115000"/>
              </a:lnSpc>
              <a:buNone/>
            </a:pPr>
            <a:r>
              <a:rPr lang="en-US" sz="2500" b="1" dirty="0">
                <a:solidFill>
                  <a:srgbClr val="D6453D"/>
                </a:solidFill>
              </a:rPr>
              <a:t>× 口腔内に装着する</a:t>
            </a:r>
            <a:endParaRPr lang="en-US" sz="2500" dirty="0"/>
          </a:p>
        </p:txBody>
      </p:sp>
      <p:sp>
        <p:nvSpPr>
          <p:cNvPr id="31" name="Text 28"/>
          <p:cNvSpPr txBox="1"/>
          <p:nvPr/>
        </p:nvSpPr>
        <p:spPr>
          <a:xfrm>
            <a:off x="8277606" y="14458493"/>
            <a:ext cx="5991606" cy="86868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マウスピース状の器具が術野の視認性を下げる</a:t>
            </a:r>
            <a:endParaRPr lang="en-US" sz="2100" dirty="0"/>
          </a:p>
        </p:txBody>
      </p:sp>
      <p:sp>
        <p:nvSpPr>
          <p:cNvPr id="32" name="Shape 29"/>
          <p:cNvSpPr/>
          <p:nvPr/>
        </p:nvSpPr>
        <p:spPr>
          <a:xfrm>
            <a:off x="1143000" y="15590520"/>
            <a:ext cx="13354812" cy="1371600"/>
          </a:xfrm>
          <a:prstGeom prst="roundRect">
            <a:avLst>
              <a:gd name="adj" fmla="val 6667"/>
            </a:avLst>
          </a:prstGeom>
          <a:solidFill>
            <a:srgbClr val="FFF4EC"/>
          </a:solidFill>
          <a:ln w="38100">
            <a:solidFill>
              <a:srgbClr val="D6453D"/>
            </a:solidFill>
            <a:prstDash val="solid"/>
          </a:ln>
        </p:spPr>
      </p:sp>
      <p:sp>
        <p:nvSpPr>
          <p:cNvPr id="33" name="Text 30"/>
          <p:cNvSpPr txBox="1"/>
          <p:nvPr/>
        </p:nvSpPr>
        <p:spPr>
          <a:xfrm>
            <a:off x="1417320" y="15590520"/>
            <a:ext cx="12806172" cy="1371600"/>
          </a:xfrm>
          <a:prstGeom prst="rect">
            <a:avLst/>
          </a:prstGeom>
          <a:noFill/>
          <a:ln/>
        </p:spPr>
        <p:txBody>
          <a:bodyPr wrap="square" lIns="0" tIns="0" rIns="0" bIns="0" rtlCol="0" anchor="ctr"/>
          <a:lstStyle/>
          <a:p>
            <a:pPr indent="0" marL="0">
              <a:lnSpc>
                <a:spcPct val="120000"/>
              </a:lnSpc>
              <a:buNone/>
            </a:pPr>
            <a:r>
              <a:rPr lang="en-US" sz="2600" b="1" dirty="0">
                <a:solidFill>
                  <a:srgbClr val="14213D"/>
                </a:solidFill>
              </a:rPr>
              <a:t>→ カメラ 1 台と 3D モデルベース追跡で、カメラ画像に埋入計画を直接重畳する AR システムを開発中 [2]</a:t>
            </a:r>
            <a:endParaRPr lang="en-US" sz="2600" dirty="0"/>
          </a:p>
        </p:txBody>
      </p:sp>
      <p:sp>
        <p:nvSpPr>
          <p:cNvPr id="34" name="Shape 31"/>
          <p:cNvSpPr/>
          <p:nvPr/>
        </p:nvSpPr>
        <p:spPr>
          <a:xfrm>
            <a:off x="777240" y="17693640"/>
            <a:ext cx="14086332" cy="8229600"/>
          </a:xfrm>
          <a:prstGeom prst="rect">
            <a:avLst/>
          </a:prstGeom>
          <a:solidFill>
            <a:srgbClr val="FFFFFF"/>
          </a:solidFill>
          <a:ln w="19050">
            <a:solidFill>
              <a:srgbClr val="C9CED8"/>
            </a:solidFill>
            <a:prstDash val="solid"/>
          </a:ln>
        </p:spPr>
      </p:sp>
      <p:sp>
        <p:nvSpPr>
          <p:cNvPr id="35" name="Shape 32"/>
          <p:cNvSpPr/>
          <p:nvPr/>
        </p:nvSpPr>
        <p:spPr>
          <a:xfrm>
            <a:off x="777240" y="17693640"/>
            <a:ext cx="14086332" cy="960120"/>
          </a:xfrm>
          <a:prstGeom prst="rect">
            <a:avLst/>
          </a:prstGeom>
          <a:solidFill>
            <a:srgbClr val="14213D"/>
          </a:solidFill>
          <a:ln w="19050">
            <a:solidFill>
              <a:srgbClr val="14213D"/>
            </a:solidFill>
            <a:prstDash val="solid"/>
          </a:ln>
        </p:spPr>
      </p:sp>
      <p:sp>
        <p:nvSpPr>
          <p:cNvPr id="36" name="Text 33"/>
          <p:cNvSpPr txBox="1"/>
          <p:nvPr/>
        </p:nvSpPr>
        <p:spPr>
          <a:xfrm>
            <a:off x="1097280" y="17693640"/>
            <a:ext cx="1188720" cy="960120"/>
          </a:xfrm>
          <a:prstGeom prst="rect">
            <a:avLst/>
          </a:prstGeom>
          <a:noFill/>
          <a:ln/>
        </p:spPr>
        <p:txBody>
          <a:bodyPr wrap="square" lIns="0" tIns="0" rIns="0" bIns="0" rtlCol="0" anchor="ctr"/>
          <a:lstStyle/>
          <a:p>
            <a:pPr indent="0" marL="0">
              <a:lnSpc>
                <a:spcPct val="125000"/>
              </a:lnSpc>
              <a:buNone/>
            </a:pPr>
            <a:r>
              <a:rPr lang="en-US" sz="4000" b="1" dirty="0">
                <a:solidFill>
                  <a:srgbClr val="FFFFFF"/>
                </a:solidFill>
                <a:latin typeface="Calibri" pitchFamily="34" charset="0"/>
                <a:ea typeface="Calibri" pitchFamily="34" charset="-122"/>
                <a:cs typeface="Calibri" pitchFamily="34" charset="-120"/>
              </a:rPr>
              <a:t>2.</a:t>
            </a:r>
            <a:endParaRPr lang="en-US" sz="4000" dirty="0"/>
          </a:p>
        </p:txBody>
      </p:sp>
      <p:sp>
        <p:nvSpPr>
          <p:cNvPr id="37" name="Text 34"/>
          <p:cNvSpPr txBox="1"/>
          <p:nvPr/>
        </p:nvSpPr>
        <p:spPr>
          <a:xfrm>
            <a:off x="2331720" y="17693640"/>
            <a:ext cx="12257532" cy="960120"/>
          </a:xfrm>
          <a:prstGeom prst="rect">
            <a:avLst/>
          </a:prstGeom>
          <a:noFill/>
          <a:ln/>
        </p:spPr>
        <p:txBody>
          <a:bodyPr wrap="square" lIns="0" tIns="0" rIns="0" bIns="0" rtlCol="0" anchor="ctr"/>
          <a:lstStyle/>
          <a:p>
            <a:pPr indent="0" marL="0">
              <a:lnSpc>
                <a:spcPct val="125000"/>
              </a:lnSpc>
              <a:buNone/>
            </a:pPr>
            <a:r>
              <a:rPr lang="en-US" sz="3800" b="1" dirty="0">
                <a:solidFill>
                  <a:srgbClr val="FFFFFF"/>
                </a:solidFill>
              </a:rPr>
              <a:t>課題と目的</a:t>
            </a:r>
            <a:endParaRPr lang="en-US" sz="3800" dirty="0"/>
          </a:p>
        </p:txBody>
      </p:sp>
      <p:sp>
        <p:nvSpPr>
          <p:cNvPr id="38" name="Shape 35"/>
          <p:cNvSpPr/>
          <p:nvPr/>
        </p:nvSpPr>
        <p:spPr>
          <a:xfrm>
            <a:off x="1143000" y="18882360"/>
            <a:ext cx="13354812" cy="658368"/>
          </a:xfrm>
          <a:prstGeom prst="roundRect">
            <a:avLst>
              <a:gd name="adj" fmla="val 11111"/>
            </a:avLst>
          </a:prstGeom>
          <a:solidFill>
            <a:srgbClr val="DCE3EE"/>
          </a:solidFill>
          <a:ln w="19050">
            <a:solidFill>
              <a:srgbClr val="DCE3EE"/>
            </a:solidFill>
            <a:prstDash val="solid"/>
          </a:ln>
        </p:spPr>
      </p:sp>
      <p:sp>
        <p:nvSpPr>
          <p:cNvPr id="39" name="Text 36"/>
          <p:cNvSpPr txBox="1"/>
          <p:nvPr/>
        </p:nvSpPr>
        <p:spPr>
          <a:xfrm>
            <a:off x="1417320" y="18882360"/>
            <a:ext cx="12806172" cy="658368"/>
          </a:xfrm>
          <a:prstGeom prst="rect">
            <a:avLst/>
          </a:prstGeom>
          <a:noFill/>
          <a:ln/>
        </p:spPr>
        <p:txBody>
          <a:bodyPr wrap="square" lIns="0" tIns="0" rIns="0" bIns="0" rtlCol="0" anchor="ctr"/>
          <a:lstStyle/>
          <a:p>
            <a:pPr indent="0" marL="0">
              <a:lnSpc>
                <a:spcPct val="125000"/>
              </a:lnSpc>
              <a:buNone/>
            </a:pPr>
            <a:r>
              <a:rPr lang="en-US" sz="2700" b="1" dirty="0">
                <a:solidFill>
                  <a:srgbClr val="14213D"/>
                </a:solidFill>
              </a:rPr>
              <a:t>課題：オクルージョン（遮蔽）で AR 表示が消える</a:t>
            </a:r>
            <a:endParaRPr lang="en-US" sz="2700" dirty="0"/>
          </a:p>
        </p:txBody>
      </p:sp>
      <p:sp>
        <p:nvSpPr>
          <p:cNvPr id="40" name="Shape 37"/>
          <p:cNvSpPr/>
          <p:nvPr/>
        </p:nvSpPr>
        <p:spPr>
          <a:xfrm>
            <a:off x="1143000" y="19705320"/>
            <a:ext cx="4024884" cy="2377440"/>
          </a:xfrm>
          <a:prstGeom prst="roundRect">
            <a:avLst>
              <a:gd name="adj" fmla="val 4615"/>
            </a:avLst>
          </a:prstGeom>
          <a:solidFill>
            <a:srgbClr val="EEF1F6"/>
          </a:solidFill>
          <a:ln w="19050">
            <a:solidFill>
              <a:srgbClr val="EEF1F6"/>
            </a:solidFill>
            <a:prstDash val="solid"/>
          </a:ln>
        </p:spPr>
      </p:sp>
      <p:sp>
        <p:nvSpPr>
          <p:cNvPr id="41" name="Text 38"/>
          <p:cNvSpPr txBox="1"/>
          <p:nvPr/>
        </p:nvSpPr>
        <p:spPr>
          <a:xfrm>
            <a:off x="1371600" y="19869912"/>
            <a:ext cx="3567684" cy="998525"/>
          </a:xfrm>
          <a:prstGeom prst="rect">
            <a:avLst/>
          </a:prstGeom>
          <a:noFill/>
          <a:ln/>
        </p:spPr>
        <p:txBody>
          <a:bodyPr wrap="square" lIns="0" tIns="0" rIns="0" bIns="0" rtlCol="0" anchor="t"/>
          <a:lstStyle/>
          <a:p>
            <a:pPr indent="0" marL="0">
              <a:lnSpc>
                <a:spcPct val="115000"/>
              </a:lnSpc>
              <a:buNone/>
            </a:pPr>
            <a:r>
              <a:rPr lang="en-US" sz="2500" b="1" dirty="0">
                <a:solidFill>
                  <a:srgbClr val="14213D"/>
                </a:solidFill>
              </a:rPr>
              <a:t>手・器具が歯列を隠す</a:t>
            </a:r>
            <a:endParaRPr lang="en-US" sz="2500" dirty="0"/>
          </a:p>
        </p:txBody>
      </p:sp>
      <p:sp>
        <p:nvSpPr>
          <p:cNvPr id="42" name="Text 39"/>
          <p:cNvSpPr txBox="1"/>
          <p:nvPr/>
        </p:nvSpPr>
        <p:spPr>
          <a:xfrm>
            <a:off x="1371600" y="20846491"/>
            <a:ext cx="3567684" cy="118872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術者の手やハンドピースが歯列の一部を遮蔽</a:t>
            </a:r>
            <a:endParaRPr lang="en-US" sz="2100" dirty="0"/>
          </a:p>
        </p:txBody>
      </p:sp>
      <p:sp>
        <p:nvSpPr>
          <p:cNvPr id="43" name="Shape 40"/>
          <p:cNvSpPr/>
          <p:nvPr/>
        </p:nvSpPr>
        <p:spPr>
          <a:xfrm>
            <a:off x="5277612" y="20665440"/>
            <a:ext cx="420624" cy="411480"/>
          </a:xfrm>
          <a:prstGeom prst="rightArrow">
            <a:avLst/>
          </a:prstGeom>
          <a:solidFill>
            <a:srgbClr val="5A6270"/>
          </a:solidFill>
          <a:ln w="12700">
            <a:solidFill>
              <a:srgbClr val="5A6270"/>
            </a:solidFill>
            <a:prstDash val="solid"/>
          </a:ln>
        </p:spPr>
      </p:sp>
      <p:sp>
        <p:nvSpPr>
          <p:cNvPr id="44" name="Shape 41"/>
          <p:cNvSpPr/>
          <p:nvPr/>
        </p:nvSpPr>
        <p:spPr>
          <a:xfrm>
            <a:off x="5807964" y="19705320"/>
            <a:ext cx="4024884" cy="2377440"/>
          </a:xfrm>
          <a:prstGeom prst="roundRect">
            <a:avLst>
              <a:gd name="adj" fmla="val 4615"/>
            </a:avLst>
          </a:prstGeom>
          <a:solidFill>
            <a:srgbClr val="EEF1F6"/>
          </a:solidFill>
          <a:ln w="19050">
            <a:solidFill>
              <a:srgbClr val="EEF1F6"/>
            </a:solidFill>
            <a:prstDash val="solid"/>
          </a:ln>
        </p:spPr>
      </p:sp>
      <p:sp>
        <p:nvSpPr>
          <p:cNvPr id="45" name="Text 42"/>
          <p:cNvSpPr txBox="1"/>
          <p:nvPr/>
        </p:nvSpPr>
        <p:spPr>
          <a:xfrm>
            <a:off x="6036564" y="19869912"/>
            <a:ext cx="3567684" cy="998525"/>
          </a:xfrm>
          <a:prstGeom prst="rect">
            <a:avLst/>
          </a:prstGeom>
          <a:noFill/>
          <a:ln/>
        </p:spPr>
        <p:txBody>
          <a:bodyPr wrap="square" lIns="0" tIns="0" rIns="0" bIns="0" rtlCol="0" anchor="t"/>
          <a:lstStyle/>
          <a:p>
            <a:pPr indent="0" marL="0">
              <a:lnSpc>
                <a:spcPct val="115000"/>
              </a:lnSpc>
              <a:buNone/>
            </a:pPr>
            <a:r>
              <a:rPr lang="en-US" sz="2500" b="1" dirty="0">
                <a:solidFill>
                  <a:srgbClr val="14213D"/>
                </a:solidFill>
              </a:rPr>
              <a:t>追跡が崩れる</a:t>
            </a:r>
            <a:endParaRPr lang="en-US" sz="2500" dirty="0"/>
          </a:p>
        </p:txBody>
      </p:sp>
      <p:sp>
        <p:nvSpPr>
          <p:cNvPr id="46" name="Text 43"/>
          <p:cNvSpPr txBox="1"/>
          <p:nvPr/>
        </p:nvSpPr>
        <p:spPr>
          <a:xfrm>
            <a:off x="6036564" y="20846491"/>
            <a:ext cx="3567684" cy="118872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歯列全体を 1 モデルで追うため、ドリフトやロストが起こる</a:t>
            </a:r>
            <a:endParaRPr lang="en-US" sz="2100" dirty="0"/>
          </a:p>
        </p:txBody>
      </p:sp>
      <p:sp>
        <p:nvSpPr>
          <p:cNvPr id="47" name="Shape 44"/>
          <p:cNvSpPr/>
          <p:nvPr/>
        </p:nvSpPr>
        <p:spPr>
          <a:xfrm>
            <a:off x="9942576" y="20665440"/>
            <a:ext cx="420624" cy="411480"/>
          </a:xfrm>
          <a:prstGeom prst="rightArrow">
            <a:avLst/>
          </a:prstGeom>
          <a:solidFill>
            <a:srgbClr val="5A6270"/>
          </a:solidFill>
          <a:ln w="12700">
            <a:solidFill>
              <a:srgbClr val="5A6270"/>
            </a:solidFill>
            <a:prstDash val="solid"/>
          </a:ln>
        </p:spPr>
      </p:sp>
      <p:sp>
        <p:nvSpPr>
          <p:cNvPr id="48" name="Shape 45"/>
          <p:cNvSpPr/>
          <p:nvPr/>
        </p:nvSpPr>
        <p:spPr>
          <a:xfrm>
            <a:off x="10472928" y="19705320"/>
            <a:ext cx="4024884" cy="2377440"/>
          </a:xfrm>
          <a:prstGeom prst="roundRect">
            <a:avLst>
              <a:gd name="adj" fmla="val 4615"/>
            </a:avLst>
          </a:prstGeom>
          <a:solidFill>
            <a:srgbClr val="14213D"/>
          </a:solidFill>
          <a:ln w="19050">
            <a:solidFill>
              <a:srgbClr val="14213D"/>
            </a:solidFill>
            <a:prstDash val="solid"/>
          </a:ln>
        </p:spPr>
      </p:sp>
      <p:sp>
        <p:nvSpPr>
          <p:cNvPr id="49" name="Text 46"/>
          <p:cNvSpPr txBox="1"/>
          <p:nvPr/>
        </p:nvSpPr>
        <p:spPr>
          <a:xfrm>
            <a:off x="10701528" y="19869912"/>
            <a:ext cx="3567684" cy="998525"/>
          </a:xfrm>
          <a:prstGeom prst="rect">
            <a:avLst/>
          </a:prstGeom>
          <a:noFill/>
          <a:ln/>
        </p:spPr>
        <p:txBody>
          <a:bodyPr wrap="square" lIns="0" tIns="0" rIns="0" bIns="0" rtlCol="0" anchor="t"/>
          <a:lstStyle/>
          <a:p>
            <a:pPr indent="0" marL="0">
              <a:lnSpc>
                <a:spcPct val="115000"/>
              </a:lnSpc>
              <a:buNone/>
            </a:pPr>
            <a:r>
              <a:rPr lang="en-US" sz="2500" b="1" dirty="0">
                <a:solidFill>
                  <a:srgbClr val="FFFFFF"/>
                </a:solidFill>
              </a:rPr>
              <a:t>表示が消える・ずれる</a:t>
            </a:r>
            <a:endParaRPr lang="en-US" sz="2500" dirty="0"/>
          </a:p>
        </p:txBody>
      </p:sp>
      <p:sp>
        <p:nvSpPr>
          <p:cNvPr id="50" name="Text 47"/>
          <p:cNvSpPr txBox="1"/>
          <p:nvPr/>
        </p:nvSpPr>
        <p:spPr>
          <a:xfrm>
            <a:off x="10701528" y="20846491"/>
            <a:ext cx="3567684" cy="1188720"/>
          </a:xfrm>
          <a:prstGeom prst="rect">
            <a:avLst/>
          </a:prstGeom>
          <a:noFill/>
          <a:ln/>
        </p:spPr>
        <p:txBody>
          <a:bodyPr wrap="square" lIns="0" tIns="0" rIns="0" bIns="0" rtlCol="0" anchor="t"/>
          <a:lstStyle/>
          <a:p>
            <a:pPr indent="0" marL="0">
              <a:lnSpc>
                <a:spcPct val="120000"/>
              </a:lnSpc>
              <a:buNone/>
            </a:pPr>
            <a:r>
              <a:rPr lang="en-US" sz="2100" dirty="0">
                <a:solidFill>
                  <a:srgbClr val="DDDDDD"/>
                </a:solidFill>
              </a:rPr>
              <a:t>インプラント軸の重畳が消え、手術に影響</a:t>
            </a:r>
            <a:endParaRPr lang="en-US" sz="2100" dirty="0"/>
          </a:p>
        </p:txBody>
      </p:sp>
      <p:sp>
        <p:nvSpPr>
          <p:cNvPr id="51" name="Shape 48"/>
          <p:cNvSpPr/>
          <p:nvPr/>
        </p:nvSpPr>
        <p:spPr>
          <a:xfrm>
            <a:off x="1143000" y="22311360"/>
            <a:ext cx="13354812" cy="658368"/>
          </a:xfrm>
          <a:prstGeom prst="roundRect">
            <a:avLst>
              <a:gd name="adj" fmla="val 11111"/>
            </a:avLst>
          </a:prstGeom>
          <a:solidFill>
            <a:srgbClr val="DCE3EE"/>
          </a:solidFill>
          <a:ln w="19050">
            <a:solidFill>
              <a:srgbClr val="DCE3EE"/>
            </a:solidFill>
            <a:prstDash val="solid"/>
          </a:ln>
        </p:spPr>
      </p:sp>
      <p:sp>
        <p:nvSpPr>
          <p:cNvPr id="52" name="Text 49"/>
          <p:cNvSpPr txBox="1"/>
          <p:nvPr/>
        </p:nvSpPr>
        <p:spPr>
          <a:xfrm>
            <a:off x="1417320" y="22311360"/>
            <a:ext cx="12806172" cy="658368"/>
          </a:xfrm>
          <a:prstGeom prst="rect">
            <a:avLst/>
          </a:prstGeom>
          <a:noFill/>
          <a:ln/>
        </p:spPr>
        <p:txBody>
          <a:bodyPr wrap="square" lIns="0" tIns="0" rIns="0" bIns="0" rtlCol="0" anchor="ctr"/>
          <a:lstStyle/>
          <a:p>
            <a:pPr indent="0" marL="0">
              <a:lnSpc>
                <a:spcPct val="125000"/>
              </a:lnSpc>
              <a:buNone/>
            </a:pPr>
            <a:r>
              <a:rPr lang="en-US" sz="2700" b="1" dirty="0">
                <a:solidFill>
                  <a:srgbClr val="14213D"/>
                </a:solidFill>
              </a:rPr>
              <a:t>目的</a:t>
            </a:r>
            <a:endParaRPr lang="en-US" sz="2700" dirty="0"/>
          </a:p>
        </p:txBody>
      </p:sp>
      <p:sp>
        <p:nvSpPr>
          <p:cNvPr id="53" name="Text 50"/>
          <p:cNvSpPr txBox="1"/>
          <p:nvPr/>
        </p:nvSpPr>
        <p:spPr>
          <a:xfrm>
            <a:off x="1143000" y="23134320"/>
            <a:ext cx="13354812" cy="1188720"/>
          </a:xfrm>
          <a:prstGeom prst="rect">
            <a:avLst/>
          </a:prstGeom>
          <a:noFill/>
          <a:ln/>
        </p:spPr>
        <p:txBody>
          <a:bodyPr wrap="square" lIns="0" tIns="0" rIns="0" bIns="0" rtlCol="0" anchor="ctr"/>
          <a:lstStyle/>
          <a:p>
            <a:pPr algn="ctr" indent="0" marL="0">
              <a:lnSpc>
                <a:spcPct val="120000"/>
              </a:lnSpc>
              <a:buNone/>
            </a:pPr>
            <a:r>
              <a:rPr lang="en-US" sz="2500" b="1" dirty="0">
                <a:solidFill>
                  <a:srgbClr val="14213D"/>
                </a:solidFill>
              </a:rPr>
              <a:t>歯列模型の一部が手や器具で遮蔽されても、AR 表示に必要な歯列模型全体の位置姿勢を継続して取得する</a:t>
            </a:r>
            <a:endParaRPr lang="en-US" sz="2500" dirty="0"/>
          </a:p>
        </p:txBody>
      </p:sp>
      <p:sp>
        <p:nvSpPr>
          <p:cNvPr id="54" name="Shape 51"/>
          <p:cNvSpPr/>
          <p:nvPr/>
        </p:nvSpPr>
        <p:spPr>
          <a:xfrm>
            <a:off x="7546086" y="24368760"/>
            <a:ext cx="548640" cy="365760"/>
          </a:xfrm>
          <a:prstGeom prst="downArrow">
            <a:avLst/>
          </a:prstGeom>
          <a:solidFill>
            <a:srgbClr val="14213D"/>
          </a:solidFill>
          <a:ln w="12700">
            <a:solidFill>
              <a:srgbClr val="14213D"/>
            </a:solidFill>
            <a:prstDash val="solid"/>
          </a:ln>
        </p:spPr>
      </p:sp>
      <p:sp>
        <p:nvSpPr>
          <p:cNvPr id="55" name="Text 52"/>
          <p:cNvSpPr txBox="1"/>
          <p:nvPr/>
        </p:nvSpPr>
        <p:spPr>
          <a:xfrm>
            <a:off x="1143000" y="24825960"/>
            <a:ext cx="13354812" cy="822960"/>
          </a:xfrm>
          <a:prstGeom prst="rect">
            <a:avLst/>
          </a:prstGeom>
          <a:noFill/>
          <a:ln/>
        </p:spPr>
        <p:txBody>
          <a:bodyPr wrap="square" lIns="0" tIns="0" rIns="0" bIns="0" rtlCol="0" anchor="ctr"/>
          <a:lstStyle/>
          <a:p>
            <a:pPr algn="ctr" indent="0" marL="0">
              <a:lnSpc>
                <a:spcPct val="125000"/>
              </a:lnSpc>
              <a:buNone/>
            </a:pPr>
            <a:r>
              <a:rPr lang="en-US" sz="2600" b="1" dirty="0">
                <a:solidFill>
                  <a:srgbClr val="1F8A5B"/>
                </a:solidFill>
              </a:rPr>
              <a:t>隠れていない歯で、隠れた歯列全体の姿勢を保つ「Anchor Switching」手法を検討</a:t>
            </a:r>
            <a:endParaRPr lang="en-US" sz="2600" dirty="0"/>
          </a:p>
        </p:txBody>
      </p:sp>
      <p:sp>
        <p:nvSpPr>
          <p:cNvPr id="56" name="Shape 53"/>
          <p:cNvSpPr/>
          <p:nvPr/>
        </p:nvSpPr>
        <p:spPr>
          <a:xfrm>
            <a:off x="777240" y="26243280"/>
            <a:ext cx="14086332" cy="14813280"/>
          </a:xfrm>
          <a:prstGeom prst="rect">
            <a:avLst/>
          </a:prstGeom>
          <a:solidFill>
            <a:srgbClr val="FFFFFF"/>
          </a:solidFill>
          <a:ln w="19050">
            <a:solidFill>
              <a:srgbClr val="C9CED8"/>
            </a:solidFill>
            <a:prstDash val="solid"/>
          </a:ln>
        </p:spPr>
      </p:sp>
      <p:sp>
        <p:nvSpPr>
          <p:cNvPr id="57" name="Shape 54"/>
          <p:cNvSpPr/>
          <p:nvPr/>
        </p:nvSpPr>
        <p:spPr>
          <a:xfrm>
            <a:off x="777240" y="26243280"/>
            <a:ext cx="14086332" cy="960120"/>
          </a:xfrm>
          <a:prstGeom prst="rect">
            <a:avLst/>
          </a:prstGeom>
          <a:solidFill>
            <a:srgbClr val="14213D"/>
          </a:solidFill>
          <a:ln w="19050">
            <a:solidFill>
              <a:srgbClr val="14213D"/>
            </a:solidFill>
            <a:prstDash val="solid"/>
          </a:ln>
        </p:spPr>
      </p:sp>
      <p:sp>
        <p:nvSpPr>
          <p:cNvPr id="58" name="Text 55"/>
          <p:cNvSpPr txBox="1"/>
          <p:nvPr/>
        </p:nvSpPr>
        <p:spPr>
          <a:xfrm>
            <a:off x="1097280" y="26243280"/>
            <a:ext cx="1188720" cy="960120"/>
          </a:xfrm>
          <a:prstGeom prst="rect">
            <a:avLst/>
          </a:prstGeom>
          <a:noFill/>
          <a:ln/>
        </p:spPr>
        <p:txBody>
          <a:bodyPr wrap="square" lIns="0" tIns="0" rIns="0" bIns="0" rtlCol="0" anchor="ctr"/>
          <a:lstStyle/>
          <a:p>
            <a:pPr indent="0" marL="0">
              <a:lnSpc>
                <a:spcPct val="125000"/>
              </a:lnSpc>
              <a:buNone/>
            </a:pPr>
            <a:r>
              <a:rPr lang="en-US" sz="4000" b="1" dirty="0">
                <a:solidFill>
                  <a:srgbClr val="FFFFFF"/>
                </a:solidFill>
                <a:latin typeface="Calibri" pitchFamily="34" charset="0"/>
                <a:ea typeface="Calibri" pitchFamily="34" charset="-122"/>
                <a:cs typeface="Calibri" pitchFamily="34" charset="-120"/>
              </a:rPr>
              <a:t>3.</a:t>
            </a:r>
            <a:endParaRPr lang="en-US" sz="4000" dirty="0"/>
          </a:p>
        </p:txBody>
      </p:sp>
      <p:sp>
        <p:nvSpPr>
          <p:cNvPr id="59" name="Text 56"/>
          <p:cNvSpPr txBox="1"/>
          <p:nvPr/>
        </p:nvSpPr>
        <p:spPr>
          <a:xfrm>
            <a:off x="2331720" y="26243280"/>
            <a:ext cx="12257532" cy="960120"/>
          </a:xfrm>
          <a:prstGeom prst="rect">
            <a:avLst/>
          </a:prstGeom>
          <a:noFill/>
          <a:ln/>
        </p:spPr>
        <p:txBody>
          <a:bodyPr wrap="square" lIns="0" tIns="0" rIns="0" bIns="0" rtlCol="0" anchor="ctr"/>
          <a:lstStyle/>
          <a:p>
            <a:pPr indent="0" marL="0">
              <a:lnSpc>
                <a:spcPct val="125000"/>
              </a:lnSpc>
              <a:buNone/>
            </a:pPr>
            <a:r>
              <a:rPr lang="en-US" sz="3800" b="1" dirty="0">
                <a:solidFill>
                  <a:srgbClr val="FFFFFF"/>
                </a:solidFill>
              </a:rPr>
              <a:t>提案手法：Anchor Switching</a:t>
            </a:r>
            <a:endParaRPr lang="en-US" sz="3800" dirty="0"/>
          </a:p>
        </p:txBody>
      </p:sp>
      <p:sp>
        <p:nvSpPr>
          <p:cNvPr id="60" name="Text 57"/>
          <p:cNvSpPr txBox="1"/>
          <p:nvPr/>
        </p:nvSpPr>
        <p:spPr>
          <a:xfrm>
            <a:off x="1143000" y="27432000"/>
            <a:ext cx="13354812" cy="1371600"/>
          </a:xfrm>
          <a:prstGeom prst="rect">
            <a:avLst/>
          </a:prstGeom>
          <a:noFill/>
          <a:ln/>
        </p:spPr>
        <p:txBody>
          <a:bodyPr wrap="square" lIns="0" tIns="0" rIns="0" bIns="0" rtlCol="0" anchor="t"/>
          <a:lstStyle/>
          <a:p>
            <a:pPr marL="342900" indent="-342900">
              <a:lnSpc>
                <a:spcPct val="125000"/>
              </a:lnSpc>
              <a:spcAft>
                <a:spcPts val="800"/>
              </a:spcAft>
              <a:buSzPct val="100000"/>
              <a:buChar char="•"/>
            </a:pPr>
            <a:r>
              <a:rPr lang="en-US" sz="2300" dirty="0">
                <a:solidFill>
                  <a:srgbClr val="14213D"/>
                </a:solidFill>
              </a:rPr>
              <a:t>歯列全体と、歯列から抽出した複数の部分モデルを、それぞれ独立した追跡対象にする</a:t>
            </a:r>
            <a:endParaRPr lang="en-US" sz="2300" dirty="0"/>
          </a:p>
          <a:p>
            <a:pPr marL="342900" indent="-342900">
              <a:lnSpc>
                <a:spcPct val="125000"/>
              </a:lnSpc>
              <a:spcAft>
                <a:spcPts val="800"/>
              </a:spcAft>
              <a:buSzPct val="100000"/>
              <a:buChar char="•"/>
            </a:pPr>
            <a:r>
              <a:rPr lang="en-US" sz="2300" dirty="0">
                <a:solidFill>
                  <a:srgbClr val="14213D"/>
                </a:solidFill>
              </a:rPr>
              <a:t>各モデルの追跡状態を監視し、いま最も安定しているモデルの位置姿勢を AR 表示へ反映する</a:t>
            </a:r>
            <a:endParaRPr lang="en-US" sz="2300" dirty="0"/>
          </a:p>
        </p:txBody>
      </p:sp>
      <p:sp>
        <p:nvSpPr>
          <p:cNvPr id="61" name="Shape 58"/>
          <p:cNvSpPr/>
          <p:nvPr/>
        </p:nvSpPr>
        <p:spPr>
          <a:xfrm>
            <a:off x="1143000" y="28803600"/>
            <a:ext cx="13354812" cy="658368"/>
          </a:xfrm>
          <a:prstGeom prst="roundRect">
            <a:avLst>
              <a:gd name="adj" fmla="val 11111"/>
            </a:avLst>
          </a:prstGeom>
          <a:solidFill>
            <a:srgbClr val="DCE3EE"/>
          </a:solidFill>
          <a:ln w="19050">
            <a:solidFill>
              <a:srgbClr val="DCE3EE"/>
            </a:solidFill>
            <a:prstDash val="solid"/>
          </a:ln>
        </p:spPr>
      </p:sp>
      <p:sp>
        <p:nvSpPr>
          <p:cNvPr id="62" name="Text 59"/>
          <p:cNvSpPr txBox="1"/>
          <p:nvPr/>
        </p:nvSpPr>
        <p:spPr>
          <a:xfrm>
            <a:off x="1417320" y="28803600"/>
            <a:ext cx="12806172" cy="658368"/>
          </a:xfrm>
          <a:prstGeom prst="rect">
            <a:avLst/>
          </a:prstGeom>
          <a:noFill/>
          <a:ln/>
        </p:spPr>
        <p:txBody>
          <a:bodyPr wrap="square" lIns="0" tIns="0" rIns="0" bIns="0" rtlCol="0" anchor="ctr"/>
          <a:lstStyle/>
          <a:p>
            <a:pPr indent="0" marL="0">
              <a:lnSpc>
                <a:spcPct val="125000"/>
              </a:lnSpc>
              <a:buNone/>
            </a:pPr>
            <a:r>
              <a:rPr lang="en-US" sz="2700" b="1" dirty="0">
                <a:solidFill>
                  <a:srgbClr val="14213D"/>
                </a:solidFill>
              </a:rPr>
              <a:t>4 つの追跡対象：歯列全体 ＋ 解剖学的な 3 歯群</a:t>
            </a:r>
            <a:endParaRPr lang="en-US" sz="2700" dirty="0"/>
          </a:p>
        </p:txBody>
      </p:sp>
      <p:pic>
        <p:nvPicPr>
          <p:cNvPr id="63" name="Image 1" descr="C:/Users/rytkw/AppData/Local/Temp/claude/C--Users-rytkw-Projects-unity-few-teeth-tracking/426ee211-65a6-44e2-b903-6d0fa52dabdc/scratchpad/slides_img/arch_groups_iso.png">    </p:cNvPr>
          <p:cNvPicPr>
            <a:picLocks noChangeAspect="1"/>
          </p:cNvPicPr>
          <p:nvPr/>
        </p:nvPicPr>
        <p:blipFill>
          <a:blip r:embed="rId2"/>
          <a:srcRect l="0" r="0" t="0" b="0"/>
          <a:stretch/>
        </p:blipFill>
        <p:spPr>
          <a:xfrm>
            <a:off x="1143000" y="29626560"/>
            <a:ext cx="6949440" cy="3840480"/>
          </a:xfrm>
          <a:prstGeom prst="rect">
            <a:avLst/>
          </a:prstGeom>
        </p:spPr>
      </p:pic>
      <p:sp>
        <p:nvSpPr>
          <p:cNvPr id="64" name="Text 60"/>
          <p:cNvSpPr txBox="1"/>
          <p:nvPr/>
        </p:nvSpPr>
        <p:spPr>
          <a:xfrm>
            <a:off x="1143000" y="33512760"/>
            <a:ext cx="6949440" cy="822960"/>
          </a:xfrm>
          <a:prstGeom prst="rect">
            <a:avLst/>
          </a:prstGeom>
          <a:noFill/>
          <a:ln/>
        </p:spPr>
        <p:txBody>
          <a:bodyPr wrap="square" lIns="0" tIns="0" rIns="0" bIns="0" rtlCol="0" anchor="t"/>
          <a:lstStyle/>
          <a:p>
            <a:pPr indent="0" marL="0">
              <a:lnSpc>
                <a:spcPct val="120000"/>
              </a:lnSpc>
              <a:buNone/>
            </a:pPr>
            <a:r>
              <a:rPr lang="en-US" sz="2000" dirty="0">
                <a:solidFill>
                  <a:srgbClr val="5A6270"/>
                </a:solidFill>
              </a:rPr>
              <a:t>// 歯群に色分けした歯列モデル（赤 A 臼歯群、緑 B 小臼歯〜犬歯群、黄 C 切歯群、灰は未使用）</a:t>
            </a:r>
            <a:endParaRPr lang="en-US" sz="2000" dirty="0"/>
          </a:p>
        </p:txBody>
      </p:sp>
      <p:sp>
        <p:nvSpPr>
          <p:cNvPr id="65" name="Shape 61"/>
          <p:cNvSpPr/>
          <p:nvPr/>
        </p:nvSpPr>
        <p:spPr>
          <a:xfrm>
            <a:off x="8549640" y="29626560"/>
            <a:ext cx="5948172" cy="822960"/>
          </a:xfrm>
          <a:prstGeom prst="roundRect">
            <a:avLst>
              <a:gd name="adj" fmla="val 11111"/>
            </a:avLst>
          </a:prstGeom>
          <a:solidFill>
            <a:srgbClr val="14213D"/>
          </a:solidFill>
          <a:ln w="19050">
            <a:solidFill>
              <a:srgbClr val="14213D"/>
            </a:solidFill>
            <a:prstDash val="solid"/>
          </a:ln>
        </p:spPr>
      </p:sp>
      <p:sp>
        <p:nvSpPr>
          <p:cNvPr id="66" name="Text 62"/>
          <p:cNvSpPr txBox="1"/>
          <p:nvPr/>
        </p:nvSpPr>
        <p:spPr>
          <a:xfrm>
            <a:off x="8823960" y="29626560"/>
            <a:ext cx="5399532" cy="822960"/>
          </a:xfrm>
          <a:prstGeom prst="rect">
            <a:avLst/>
          </a:prstGeom>
          <a:noFill/>
          <a:ln/>
        </p:spPr>
        <p:txBody>
          <a:bodyPr wrap="square" lIns="0" tIns="0" rIns="0" bIns="0" rtlCol="0" anchor="ctr"/>
          <a:lstStyle/>
          <a:p>
            <a:pPr indent="0" marL="0">
              <a:lnSpc>
                <a:spcPct val="125000"/>
              </a:lnSpc>
              <a:buNone/>
            </a:pPr>
            <a:r>
              <a:rPr lang="en-US" sz="2400" b="1" dirty="0">
                <a:solidFill>
                  <a:srgbClr val="FFFFFF"/>
                </a:solidFill>
              </a:rPr>
              <a:t>歯列全体（主対象）</a:t>
            </a:r>
            <a:endParaRPr lang="en-US" sz="2400" dirty="0"/>
          </a:p>
        </p:txBody>
      </p:sp>
      <p:sp>
        <p:nvSpPr>
          <p:cNvPr id="67" name="Shape 63"/>
          <p:cNvSpPr/>
          <p:nvPr/>
        </p:nvSpPr>
        <p:spPr>
          <a:xfrm>
            <a:off x="8549640" y="30632400"/>
            <a:ext cx="5948172" cy="822960"/>
          </a:xfrm>
          <a:prstGeom prst="roundRect">
            <a:avLst>
              <a:gd name="adj" fmla="val 11111"/>
            </a:avLst>
          </a:prstGeom>
          <a:solidFill>
            <a:srgbClr val="D6453D"/>
          </a:solidFill>
          <a:ln w="19050">
            <a:solidFill>
              <a:srgbClr val="D6453D"/>
            </a:solidFill>
            <a:prstDash val="solid"/>
          </a:ln>
        </p:spPr>
      </p:sp>
      <p:sp>
        <p:nvSpPr>
          <p:cNvPr id="68" name="Text 64"/>
          <p:cNvSpPr txBox="1"/>
          <p:nvPr/>
        </p:nvSpPr>
        <p:spPr>
          <a:xfrm>
            <a:off x="8823960" y="30632400"/>
            <a:ext cx="5399532" cy="822960"/>
          </a:xfrm>
          <a:prstGeom prst="rect">
            <a:avLst/>
          </a:prstGeom>
          <a:noFill/>
          <a:ln/>
        </p:spPr>
        <p:txBody>
          <a:bodyPr wrap="square" lIns="0" tIns="0" rIns="0" bIns="0" rtlCol="0" anchor="ctr"/>
          <a:lstStyle/>
          <a:p>
            <a:pPr indent="0" marL="0">
              <a:lnSpc>
                <a:spcPct val="125000"/>
              </a:lnSpc>
              <a:buNone/>
            </a:pPr>
            <a:r>
              <a:rPr lang="en-US" sz="2400" b="1" dirty="0">
                <a:solidFill>
                  <a:srgbClr val="FFFFFF"/>
                </a:solidFill>
              </a:rPr>
              <a:t>A　臼歯群</a:t>
            </a:r>
            <a:endParaRPr lang="en-US" sz="2400" dirty="0"/>
          </a:p>
        </p:txBody>
      </p:sp>
      <p:sp>
        <p:nvSpPr>
          <p:cNvPr id="69" name="Shape 65"/>
          <p:cNvSpPr/>
          <p:nvPr/>
        </p:nvSpPr>
        <p:spPr>
          <a:xfrm>
            <a:off x="8549640" y="31638240"/>
            <a:ext cx="5948172" cy="822960"/>
          </a:xfrm>
          <a:prstGeom prst="roundRect">
            <a:avLst>
              <a:gd name="adj" fmla="val 11111"/>
            </a:avLst>
          </a:prstGeom>
          <a:solidFill>
            <a:srgbClr val="3DBB5A"/>
          </a:solidFill>
          <a:ln w="19050">
            <a:solidFill>
              <a:srgbClr val="3DBB5A"/>
            </a:solidFill>
            <a:prstDash val="solid"/>
          </a:ln>
        </p:spPr>
      </p:sp>
      <p:sp>
        <p:nvSpPr>
          <p:cNvPr id="70" name="Text 66"/>
          <p:cNvSpPr txBox="1"/>
          <p:nvPr/>
        </p:nvSpPr>
        <p:spPr>
          <a:xfrm>
            <a:off x="8823960" y="31638240"/>
            <a:ext cx="5399532" cy="822960"/>
          </a:xfrm>
          <a:prstGeom prst="rect">
            <a:avLst/>
          </a:prstGeom>
          <a:noFill/>
          <a:ln/>
        </p:spPr>
        <p:txBody>
          <a:bodyPr wrap="square" lIns="0" tIns="0" rIns="0" bIns="0" rtlCol="0" anchor="ctr"/>
          <a:lstStyle/>
          <a:p>
            <a:pPr indent="0" marL="0">
              <a:lnSpc>
                <a:spcPct val="125000"/>
              </a:lnSpc>
              <a:buNone/>
            </a:pPr>
            <a:r>
              <a:rPr lang="en-US" sz="2400" b="1" dirty="0">
                <a:solidFill>
                  <a:srgbClr val="14213D"/>
                </a:solidFill>
              </a:rPr>
              <a:t>B　小臼歯〜犬歯群</a:t>
            </a:r>
            <a:endParaRPr lang="en-US" sz="2400" dirty="0"/>
          </a:p>
        </p:txBody>
      </p:sp>
      <p:sp>
        <p:nvSpPr>
          <p:cNvPr id="71" name="Shape 67"/>
          <p:cNvSpPr/>
          <p:nvPr/>
        </p:nvSpPr>
        <p:spPr>
          <a:xfrm>
            <a:off x="8549640" y="32644080"/>
            <a:ext cx="5948172" cy="822960"/>
          </a:xfrm>
          <a:prstGeom prst="roundRect">
            <a:avLst>
              <a:gd name="adj" fmla="val 11111"/>
            </a:avLst>
          </a:prstGeom>
          <a:solidFill>
            <a:srgbClr val="E8C547"/>
          </a:solidFill>
          <a:ln w="19050">
            <a:solidFill>
              <a:srgbClr val="E8C547"/>
            </a:solidFill>
            <a:prstDash val="solid"/>
          </a:ln>
        </p:spPr>
      </p:sp>
      <p:sp>
        <p:nvSpPr>
          <p:cNvPr id="72" name="Text 68"/>
          <p:cNvSpPr txBox="1"/>
          <p:nvPr/>
        </p:nvSpPr>
        <p:spPr>
          <a:xfrm>
            <a:off x="8823960" y="32644080"/>
            <a:ext cx="5399532" cy="822960"/>
          </a:xfrm>
          <a:prstGeom prst="rect">
            <a:avLst/>
          </a:prstGeom>
          <a:noFill/>
          <a:ln/>
        </p:spPr>
        <p:txBody>
          <a:bodyPr wrap="square" lIns="0" tIns="0" rIns="0" bIns="0" rtlCol="0" anchor="ctr"/>
          <a:lstStyle/>
          <a:p>
            <a:pPr indent="0" marL="0">
              <a:lnSpc>
                <a:spcPct val="125000"/>
              </a:lnSpc>
              <a:buNone/>
            </a:pPr>
            <a:r>
              <a:rPr lang="en-US" sz="2400" b="1" dirty="0">
                <a:solidFill>
                  <a:srgbClr val="14213D"/>
                </a:solidFill>
              </a:rPr>
              <a:t>C　切歯群</a:t>
            </a:r>
            <a:endParaRPr lang="en-US" sz="2400" dirty="0"/>
          </a:p>
        </p:txBody>
      </p:sp>
      <p:sp>
        <p:nvSpPr>
          <p:cNvPr id="73" name="Text 69"/>
          <p:cNvSpPr txBox="1"/>
          <p:nvPr/>
        </p:nvSpPr>
        <p:spPr>
          <a:xfrm>
            <a:off x="8549640" y="33558480"/>
            <a:ext cx="5948172" cy="914400"/>
          </a:xfrm>
          <a:prstGeom prst="rect">
            <a:avLst/>
          </a:prstGeom>
          <a:noFill/>
          <a:ln/>
        </p:spPr>
        <p:txBody>
          <a:bodyPr wrap="square" lIns="0" tIns="0" rIns="0" bIns="0" rtlCol="0" anchor="t"/>
          <a:lstStyle/>
          <a:p>
            <a:pPr indent="0" marL="0">
              <a:lnSpc>
                <a:spcPct val="120000"/>
              </a:lnSpc>
              <a:buNone/>
            </a:pPr>
            <a:r>
              <a:rPr lang="en-US" sz="1900" dirty="0">
                <a:solidFill>
                  <a:srgbClr val="5A6270"/>
                </a:solidFill>
              </a:rPr>
              <a:t>左右に幾何学的に切ったモデルは切断面に対応する画像特徴が無く不安定だったため、実際の歯の形を保つ歯群単位に分割</a:t>
            </a:r>
            <a:endParaRPr lang="en-US" sz="1900" dirty="0"/>
          </a:p>
        </p:txBody>
      </p:sp>
      <p:sp>
        <p:nvSpPr>
          <p:cNvPr id="74" name="Shape 70"/>
          <p:cNvSpPr/>
          <p:nvPr/>
        </p:nvSpPr>
        <p:spPr>
          <a:xfrm>
            <a:off x="1143000" y="34381440"/>
            <a:ext cx="13354812" cy="658368"/>
          </a:xfrm>
          <a:prstGeom prst="roundRect">
            <a:avLst>
              <a:gd name="adj" fmla="val 11111"/>
            </a:avLst>
          </a:prstGeom>
          <a:solidFill>
            <a:srgbClr val="DCE3EE"/>
          </a:solidFill>
          <a:ln w="19050">
            <a:solidFill>
              <a:srgbClr val="DCE3EE"/>
            </a:solidFill>
            <a:prstDash val="solid"/>
          </a:ln>
        </p:spPr>
      </p:sp>
      <p:sp>
        <p:nvSpPr>
          <p:cNvPr id="75" name="Text 71"/>
          <p:cNvSpPr txBox="1"/>
          <p:nvPr/>
        </p:nvSpPr>
        <p:spPr>
          <a:xfrm>
            <a:off x="1417320" y="34381440"/>
            <a:ext cx="12806172" cy="658368"/>
          </a:xfrm>
          <a:prstGeom prst="rect">
            <a:avLst/>
          </a:prstGeom>
          <a:noFill/>
          <a:ln/>
        </p:spPr>
        <p:txBody>
          <a:bodyPr wrap="square" lIns="0" tIns="0" rIns="0" bIns="0" rtlCol="0" anchor="ctr"/>
          <a:lstStyle/>
          <a:p>
            <a:pPr indent="0" marL="0">
              <a:lnSpc>
                <a:spcPct val="125000"/>
              </a:lnSpc>
              <a:buNone/>
            </a:pPr>
            <a:r>
              <a:rPr lang="en-US" sz="2700" b="1" dirty="0">
                <a:solidFill>
                  <a:srgbClr val="14213D"/>
                </a:solidFill>
              </a:rPr>
              <a:t>フィットモニタと切替</a:t>
            </a:r>
            <a:endParaRPr lang="en-US" sz="2700" dirty="0"/>
          </a:p>
        </p:txBody>
      </p:sp>
      <p:sp>
        <p:nvSpPr>
          <p:cNvPr id="76" name="Text 72"/>
          <p:cNvSpPr txBox="1"/>
          <p:nvPr/>
        </p:nvSpPr>
        <p:spPr>
          <a:xfrm>
            <a:off x="1143000" y="35204400"/>
            <a:ext cx="6949440" cy="548640"/>
          </a:xfrm>
          <a:prstGeom prst="rect">
            <a:avLst/>
          </a:prstGeom>
          <a:noFill/>
          <a:ln/>
        </p:spPr>
        <p:txBody>
          <a:bodyPr wrap="square" lIns="0" tIns="0" rIns="0" bIns="0" rtlCol="0" anchor="t"/>
          <a:lstStyle/>
          <a:p>
            <a:pPr indent="0" marL="0">
              <a:lnSpc>
                <a:spcPct val="125000"/>
              </a:lnSpc>
              <a:buNone/>
            </a:pPr>
            <a:r>
              <a:rPr lang="en-US" sz="2200" b="1" dirty="0">
                <a:solidFill>
                  <a:srgbClr val="14213D"/>
                </a:solidFill>
              </a:rPr>
              <a:t>各モデルの「合い具合」を毎フレーム採点</a:t>
            </a:r>
            <a:endParaRPr lang="en-US" sz="2200" dirty="0"/>
          </a:p>
        </p:txBody>
      </p:sp>
      <p:sp>
        <p:nvSpPr>
          <p:cNvPr id="77" name="Text 73"/>
          <p:cNvSpPr txBox="1"/>
          <p:nvPr/>
        </p:nvSpPr>
        <p:spPr>
          <a:xfrm>
            <a:off x="1143000" y="35844480"/>
            <a:ext cx="3291840" cy="502920"/>
          </a:xfrm>
          <a:prstGeom prst="rect">
            <a:avLst/>
          </a:prstGeom>
          <a:noFill/>
          <a:ln/>
        </p:spPr>
        <p:txBody>
          <a:bodyPr wrap="square" lIns="0" tIns="0" rIns="0" bIns="0" rtlCol="0" anchor="ctr"/>
          <a:lstStyle/>
          <a:p>
            <a:pPr indent="0" marL="0">
              <a:lnSpc>
                <a:spcPct val="125000"/>
              </a:lnSpc>
              <a:buNone/>
            </a:pPr>
            <a:r>
              <a:rPr lang="en-US" sz="2100" b="1" dirty="0">
                <a:solidFill>
                  <a:srgbClr val="14213D"/>
                </a:solidFill>
              </a:rPr>
              <a:t>歯列全体</a:t>
            </a:r>
            <a:endParaRPr lang="en-US" sz="2100" dirty="0"/>
          </a:p>
        </p:txBody>
      </p:sp>
      <p:sp>
        <p:nvSpPr>
          <p:cNvPr id="78" name="Shape 74"/>
          <p:cNvSpPr/>
          <p:nvPr/>
        </p:nvSpPr>
        <p:spPr>
          <a:xfrm>
            <a:off x="4526280" y="35935920"/>
            <a:ext cx="2468880" cy="320040"/>
          </a:xfrm>
          <a:prstGeom prst="rect">
            <a:avLst/>
          </a:prstGeom>
          <a:solidFill>
            <a:srgbClr val="EEF1F6"/>
          </a:solidFill>
          <a:ln w="19050">
            <a:solidFill>
              <a:srgbClr val="EEF1F6"/>
            </a:solidFill>
            <a:prstDash val="solid"/>
          </a:ln>
        </p:spPr>
      </p:sp>
      <p:sp>
        <p:nvSpPr>
          <p:cNvPr id="79" name="Shape 75"/>
          <p:cNvSpPr/>
          <p:nvPr/>
        </p:nvSpPr>
        <p:spPr>
          <a:xfrm>
            <a:off x="4526280" y="35935920"/>
            <a:ext cx="765353" cy="320040"/>
          </a:xfrm>
          <a:prstGeom prst="rect">
            <a:avLst/>
          </a:prstGeom>
          <a:solidFill>
            <a:srgbClr val="9AA0A6"/>
          </a:solidFill>
          <a:ln w="19050">
            <a:solidFill>
              <a:srgbClr val="9AA0A6"/>
            </a:solidFill>
            <a:prstDash val="solid"/>
          </a:ln>
        </p:spPr>
      </p:sp>
      <p:sp>
        <p:nvSpPr>
          <p:cNvPr id="80" name="Text 76"/>
          <p:cNvSpPr txBox="1"/>
          <p:nvPr/>
        </p:nvSpPr>
        <p:spPr>
          <a:xfrm>
            <a:off x="7086600" y="35844480"/>
            <a:ext cx="1005840" cy="502920"/>
          </a:xfrm>
          <a:prstGeom prst="rect">
            <a:avLst/>
          </a:prstGeom>
          <a:noFill/>
          <a:ln/>
        </p:spPr>
        <p:txBody>
          <a:bodyPr wrap="square" lIns="0" tIns="0" rIns="0" bIns="0" rtlCol="0" anchor="ctr"/>
          <a:lstStyle/>
          <a:p>
            <a:pPr algn="r" indent="0" marL="0">
              <a:lnSpc>
                <a:spcPct val="125000"/>
              </a:lnSpc>
              <a:buNone/>
            </a:pPr>
            <a:r>
              <a:rPr lang="en-US" sz="2000" dirty="0">
                <a:solidFill>
                  <a:srgbClr val="14213D"/>
                </a:solidFill>
                <a:latin typeface="Calibri" pitchFamily="34" charset="0"/>
                <a:ea typeface="Calibri" pitchFamily="34" charset="-122"/>
                <a:cs typeface="Calibri" pitchFamily="34" charset="-120"/>
              </a:rPr>
              <a:t>0.31</a:t>
            </a:r>
            <a:endParaRPr lang="en-US" sz="2000" dirty="0"/>
          </a:p>
        </p:txBody>
      </p:sp>
      <p:sp>
        <p:nvSpPr>
          <p:cNvPr id="81" name="Text 77"/>
          <p:cNvSpPr txBox="1"/>
          <p:nvPr/>
        </p:nvSpPr>
        <p:spPr>
          <a:xfrm>
            <a:off x="1143000" y="36511992"/>
            <a:ext cx="3291840" cy="502920"/>
          </a:xfrm>
          <a:prstGeom prst="rect">
            <a:avLst/>
          </a:prstGeom>
          <a:noFill/>
          <a:ln/>
        </p:spPr>
        <p:txBody>
          <a:bodyPr wrap="square" lIns="0" tIns="0" rIns="0" bIns="0" rtlCol="0" anchor="ctr"/>
          <a:lstStyle/>
          <a:p>
            <a:pPr indent="0" marL="0">
              <a:lnSpc>
                <a:spcPct val="125000"/>
              </a:lnSpc>
              <a:buNone/>
            </a:pPr>
            <a:r>
              <a:rPr lang="en-US" sz="2100" b="1" dirty="0">
                <a:solidFill>
                  <a:srgbClr val="D6453D"/>
                </a:solidFill>
              </a:rPr>
              <a:t>A 臼歯群</a:t>
            </a:r>
            <a:endParaRPr lang="en-US" sz="2100" dirty="0"/>
          </a:p>
        </p:txBody>
      </p:sp>
      <p:sp>
        <p:nvSpPr>
          <p:cNvPr id="82" name="Shape 78"/>
          <p:cNvSpPr/>
          <p:nvPr/>
        </p:nvSpPr>
        <p:spPr>
          <a:xfrm>
            <a:off x="4526280" y="36603432"/>
            <a:ext cx="2468880" cy="320040"/>
          </a:xfrm>
          <a:prstGeom prst="rect">
            <a:avLst/>
          </a:prstGeom>
          <a:solidFill>
            <a:srgbClr val="EEF1F6"/>
          </a:solidFill>
          <a:ln w="19050">
            <a:solidFill>
              <a:srgbClr val="EEF1F6"/>
            </a:solidFill>
            <a:prstDash val="solid"/>
          </a:ln>
        </p:spPr>
      </p:sp>
      <p:sp>
        <p:nvSpPr>
          <p:cNvPr id="83" name="Shape 79"/>
          <p:cNvSpPr/>
          <p:nvPr/>
        </p:nvSpPr>
        <p:spPr>
          <a:xfrm>
            <a:off x="4526280" y="36603432"/>
            <a:ext cx="543154" cy="320040"/>
          </a:xfrm>
          <a:prstGeom prst="rect">
            <a:avLst/>
          </a:prstGeom>
          <a:solidFill>
            <a:srgbClr val="D6453D"/>
          </a:solidFill>
          <a:ln w="19050">
            <a:solidFill>
              <a:srgbClr val="D6453D"/>
            </a:solidFill>
            <a:prstDash val="solid"/>
          </a:ln>
        </p:spPr>
      </p:sp>
      <p:sp>
        <p:nvSpPr>
          <p:cNvPr id="84" name="Text 80"/>
          <p:cNvSpPr txBox="1"/>
          <p:nvPr/>
        </p:nvSpPr>
        <p:spPr>
          <a:xfrm>
            <a:off x="7086600" y="36511992"/>
            <a:ext cx="1005840" cy="502920"/>
          </a:xfrm>
          <a:prstGeom prst="rect">
            <a:avLst/>
          </a:prstGeom>
          <a:noFill/>
          <a:ln/>
        </p:spPr>
        <p:txBody>
          <a:bodyPr wrap="square" lIns="0" tIns="0" rIns="0" bIns="0" rtlCol="0" anchor="ctr"/>
          <a:lstStyle/>
          <a:p>
            <a:pPr algn="r" indent="0" marL="0">
              <a:lnSpc>
                <a:spcPct val="125000"/>
              </a:lnSpc>
              <a:buNone/>
            </a:pPr>
            <a:r>
              <a:rPr lang="en-US" sz="2000" dirty="0">
                <a:solidFill>
                  <a:srgbClr val="14213D"/>
                </a:solidFill>
                <a:latin typeface="Calibri" pitchFamily="34" charset="0"/>
                <a:ea typeface="Calibri" pitchFamily="34" charset="-122"/>
                <a:cs typeface="Calibri" pitchFamily="34" charset="-120"/>
              </a:rPr>
              <a:t>0.22</a:t>
            </a:r>
            <a:endParaRPr lang="en-US" sz="2000" dirty="0"/>
          </a:p>
        </p:txBody>
      </p:sp>
      <p:sp>
        <p:nvSpPr>
          <p:cNvPr id="85" name="Text 81"/>
          <p:cNvSpPr txBox="1"/>
          <p:nvPr/>
        </p:nvSpPr>
        <p:spPr>
          <a:xfrm>
            <a:off x="1143000" y="37179504"/>
            <a:ext cx="3291840" cy="502920"/>
          </a:xfrm>
          <a:prstGeom prst="rect">
            <a:avLst/>
          </a:prstGeom>
          <a:noFill/>
          <a:ln/>
        </p:spPr>
        <p:txBody>
          <a:bodyPr wrap="square" lIns="0" tIns="0" rIns="0" bIns="0" rtlCol="0" anchor="ctr"/>
          <a:lstStyle/>
          <a:p>
            <a:pPr indent="0" marL="0">
              <a:lnSpc>
                <a:spcPct val="125000"/>
              </a:lnSpc>
              <a:buNone/>
            </a:pPr>
            <a:r>
              <a:rPr lang="en-US" sz="2100" b="1" dirty="0">
                <a:solidFill>
                  <a:srgbClr val="3DBB5A"/>
                </a:solidFill>
              </a:rPr>
              <a:t>B 小臼歯〜犬歯</a:t>
            </a:r>
            <a:endParaRPr lang="en-US" sz="2100" dirty="0"/>
          </a:p>
        </p:txBody>
      </p:sp>
      <p:sp>
        <p:nvSpPr>
          <p:cNvPr id="86" name="Shape 82"/>
          <p:cNvSpPr/>
          <p:nvPr/>
        </p:nvSpPr>
        <p:spPr>
          <a:xfrm>
            <a:off x="4526280" y="37270944"/>
            <a:ext cx="2468880" cy="320040"/>
          </a:xfrm>
          <a:prstGeom prst="rect">
            <a:avLst/>
          </a:prstGeom>
          <a:solidFill>
            <a:srgbClr val="EEF1F6"/>
          </a:solidFill>
          <a:ln w="19050">
            <a:solidFill>
              <a:srgbClr val="EEF1F6"/>
            </a:solidFill>
            <a:prstDash val="solid"/>
          </a:ln>
        </p:spPr>
      </p:sp>
      <p:sp>
        <p:nvSpPr>
          <p:cNvPr id="87" name="Shape 83"/>
          <p:cNvSpPr/>
          <p:nvPr/>
        </p:nvSpPr>
        <p:spPr>
          <a:xfrm>
            <a:off x="4526280" y="37270944"/>
            <a:ext cx="1431950" cy="320040"/>
          </a:xfrm>
          <a:prstGeom prst="rect">
            <a:avLst/>
          </a:prstGeom>
          <a:solidFill>
            <a:srgbClr val="3DBB5A"/>
          </a:solidFill>
          <a:ln w="19050">
            <a:solidFill>
              <a:srgbClr val="3DBB5A"/>
            </a:solidFill>
            <a:prstDash val="solid"/>
          </a:ln>
        </p:spPr>
      </p:sp>
      <p:sp>
        <p:nvSpPr>
          <p:cNvPr id="88" name="Text 84"/>
          <p:cNvSpPr txBox="1"/>
          <p:nvPr/>
        </p:nvSpPr>
        <p:spPr>
          <a:xfrm>
            <a:off x="7086600" y="37179504"/>
            <a:ext cx="1005840" cy="502920"/>
          </a:xfrm>
          <a:prstGeom prst="rect">
            <a:avLst/>
          </a:prstGeom>
          <a:noFill/>
          <a:ln/>
        </p:spPr>
        <p:txBody>
          <a:bodyPr wrap="square" lIns="0" tIns="0" rIns="0" bIns="0" rtlCol="0" anchor="ctr"/>
          <a:lstStyle/>
          <a:p>
            <a:pPr algn="r" indent="0" marL="0">
              <a:lnSpc>
                <a:spcPct val="125000"/>
              </a:lnSpc>
              <a:buNone/>
            </a:pPr>
            <a:r>
              <a:rPr lang="en-US" sz="2000" dirty="0">
                <a:solidFill>
                  <a:srgbClr val="14213D"/>
                </a:solidFill>
                <a:latin typeface="Calibri" pitchFamily="34" charset="0"/>
                <a:ea typeface="Calibri" pitchFamily="34" charset="-122"/>
                <a:cs typeface="Calibri" pitchFamily="34" charset="-120"/>
              </a:rPr>
              <a:t>0.58</a:t>
            </a:r>
            <a:endParaRPr lang="en-US" sz="2000" dirty="0"/>
          </a:p>
        </p:txBody>
      </p:sp>
      <p:sp>
        <p:nvSpPr>
          <p:cNvPr id="89" name="Text 85"/>
          <p:cNvSpPr txBox="1"/>
          <p:nvPr/>
        </p:nvSpPr>
        <p:spPr>
          <a:xfrm>
            <a:off x="1143000" y="37847016"/>
            <a:ext cx="3291840" cy="502920"/>
          </a:xfrm>
          <a:prstGeom prst="rect">
            <a:avLst/>
          </a:prstGeom>
          <a:noFill/>
          <a:ln/>
        </p:spPr>
        <p:txBody>
          <a:bodyPr wrap="square" lIns="0" tIns="0" rIns="0" bIns="0" rtlCol="0" anchor="ctr"/>
          <a:lstStyle/>
          <a:p>
            <a:pPr indent="0" marL="0">
              <a:lnSpc>
                <a:spcPct val="125000"/>
              </a:lnSpc>
              <a:buNone/>
            </a:pPr>
            <a:r>
              <a:rPr lang="en-US" sz="2100" b="1" dirty="0">
                <a:solidFill>
                  <a:srgbClr val="E8C547"/>
                </a:solidFill>
              </a:rPr>
              <a:t>C 切歯群</a:t>
            </a:r>
            <a:endParaRPr lang="en-US" sz="2100" dirty="0"/>
          </a:p>
        </p:txBody>
      </p:sp>
      <p:sp>
        <p:nvSpPr>
          <p:cNvPr id="90" name="Shape 86"/>
          <p:cNvSpPr/>
          <p:nvPr/>
        </p:nvSpPr>
        <p:spPr>
          <a:xfrm>
            <a:off x="4526280" y="37938456"/>
            <a:ext cx="2468880" cy="320040"/>
          </a:xfrm>
          <a:prstGeom prst="rect">
            <a:avLst/>
          </a:prstGeom>
          <a:solidFill>
            <a:srgbClr val="EEF1F6"/>
          </a:solidFill>
          <a:ln w="19050">
            <a:solidFill>
              <a:srgbClr val="EEF1F6"/>
            </a:solidFill>
            <a:prstDash val="solid"/>
          </a:ln>
        </p:spPr>
      </p:sp>
      <p:sp>
        <p:nvSpPr>
          <p:cNvPr id="91" name="Shape 87"/>
          <p:cNvSpPr/>
          <p:nvPr/>
        </p:nvSpPr>
        <p:spPr>
          <a:xfrm>
            <a:off x="4526280" y="37938456"/>
            <a:ext cx="2024482" cy="320040"/>
          </a:xfrm>
          <a:prstGeom prst="rect">
            <a:avLst/>
          </a:prstGeom>
          <a:solidFill>
            <a:srgbClr val="E8C547"/>
          </a:solidFill>
          <a:ln w="19050">
            <a:solidFill>
              <a:srgbClr val="E8C547"/>
            </a:solidFill>
            <a:prstDash val="solid"/>
          </a:ln>
        </p:spPr>
      </p:sp>
      <p:sp>
        <p:nvSpPr>
          <p:cNvPr id="92" name="Text 88"/>
          <p:cNvSpPr txBox="1"/>
          <p:nvPr/>
        </p:nvSpPr>
        <p:spPr>
          <a:xfrm>
            <a:off x="7086600" y="37847016"/>
            <a:ext cx="1005840" cy="502920"/>
          </a:xfrm>
          <a:prstGeom prst="rect">
            <a:avLst/>
          </a:prstGeom>
          <a:noFill/>
          <a:ln/>
        </p:spPr>
        <p:txBody>
          <a:bodyPr wrap="square" lIns="0" tIns="0" rIns="0" bIns="0" rtlCol="0" anchor="ctr"/>
          <a:lstStyle/>
          <a:p>
            <a:pPr algn="r" indent="0" marL="0">
              <a:lnSpc>
                <a:spcPct val="125000"/>
              </a:lnSpc>
              <a:buNone/>
            </a:pPr>
            <a:r>
              <a:rPr lang="en-US" sz="2000" dirty="0">
                <a:solidFill>
                  <a:srgbClr val="14213D"/>
                </a:solidFill>
                <a:latin typeface="Calibri" pitchFamily="34" charset="0"/>
                <a:ea typeface="Calibri" pitchFamily="34" charset="-122"/>
                <a:cs typeface="Calibri" pitchFamily="34" charset="-120"/>
              </a:rPr>
              <a:t>0.82</a:t>
            </a:r>
            <a:endParaRPr lang="en-US" sz="2000" dirty="0"/>
          </a:p>
        </p:txBody>
      </p:sp>
      <p:sp>
        <p:nvSpPr>
          <p:cNvPr id="93" name="Text 89"/>
          <p:cNvSpPr txBox="1"/>
          <p:nvPr/>
        </p:nvSpPr>
        <p:spPr>
          <a:xfrm>
            <a:off x="1143000" y="38560248"/>
            <a:ext cx="6949440" cy="1097280"/>
          </a:xfrm>
          <a:prstGeom prst="rect">
            <a:avLst/>
          </a:prstGeom>
          <a:noFill/>
          <a:ln/>
        </p:spPr>
        <p:txBody>
          <a:bodyPr wrap="square" lIns="0" tIns="0" rIns="0" bIns="0" rtlCol="0" anchor="t"/>
          <a:lstStyle/>
          <a:p>
            <a:pPr indent="0" marL="0">
              <a:lnSpc>
                <a:spcPct val="120000"/>
              </a:lnSpc>
              <a:buNone/>
            </a:pPr>
            <a:r>
              <a:rPr lang="en-US" sz="2000" dirty="0">
                <a:solidFill>
                  <a:srgbClr val="5A6270"/>
                </a:solidFill>
              </a:rPr>
              <a:t>// 例：臼歯側が隠れ、歯列全体と A のスコアが低下 → C 切歯群が姿勢を引き継ぐ</a:t>
            </a:r>
            <a:endParaRPr lang="en-US" sz="2000" dirty="0"/>
          </a:p>
        </p:txBody>
      </p:sp>
      <p:sp>
        <p:nvSpPr>
          <p:cNvPr id="94" name="Shape 90"/>
          <p:cNvSpPr/>
          <p:nvPr/>
        </p:nvSpPr>
        <p:spPr>
          <a:xfrm>
            <a:off x="8549640" y="35204400"/>
            <a:ext cx="5948172" cy="1325880"/>
          </a:xfrm>
          <a:prstGeom prst="roundRect">
            <a:avLst>
              <a:gd name="adj" fmla="val 8276"/>
            </a:avLst>
          </a:prstGeom>
          <a:solidFill>
            <a:srgbClr val="EEF1F6"/>
          </a:solidFill>
          <a:ln w="19050">
            <a:solidFill>
              <a:srgbClr val="EEF1F6"/>
            </a:solidFill>
            <a:prstDash val="solid"/>
          </a:ln>
        </p:spPr>
      </p:sp>
      <p:sp>
        <p:nvSpPr>
          <p:cNvPr id="95" name="Text 91"/>
          <p:cNvSpPr txBox="1"/>
          <p:nvPr/>
        </p:nvSpPr>
        <p:spPr>
          <a:xfrm>
            <a:off x="8778240" y="35368992"/>
            <a:ext cx="5490972" cy="556870"/>
          </a:xfrm>
          <a:prstGeom prst="rect">
            <a:avLst/>
          </a:prstGeom>
          <a:noFill/>
          <a:ln/>
        </p:spPr>
        <p:txBody>
          <a:bodyPr wrap="square" lIns="0" tIns="0" rIns="0" bIns="0" rtlCol="0" anchor="t"/>
          <a:lstStyle/>
          <a:p>
            <a:pPr indent="0" marL="0">
              <a:lnSpc>
                <a:spcPct val="115000"/>
              </a:lnSpc>
              <a:buNone/>
            </a:pPr>
            <a:r>
              <a:rPr lang="en-US" sz="2500" b="1" dirty="0">
                <a:solidFill>
                  <a:srgbClr val="14213D"/>
                </a:solidFill>
              </a:rPr>
              <a:t>通常時</a:t>
            </a:r>
            <a:endParaRPr lang="en-US" sz="2500" dirty="0"/>
          </a:p>
        </p:txBody>
      </p:sp>
      <p:sp>
        <p:nvSpPr>
          <p:cNvPr id="96" name="Text 92"/>
          <p:cNvSpPr txBox="1"/>
          <p:nvPr/>
        </p:nvSpPr>
        <p:spPr>
          <a:xfrm>
            <a:off x="8778240" y="35840822"/>
            <a:ext cx="5490972" cy="66294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歯列全体のスコアが閾値以上なら、その姿勢をそのまま反映</a:t>
            </a:r>
            <a:endParaRPr lang="en-US" sz="2100" dirty="0"/>
          </a:p>
        </p:txBody>
      </p:sp>
      <p:sp>
        <p:nvSpPr>
          <p:cNvPr id="97" name="Shape 93"/>
          <p:cNvSpPr/>
          <p:nvPr/>
        </p:nvSpPr>
        <p:spPr>
          <a:xfrm>
            <a:off x="8549640" y="36758880"/>
            <a:ext cx="5948172" cy="2194560"/>
          </a:xfrm>
          <a:prstGeom prst="roundRect">
            <a:avLst>
              <a:gd name="adj" fmla="val 5000"/>
            </a:avLst>
          </a:prstGeom>
          <a:solidFill>
            <a:srgbClr val="EEF1F6"/>
          </a:solidFill>
          <a:ln w="19050">
            <a:solidFill>
              <a:srgbClr val="EEF1F6"/>
            </a:solidFill>
            <a:prstDash val="solid"/>
          </a:ln>
        </p:spPr>
      </p:sp>
      <p:sp>
        <p:nvSpPr>
          <p:cNvPr id="98" name="Text 94"/>
          <p:cNvSpPr txBox="1"/>
          <p:nvPr/>
        </p:nvSpPr>
        <p:spPr>
          <a:xfrm>
            <a:off x="8778240" y="36923472"/>
            <a:ext cx="5490972" cy="921715"/>
          </a:xfrm>
          <a:prstGeom prst="rect">
            <a:avLst/>
          </a:prstGeom>
          <a:noFill/>
          <a:ln/>
        </p:spPr>
        <p:txBody>
          <a:bodyPr wrap="square" lIns="0" tIns="0" rIns="0" bIns="0" rtlCol="0" anchor="t"/>
          <a:lstStyle/>
          <a:p>
            <a:pPr indent="0" marL="0">
              <a:lnSpc>
                <a:spcPct val="115000"/>
              </a:lnSpc>
              <a:buNone/>
            </a:pPr>
            <a:r>
              <a:rPr lang="en-US" sz="2500" b="1" dirty="0">
                <a:solidFill>
                  <a:srgbClr val="14213D"/>
                </a:solidFill>
              </a:rPr>
              <a:t>部分的な遮蔽</a:t>
            </a:r>
            <a:endParaRPr lang="en-US" sz="2500" dirty="0"/>
          </a:p>
        </p:txBody>
      </p:sp>
      <p:sp>
        <p:nvSpPr>
          <p:cNvPr id="99" name="Text 95"/>
          <p:cNvSpPr txBox="1"/>
          <p:nvPr/>
        </p:nvSpPr>
        <p:spPr>
          <a:xfrm>
            <a:off x="8778240" y="37812269"/>
            <a:ext cx="5490972" cy="109728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閾値を下回ると、見えている歯群で最もスコアの高いモデルが引き継ぐ（拮抗時は余裕を持って切替え、急にずれた候補は不採用）</a:t>
            </a:r>
            <a:endParaRPr lang="en-US" sz="2100" dirty="0"/>
          </a:p>
        </p:txBody>
      </p:sp>
      <p:sp>
        <p:nvSpPr>
          <p:cNvPr id="100" name="Shape 96"/>
          <p:cNvSpPr/>
          <p:nvPr/>
        </p:nvSpPr>
        <p:spPr>
          <a:xfrm>
            <a:off x="8549640" y="39182040"/>
            <a:ext cx="5948172" cy="1325880"/>
          </a:xfrm>
          <a:prstGeom prst="roundRect">
            <a:avLst>
              <a:gd name="adj" fmla="val 8276"/>
            </a:avLst>
          </a:prstGeom>
          <a:solidFill>
            <a:srgbClr val="EEF1F6"/>
          </a:solidFill>
          <a:ln w="19050">
            <a:solidFill>
              <a:srgbClr val="EEF1F6"/>
            </a:solidFill>
            <a:prstDash val="solid"/>
          </a:ln>
        </p:spPr>
      </p:sp>
      <p:sp>
        <p:nvSpPr>
          <p:cNvPr id="101" name="Text 97"/>
          <p:cNvSpPr txBox="1"/>
          <p:nvPr/>
        </p:nvSpPr>
        <p:spPr>
          <a:xfrm>
            <a:off x="8778240" y="39346632"/>
            <a:ext cx="5490972" cy="556870"/>
          </a:xfrm>
          <a:prstGeom prst="rect">
            <a:avLst/>
          </a:prstGeom>
          <a:noFill/>
          <a:ln/>
        </p:spPr>
        <p:txBody>
          <a:bodyPr wrap="square" lIns="0" tIns="0" rIns="0" bIns="0" rtlCol="0" anchor="t"/>
          <a:lstStyle/>
          <a:p>
            <a:pPr indent="0" marL="0">
              <a:lnSpc>
                <a:spcPct val="115000"/>
              </a:lnSpc>
              <a:buNone/>
            </a:pPr>
            <a:r>
              <a:rPr lang="en-US" sz="2500" b="1" dirty="0">
                <a:solidFill>
                  <a:srgbClr val="14213D"/>
                </a:solidFill>
              </a:rPr>
              <a:t>すべて見失ったとき</a:t>
            </a:r>
            <a:endParaRPr lang="en-US" sz="2500" dirty="0"/>
          </a:p>
        </p:txBody>
      </p:sp>
      <p:sp>
        <p:nvSpPr>
          <p:cNvPr id="102" name="Text 98"/>
          <p:cNvSpPr txBox="1"/>
          <p:nvPr/>
        </p:nvSpPr>
        <p:spPr>
          <a:xfrm>
            <a:off x="8778240" y="39818462"/>
            <a:ext cx="5490972" cy="66294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最後の姿勢を保持し、歯列が再び見えたら探し直す</a:t>
            </a:r>
            <a:endParaRPr lang="en-US" sz="2100" dirty="0"/>
          </a:p>
        </p:txBody>
      </p:sp>
      <p:sp>
        <p:nvSpPr>
          <p:cNvPr id="103" name="Shape 99"/>
          <p:cNvSpPr/>
          <p:nvPr/>
        </p:nvSpPr>
        <p:spPr>
          <a:xfrm>
            <a:off x="15412212" y="6309360"/>
            <a:ext cx="14086332" cy="17190720"/>
          </a:xfrm>
          <a:prstGeom prst="rect">
            <a:avLst/>
          </a:prstGeom>
          <a:solidFill>
            <a:srgbClr val="FFFFFF"/>
          </a:solidFill>
          <a:ln w="19050">
            <a:solidFill>
              <a:srgbClr val="C9CED8"/>
            </a:solidFill>
            <a:prstDash val="solid"/>
          </a:ln>
        </p:spPr>
      </p:sp>
      <p:sp>
        <p:nvSpPr>
          <p:cNvPr id="104" name="Shape 100"/>
          <p:cNvSpPr/>
          <p:nvPr/>
        </p:nvSpPr>
        <p:spPr>
          <a:xfrm>
            <a:off x="15412212" y="6309360"/>
            <a:ext cx="14086332" cy="960120"/>
          </a:xfrm>
          <a:prstGeom prst="rect">
            <a:avLst/>
          </a:prstGeom>
          <a:solidFill>
            <a:srgbClr val="14213D"/>
          </a:solidFill>
          <a:ln w="19050">
            <a:solidFill>
              <a:srgbClr val="14213D"/>
            </a:solidFill>
            <a:prstDash val="solid"/>
          </a:ln>
        </p:spPr>
      </p:sp>
      <p:sp>
        <p:nvSpPr>
          <p:cNvPr id="105" name="Text 101"/>
          <p:cNvSpPr txBox="1"/>
          <p:nvPr/>
        </p:nvSpPr>
        <p:spPr>
          <a:xfrm>
            <a:off x="15732252" y="6309360"/>
            <a:ext cx="1188720" cy="960120"/>
          </a:xfrm>
          <a:prstGeom prst="rect">
            <a:avLst/>
          </a:prstGeom>
          <a:noFill/>
          <a:ln/>
        </p:spPr>
        <p:txBody>
          <a:bodyPr wrap="square" lIns="0" tIns="0" rIns="0" bIns="0" rtlCol="0" anchor="ctr"/>
          <a:lstStyle/>
          <a:p>
            <a:pPr indent="0" marL="0">
              <a:lnSpc>
                <a:spcPct val="125000"/>
              </a:lnSpc>
              <a:buNone/>
            </a:pPr>
            <a:r>
              <a:rPr lang="en-US" sz="4000" b="1" dirty="0">
                <a:solidFill>
                  <a:srgbClr val="FFFFFF"/>
                </a:solidFill>
                <a:latin typeface="Calibri" pitchFamily="34" charset="0"/>
                <a:ea typeface="Calibri" pitchFamily="34" charset="-122"/>
                <a:cs typeface="Calibri" pitchFamily="34" charset="-120"/>
              </a:rPr>
              <a:t>4.</a:t>
            </a:r>
            <a:endParaRPr lang="en-US" sz="4000" dirty="0"/>
          </a:p>
        </p:txBody>
      </p:sp>
      <p:sp>
        <p:nvSpPr>
          <p:cNvPr id="106" name="Text 102"/>
          <p:cNvSpPr txBox="1"/>
          <p:nvPr/>
        </p:nvSpPr>
        <p:spPr>
          <a:xfrm>
            <a:off x="16966692" y="6309360"/>
            <a:ext cx="12257532" cy="960120"/>
          </a:xfrm>
          <a:prstGeom prst="rect">
            <a:avLst/>
          </a:prstGeom>
          <a:noFill/>
          <a:ln/>
        </p:spPr>
        <p:txBody>
          <a:bodyPr wrap="square" lIns="0" tIns="0" rIns="0" bIns="0" rtlCol="0" anchor="ctr"/>
          <a:lstStyle/>
          <a:p>
            <a:pPr indent="0" marL="0">
              <a:lnSpc>
                <a:spcPct val="125000"/>
              </a:lnSpc>
              <a:buNone/>
            </a:pPr>
            <a:r>
              <a:rPr lang="en-US" sz="3800" b="1" dirty="0">
                <a:solidFill>
                  <a:srgbClr val="FFFFFF"/>
                </a:solidFill>
              </a:rPr>
              <a:t>デモ内容</a:t>
            </a:r>
            <a:endParaRPr lang="en-US" sz="3800" dirty="0"/>
          </a:p>
        </p:txBody>
      </p:sp>
      <p:sp>
        <p:nvSpPr>
          <p:cNvPr id="107" name="Shape 103"/>
          <p:cNvSpPr/>
          <p:nvPr/>
        </p:nvSpPr>
        <p:spPr>
          <a:xfrm>
            <a:off x="15777972" y="7498080"/>
            <a:ext cx="13354812" cy="658368"/>
          </a:xfrm>
          <a:prstGeom prst="roundRect">
            <a:avLst>
              <a:gd name="adj" fmla="val 11111"/>
            </a:avLst>
          </a:prstGeom>
          <a:solidFill>
            <a:srgbClr val="DCE3EE"/>
          </a:solidFill>
          <a:ln w="19050">
            <a:solidFill>
              <a:srgbClr val="DCE3EE"/>
            </a:solidFill>
            <a:prstDash val="solid"/>
          </a:ln>
        </p:spPr>
      </p:sp>
      <p:sp>
        <p:nvSpPr>
          <p:cNvPr id="108" name="Text 104"/>
          <p:cNvSpPr txBox="1"/>
          <p:nvPr/>
        </p:nvSpPr>
        <p:spPr>
          <a:xfrm>
            <a:off x="16052292" y="7498080"/>
            <a:ext cx="12806172" cy="658368"/>
          </a:xfrm>
          <a:prstGeom prst="rect">
            <a:avLst/>
          </a:prstGeom>
          <a:noFill/>
          <a:ln/>
        </p:spPr>
        <p:txBody>
          <a:bodyPr wrap="square" lIns="0" tIns="0" rIns="0" bIns="0" rtlCol="0" anchor="ctr"/>
          <a:lstStyle/>
          <a:p>
            <a:pPr indent="0" marL="0">
              <a:lnSpc>
                <a:spcPct val="125000"/>
              </a:lnSpc>
              <a:buNone/>
            </a:pPr>
            <a:r>
              <a:rPr lang="en-US" sz="2700" b="1" dirty="0">
                <a:solidFill>
                  <a:srgbClr val="14213D"/>
                </a:solidFill>
              </a:rPr>
              <a:t>システム構成：スマートフォンのカメラ 1 台 ＋ ノート PC</a:t>
            </a:r>
            <a:endParaRPr lang="en-US" sz="2700" dirty="0"/>
          </a:p>
        </p:txBody>
      </p:sp>
      <p:sp>
        <p:nvSpPr>
          <p:cNvPr id="109" name="Shape 105"/>
          <p:cNvSpPr/>
          <p:nvPr/>
        </p:nvSpPr>
        <p:spPr>
          <a:xfrm>
            <a:off x="15777972" y="8321040"/>
            <a:ext cx="4024884" cy="1554480"/>
          </a:xfrm>
          <a:prstGeom prst="roundRect">
            <a:avLst>
              <a:gd name="adj" fmla="val 7059"/>
            </a:avLst>
          </a:prstGeom>
          <a:solidFill>
            <a:srgbClr val="14213D"/>
          </a:solidFill>
          <a:ln w="19050">
            <a:solidFill>
              <a:srgbClr val="14213D"/>
            </a:solidFill>
            <a:prstDash val="solid"/>
          </a:ln>
        </p:spPr>
      </p:sp>
      <p:sp>
        <p:nvSpPr>
          <p:cNvPr id="110" name="Text 106"/>
          <p:cNvSpPr txBox="1"/>
          <p:nvPr/>
        </p:nvSpPr>
        <p:spPr>
          <a:xfrm>
            <a:off x="16006572" y="8485632"/>
            <a:ext cx="3567684" cy="652882"/>
          </a:xfrm>
          <a:prstGeom prst="rect">
            <a:avLst/>
          </a:prstGeom>
          <a:noFill/>
          <a:ln/>
        </p:spPr>
        <p:txBody>
          <a:bodyPr wrap="square" lIns="0" tIns="0" rIns="0" bIns="0" rtlCol="0" anchor="t"/>
          <a:lstStyle/>
          <a:p>
            <a:pPr indent="0" marL="0">
              <a:lnSpc>
                <a:spcPct val="115000"/>
              </a:lnSpc>
              <a:buNone/>
            </a:pPr>
            <a:r>
              <a:rPr lang="en-US" sz="2500" b="1" dirty="0">
                <a:solidFill>
                  <a:srgbClr val="FFFFFF"/>
                </a:solidFill>
              </a:rPr>
              <a:t>スマホカメラ</a:t>
            </a:r>
            <a:endParaRPr lang="en-US" sz="2500" dirty="0"/>
          </a:p>
        </p:txBody>
      </p:sp>
      <p:sp>
        <p:nvSpPr>
          <p:cNvPr id="111" name="Text 107"/>
          <p:cNvSpPr txBox="1"/>
          <p:nvPr/>
        </p:nvSpPr>
        <p:spPr>
          <a:xfrm>
            <a:off x="16006572" y="9067190"/>
            <a:ext cx="3567684" cy="777240"/>
          </a:xfrm>
          <a:prstGeom prst="rect">
            <a:avLst/>
          </a:prstGeom>
          <a:noFill/>
          <a:ln/>
        </p:spPr>
        <p:txBody>
          <a:bodyPr wrap="square" lIns="0" tIns="0" rIns="0" bIns="0" rtlCol="0" anchor="t"/>
          <a:lstStyle/>
          <a:p>
            <a:pPr indent="0" marL="0">
              <a:lnSpc>
                <a:spcPct val="120000"/>
              </a:lnSpc>
              <a:buNone/>
            </a:pPr>
            <a:r>
              <a:rPr lang="en-US" sz="2100" dirty="0">
                <a:solidFill>
                  <a:srgbClr val="DDDDDD"/>
                </a:solidFill>
              </a:rPr>
              <a:t>1280×720、30 fps の映像を PC へ</a:t>
            </a:r>
            <a:endParaRPr lang="en-US" sz="2100" dirty="0"/>
          </a:p>
        </p:txBody>
      </p:sp>
      <p:sp>
        <p:nvSpPr>
          <p:cNvPr id="112" name="Shape 108"/>
          <p:cNvSpPr/>
          <p:nvPr/>
        </p:nvSpPr>
        <p:spPr>
          <a:xfrm>
            <a:off x="19912584" y="8887968"/>
            <a:ext cx="420624" cy="411480"/>
          </a:xfrm>
          <a:prstGeom prst="rightArrow">
            <a:avLst/>
          </a:prstGeom>
          <a:solidFill>
            <a:srgbClr val="5A6270"/>
          </a:solidFill>
          <a:ln w="12700">
            <a:solidFill>
              <a:srgbClr val="5A6270"/>
            </a:solidFill>
            <a:prstDash val="solid"/>
          </a:ln>
        </p:spPr>
      </p:sp>
      <p:sp>
        <p:nvSpPr>
          <p:cNvPr id="113" name="Shape 109"/>
          <p:cNvSpPr/>
          <p:nvPr/>
        </p:nvSpPr>
        <p:spPr>
          <a:xfrm>
            <a:off x="20442936" y="8321040"/>
            <a:ext cx="4024884" cy="1554480"/>
          </a:xfrm>
          <a:prstGeom prst="roundRect">
            <a:avLst>
              <a:gd name="adj" fmla="val 7059"/>
            </a:avLst>
          </a:prstGeom>
          <a:solidFill>
            <a:srgbClr val="14213D"/>
          </a:solidFill>
          <a:ln w="19050">
            <a:solidFill>
              <a:srgbClr val="14213D"/>
            </a:solidFill>
            <a:prstDash val="solid"/>
          </a:ln>
        </p:spPr>
      </p:sp>
      <p:sp>
        <p:nvSpPr>
          <p:cNvPr id="114" name="Text 110"/>
          <p:cNvSpPr txBox="1"/>
          <p:nvPr/>
        </p:nvSpPr>
        <p:spPr>
          <a:xfrm>
            <a:off x="20671536" y="8485632"/>
            <a:ext cx="3567684" cy="652882"/>
          </a:xfrm>
          <a:prstGeom prst="rect">
            <a:avLst/>
          </a:prstGeom>
          <a:noFill/>
          <a:ln/>
        </p:spPr>
        <p:txBody>
          <a:bodyPr wrap="square" lIns="0" tIns="0" rIns="0" bIns="0" rtlCol="0" anchor="t"/>
          <a:lstStyle/>
          <a:p>
            <a:pPr indent="0" marL="0">
              <a:lnSpc>
                <a:spcPct val="115000"/>
              </a:lnSpc>
              <a:buNone/>
            </a:pPr>
            <a:r>
              <a:rPr lang="en-US" sz="2500" b="1" dirty="0">
                <a:solidFill>
                  <a:srgbClr val="FFFFFF"/>
                </a:solidFill>
              </a:rPr>
              <a:t>PC：追跡プログラム</a:t>
            </a:r>
            <a:endParaRPr lang="en-US" sz="2500" dirty="0"/>
          </a:p>
        </p:txBody>
      </p:sp>
      <p:sp>
        <p:nvSpPr>
          <p:cNvPr id="115" name="Text 111"/>
          <p:cNvSpPr txBox="1"/>
          <p:nvPr/>
        </p:nvSpPr>
        <p:spPr>
          <a:xfrm>
            <a:off x="20671536" y="9067190"/>
            <a:ext cx="3567684" cy="777240"/>
          </a:xfrm>
          <a:prstGeom prst="rect">
            <a:avLst/>
          </a:prstGeom>
          <a:noFill/>
          <a:ln/>
        </p:spPr>
        <p:txBody>
          <a:bodyPr wrap="square" lIns="0" tIns="0" rIns="0" bIns="0" rtlCol="0" anchor="t"/>
          <a:lstStyle/>
          <a:p>
            <a:pPr indent="0" marL="0">
              <a:lnSpc>
                <a:spcPct val="120000"/>
              </a:lnSpc>
              <a:buNone/>
            </a:pPr>
            <a:r>
              <a:rPr lang="en-US" sz="2100" dirty="0">
                <a:solidFill>
                  <a:srgbClr val="DDDDDD"/>
                </a:solidFill>
              </a:rPr>
              <a:t>① 4 モデルの追跡　② 信頼度の計算と切替</a:t>
            </a:r>
            <a:endParaRPr lang="en-US" sz="2100" dirty="0"/>
          </a:p>
        </p:txBody>
      </p:sp>
      <p:sp>
        <p:nvSpPr>
          <p:cNvPr id="116" name="Shape 112"/>
          <p:cNvSpPr/>
          <p:nvPr/>
        </p:nvSpPr>
        <p:spPr>
          <a:xfrm>
            <a:off x="24577548" y="8887968"/>
            <a:ext cx="420624" cy="411480"/>
          </a:xfrm>
          <a:prstGeom prst="rightArrow">
            <a:avLst/>
          </a:prstGeom>
          <a:solidFill>
            <a:srgbClr val="5A6270"/>
          </a:solidFill>
          <a:ln w="12700">
            <a:solidFill>
              <a:srgbClr val="5A6270"/>
            </a:solidFill>
            <a:prstDash val="solid"/>
          </a:ln>
        </p:spPr>
      </p:sp>
      <p:sp>
        <p:nvSpPr>
          <p:cNvPr id="117" name="Shape 113"/>
          <p:cNvSpPr/>
          <p:nvPr/>
        </p:nvSpPr>
        <p:spPr>
          <a:xfrm>
            <a:off x="25107900" y="8321040"/>
            <a:ext cx="4024884" cy="1554480"/>
          </a:xfrm>
          <a:prstGeom prst="roundRect">
            <a:avLst>
              <a:gd name="adj" fmla="val 7059"/>
            </a:avLst>
          </a:prstGeom>
          <a:solidFill>
            <a:srgbClr val="14213D"/>
          </a:solidFill>
          <a:ln w="19050">
            <a:solidFill>
              <a:srgbClr val="14213D"/>
            </a:solidFill>
            <a:prstDash val="solid"/>
          </a:ln>
        </p:spPr>
      </p:sp>
      <p:sp>
        <p:nvSpPr>
          <p:cNvPr id="118" name="Text 114"/>
          <p:cNvSpPr txBox="1"/>
          <p:nvPr/>
        </p:nvSpPr>
        <p:spPr>
          <a:xfrm>
            <a:off x="25336500" y="8485632"/>
            <a:ext cx="3567684" cy="652882"/>
          </a:xfrm>
          <a:prstGeom prst="rect">
            <a:avLst/>
          </a:prstGeom>
          <a:noFill/>
          <a:ln/>
        </p:spPr>
        <p:txBody>
          <a:bodyPr wrap="square" lIns="0" tIns="0" rIns="0" bIns="0" rtlCol="0" anchor="t"/>
          <a:lstStyle/>
          <a:p>
            <a:pPr indent="0" marL="0">
              <a:lnSpc>
                <a:spcPct val="115000"/>
              </a:lnSpc>
              <a:buNone/>
            </a:pPr>
            <a:r>
              <a:rPr lang="en-US" sz="2500" b="1" dirty="0">
                <a:solidFill>
                  <a:srgbClr val="FFFFFF"/>
                </a:solidFill>
              </a:rPr>
              <a:t>Unity：AR 表示</a:t>
            </a:r>
            <a:endParaRPr lang="en-US" sz="2500" dirty="0"/>
          </a:p>
        </p:txBody>
      </p:sp>
      <p:sp>
        <p:nvSpPr>
          <p:cNvPr id="119" name="Text 115"/>
          <p:cNvSpPr txBox="1"/>
          <p:nvPr/>
        </p:nvSpPr>
        <p:spPr>
          <a:xfrm>
            <a:off x="25336500" y="9067190"/>
            <a:ext cx="3567684" cy="777240"/>
          </a:xfrm>
          <a:prstGeom prst="rect">
            <a:avLst/>
          </a:prstGeom>
          <a:noFill/>
          <a:ln/>
        </p:spPr>
        <p:txBody>
          <a:bodyPr wrap="square" lIns="0" tIns="0" rIns="0" bIns="0" rtlCol="0" anchor="t"/>
          <a:lstStyle/>
          <a:p>
            <a:pPr indent="0" marL="0">
              <a:lnSpc>
                <a:spcPct val="120000"/>
              </a:lnSpc>
              <a:buNone/>
            </a:pPr>
            <a:r>
              <a:rPr lang="en-US" sz="2100" dirty="0">
                <a:solidFill>
                  <a:srgbClr val="DDDDDD"/>
                </a:solidFill>
              </a:rPr>
              <a:t>カメラ画像に輪郭と色を重畳</a:t>
            </a:r>
            <a:endParaRPr lang="en-US" sz="2100" dirty="0"/>
          </a:p>
        </p:txBody>
      </p:sp>
      <p:sp>
        <p:nvSpPr>
          <p:cNvPr id="120" name="Text 116"/>
          <p:cNvSpPr txBox="1"/>
          <p:nvPr/>
        </p:nvSpPr>
        <p:spPr>
          <a:xfrm>
            <a:off x="15777972" y="10104120"/>
            <a:ext cx="13354812" cy="2011680"/>
          </a:xfrm>
          <a:prstGeom prst="rect">
            <a:avLst/>
          </a:prstGeom>
          <a:noFill/>
          <a:ln/>
        </p:spPr>
        <p:txBody>
          <a:bodyPr wrap="square" lIns="0" tIns="0" rIns="0" bIns="0" rtlCol="0" anchor="t"/>
          <a:lstStyle/>
          <a:p>
            <a:pPr marL="342900" indent="-342900">
              <a:lnSpc>
                <a:spcPct val="125000"/>
              </a:lnSpc>
              <a:spcAft>
                <a:spcPts val="800"/>
              </a:spcAft>
              <a:buSzPct val="100000"/>
              <a:buChar char="•"/>
            </a:pPr>
            <a:r>
              <a:rPr lang="en-US" sz="2100" dirty="0">
                <a:solidFill>
                  <a:srgbClr val="14213D"/>
                </a:solidFill>
              </a:rPr>
              <a:t>① カメラに映った歯の輪郭と、3D モデルを投影した輪郭がぴったり重なる位置と向きを毎フレーム計算（マーカレス）。歯列全体・A・B・C の 4 モデルで同時に行う</a:t>
            </a:r>
            <a:endParaRPr lang="en-US" sz="2100" dirty="0"/>
          </a:p>
          <a:p>
            <a:pPr marL="342900" indent="-342900">
              <a:lnSpc>
                <a:spcPct val="125000"/>
              </a:lnSpc>
              <a:spcAft>
                <a:spcPts val="800"/>
              </a:spcAft>
              <a:buSzPct val="100000"/>
              <a:buChar char="•"/>
            </a:pPr>
            <a:r>
              <a:rPr lang="en-US" sz="2100" dirty="0">
                <a:solidFill>
                  <a:srgbClr val="14213D"/>
                </a:solidFill>
              </a:rPr>
              <a:t>② 4 モデルの「実物のエッジとの合い具合」をスコア化し、スコアの高いモデルの姿勢を採用する</a:t>
            </a:r>
            <a:endParaRPr lang="en-US" sz="2100" dirty="0"/>
          </a:p>
        </p:txBody>
      </p:sp>
      <p:sp>
        <p:nvSpPr>
          <p:cNvPr id="121" name="Shape 117"/>
          <p:cNvSpPr/>
          <p:nvPr/>
        </p:nvSpPr>
        <p:spPr>
          <a:xfrm>
            <a:off x="15777972" y="12115800"/>
            <a:ext cx="13354812" cy="658368"/>
          </a:xfrm>
          <a:prstGeom prst="roundRect">
            <a:avLst>
              <a:gd name="adj" fmla="val 11111"/>
            </a:avLst>
          </a:prstGeom>
          <a:solidFill>
            <a:srgbClr val="DCE3EE"/>
          </a:solidFill>
          <a:ln w="19050">
            <a:solidFill>
              <a:srgbClr val="DCE3EE"/>
            </a:solidFill>
            <a:prstDash val="solid"/>
          </a:ln>
        </p:spPr>
      </p:sp>
      <p:sp>
        <p:nvSpPr>
          <p:cNvPr id="122" name="Text 118"/>
          <p:cNvSpPr txBox="1"/>
          <p:nvPr/>
        </p:nvSpPr>
        <p:spPr>
          <a:xfrm>
            <a:off x="16052292" y="12115800"/>
            <a:ext cx="12806172" cy="658368"/>
          </a:xfrm>
          <a:prstGeom prst="rect">
            <a:avLst/>
          </a:prstGeom>
          <a:noFill/>
          <a:ln/>
        </p:spPr>
        <p:txBody>
          <a:bodyPr wrap="square" lIns="0" tIns="0" rIns="0" bIns="0" rtlCol="0" anchor="ctr"/>
          <a:lstStyle/>
          <a:p>
            <a:pPr indent="0" marL="0">
              <a:lnSpc>
                <a:spcPct val="125000"/>
              </a:lnSpc>
              <a:buNone/>
            </a:pPr>
            <a:r>
              <a:rPr lang="en-US" sz="2700" b="1" dirty="0">
                <a:solidFill>
                  <a:srgbClr val="14213D"/>
                </a:solidFill>
              </a:rPr>
              <a:t>デモ：ハンドピースで隠すと、見えている歯群が姿勢を引き継ぐ</a:t>
            </a:r>
            <a:endParaRPr lang="en-US" sz="2700" dirty="0"/>
          </a:p>
        </p:txBody>
      </p:sp>
      <p:pic>
        <p:nvPicPr>
          <p:cNvPr id="123" name="Image 2" descr="C:/Users/rytkw/AppData/Local/Temp/claude/C--Users-rytkw-Projects-unity-few-teeth-tracking/426ee211-65a6-44e2-b903-6d0fa52dabdc/scratchpad/slides_img/r1237_000_c.jpg">    </p:cNvPr>
          <p:cNvPicPr>
            <a:picLocks noChangeAspect="1"/>
          </p:cNvPicPr>
          <p:nvPr/>
        </p:nvPicPr>
        <p:blipFill>
          <a:blip r:embed="rId3"/>
          <a:srcRect l="0" r="0" t="0" b="0"/>
          <a:stretch/>
        </p:blipFill>
        <p:spPr>
          <a:xfrm>
            <a:off x="15777972" y="12938760"/>
            <a:ext cx="4146804" cy="2591752"/>
          </a:xfrm>
          <a:prstGeom prst="rect">
            <a:avLst/>
          </a:prstGeom>
        </p:spPr>
      </p:pic>
      <p:sp>
        <p:nvSpPr>
          <p:cNvPr id="124" name="Text 119"/>
          <p:cNvSpPr txBox="1"/>
          <p:nvPr/>
        </p:nvSpPr>
        <p:spPr>
          <a:xfrm>
            <a:off x="15777972" y="15576233"/>
            <a:ext cx="4146804" cy="1463040"/>
          </a:xfrm>
          <a:prstGeom prst="rect">
            <a:avLst/>
          </a:prstGeom>
          <a:noFill/>
          <a:ln/>
        </p:spPr>
        <p:txBody>
          <a:bodyPr wrap="square" lIns="0" tIns="0" rIns="0" bIns="0" rtlCol="0" anchor="t"/>
          <a:lstStyle/>
          <a:p>
            <a:pPr indent="0" marL="0">
              <a:lnSpc>
                <a:spcPct val="120000"/>
              </a:lnSpc>
              <a:buNone/>
            </a:pPr>
            <a:r>
              <a:rPr lang="en-US" sz="2000" dirty="0">
                <a:solidFill>
                  <a:srgbClr val="5A6270"/>
                </a:solidFill>
              </a:rPr>
              <a:t>// 遮蔽前：歯列全体で追跡（赤＝臼歯群を強調表示）</a:t>
            </a:r>
            <a:endParaRPr lang="en-US" sz="2000" dirty="0"/>
          </a:p>
        </p:txBody>
      </p:sp>
      <p:sp>
        <p:nvSpPr>
          <p:cNvPr id="125" name="Shape 120"/>
          <p:cNvSpPr/>
          <p:nvPr/>
        </p:nvSpPr>
        <p:spPr>
          <a:xfrm>
            <a:off x="19988784" y="14033468"/>
            <a:ext cx="329184" cy="402336"/>
          </a:xfrm>
          <a:prstGeom prst="rightArrow">
            <a:avLst/>
          </a:prstGeom>
          <a:solidFill>
            <a:srgbClr val="5A6270"/>
          </a:solidFill>
          <a:ln w="12700">
            <a:solidFill>
              <a:srgbClr val="5A6270"/>
            </a:solidFill>
            <a:prstDash val="solid"/>
          </a:ln>
        </p:spPr>
      </p:sp>
      <p:pic>
        <p:nvPicPr>
          <p:cNvPr id="126" name="Image 3" descr="C:/Users/rytkw/AppData/Local/Temp/claude/C--Users-rytkw-Projects-unity-few-teeth-tracking/426ee211-65a6-44e2-b903-6d0fa52dabdc/scratchpad/slides_img/r1237_002_c.jpg">    </p:cNvPr>
          <p:cNvPicPr>
            <a:picLocks noChangeAspect="1"/>
          </p:cNvPicPr>
          <p:nvPr/>
        </p:nvPicPr>
        <p:blipFill>
          <a:blip r:embed="rId4"/>
          <a:srcRect l="0" r="0" t="0" b="0"/>
          <a:stretch/>
        </p:blipFill>
        <p:spPr>
          <a:xfrm>
            <a:off x="20381976" y="12938760"/>
            <a:ext cx="4146804" cy="2591752"/>
          </a:xfrm>
          <a:prstGeom prst="rect">
            <a:avLst/>
          </a:prstGeom>
        </p:spPr>
      </p:pic>
      <p:sp>
        <p:nvSpPr>
          <p:cNvPr id="127" name="Text 121"/>
          <p:cNvSpPr txBox="1"/>
          <p:nvPr/>
        </p:nvSpPr>
        <p:spPr>
          <a:xfrm>
            <a:off x="20381976" y="15576233"/>
            <a:ext cx="4146804" cy="1463040"/>
          </a:xfrm>
          <a:prstGeom prst="rect">
            <a:avLst/>
          </a:prstGeom>
          <a:noFill/>
          <a:ln/>
        </p:spPr>
        <p:txBody>
          <a:bodyPr wrap="square" lIns="0" tIns="0" rIns="0" bIns="0" rtlCol="0" anchor="t"/>
          <a:lstStyle/>
          <a:p>
            <a:pPr indent="0" marL="0">
              <a:lnSpc>
                <a:spcPct val="120000"/>
              </a:lnSpc>
              <a:buNone/>
            </a:pPr>
            <a:r>
              <a:rPr lang="en-US" sz="2000" dirty="0">
                <a:solidFill>
                  <a:srgbClr val="5A6270"/>
                </a:solidFill>
              </a:rPr>
              <a:t>// 遮蔽中：臼歯側が隠れ、切歯群（黄）が姿勢を引き継ぐ。隠れた臼歯の輪郭も本来の位置に残る</a:t>
            </a:r>
            <a:endParaRPr lang="en-US" sz="2000" dirty="0"/>
          </a:p>
        </p:txBody>
      </p:sp>
      <p:sp>
        <p:nvSpPr>
          <p:cNvPr id="128" name="Shape 122"/>
          <p:cNvSpPr/>
          <p:nvPr/>
        </p:nvSpPr>
        <p:spPr>
          <a:xfrm>
            <a:off x="24592788" y="14033468"/>
            <a:ext cx="329184" cy="402336"/>
          </a:xfrm>
          <a:prstGeom prst="rightArrow">
            <a:avLst/>
          </a:prstGeom>
          <a:solidFill>
            <a:srgbClr val="5A6270"/>
          </a:solidFill>
          <a:ln w="12700">
            <a:solidFill>
              <a:srgbClr val="5A6270"/>
            </a:solidFill>
            <a:prstDash val="solid"/>
          </a:ln>
        </p:spPr>
      </p:sp>
      <p:pic>
        <p:nvPicPr>
          <p:cNvPr id="129" name="Image 4" descr="C:/Users/rytkw/AppData/Local/Temp/claude/C--Users-rytkw-Projects-unity-few-teeth-tracking/426ee211-65a6-44e2-b903-6d0fa52dabdc/scratchpad/slides_img/r1237_014_c.jpg">    </p:cNvPr>
          <p:cNvPicPr>
            <a:picLocks noChangeAspect="1"/>
          </p:cNvPicPr>
          <p:nvPr/>
        </p:nvPicPr>
        <p:blipFill>
          <a:blip r:embed="rId5"/>
          <a:srcRect l="0" r="0" t="0" b="0"/>
          <a:stretch/>
        </p:blipFill>
        <p:spPr>
          <a:xfrm>
            <a:off x="24985980" y="12938760"/>
            <a:ext cx="4146804" cy="2591752"/>
          </a:xfrm>
          <a:prstGeom prst="rect">
            <a:avLst/>
          </a:prstGeom>
        </p:spPr>
      </p:pic>
      <p:sp>
        <p:nvSpPr>
          <p:cNvPr id="130" name="Text 123"/>
          <p:cNvSpPr txBox="1"/>
          <p:nvPr/>
        </p:nvSpPr>
        <p:spPr>
          <a:xfrm>
            <a:off x="24985980" y="15576233"/>
            <a:ext cx="4146804" cy="1463040"/>
          </a:xfrm>
          <a:prstGeom prst="rect">
            <a:avLst/>
          </a:prstGeom>
          <a:noFill/>
          <a:ln/>
        </p:spPr>
        <p:txBody>
          <a:bodyPr wrap="square" lIns="0" tIns="0" rIns="0" bIns="0" rtlCol="0" anchor="t"/>
          <a:lstStyle/>
          <a:p>
            <a:pPr indent="0" marL="0">
              <a:lnSpc>
                <a:spcPct val="120000"/>
              </a:lnSpc>
              <a:buNone/>
            </a:pPr>
            <a:r>
              <a:rPr lang="en-US" sz="2000" dirty="0">
                <a:solidFill>
                  <a:srgbClr val="5A6270"/>
                </a:solidFill>
              </a:rPr>
              <a:t>// 遮蔽後：器具をどけると 1 秒以内に歯列全体へ復帰</a:t>
            </a:r>
            <a:endParaRPr lang="en-US" sz="2000" dirty="0"/>
          </a:p>
        </p:txBody>
      </p:sp>
      <p:pic>
        <p:nvPicPr>
          <p:cNvPr id="131" name="Image 5" descr="C:/Users/rytkw/AppData/Local/Temp/claude/C--Users-rytkw-Projects-unity-few-teeth-tracking/426ee211-65a6-44e2-b903-6d0fa52dabdc/scratchpad/slides_img/r1611_258_c.jpg">    </p:cNvPr>
          <p:cNvPicPr>
            <a:picLocks noChangeAspect="1"/>
          </p:cNvPicPr>
          <p:nvPr/>
        </p:nvPicPr>
        <p:blipFill>
          <a:blip r:embed="rId6"/>
          <a:srcRect l="0" r="0" t="0" b="0"/>
          <a:stretch/>
        </p:blipFill>
        <p:spPr>
          <a:xfrm>
            <a:off x="15777972" y="17130713"/>
            <a:ext cx="6949440" cy="4343400"/>
          </a:xfrm>
          <a:prstGeom prst="rect">
            <a:avLst/>
          </a:prstGeom>
        </p:spPr>
      </p:pic>
      <p:sp>
        <p:nvSpPr>
          <p:cNvPr id="132" name="Text 124"/>
          <p:cNvSpPr txBox="1"/>
          <p:nvPr/>
        </p:nvSpPr>
        <p:spPr>
          <a:xfrm>
            <a:off x="15777972" y="21519833"/>
            <a:ext cx="6949440" cy="822960"/>
          </a:xfrm>
          <a:prstGeom prst="rect">
            <a:avLst/>
          </a:prstGeom>
          <a:noFill/>
          <a:ln/>
        </p:spPr>
        <p:txBody>
          <a:bodyPr wrap="square" lIns="0" tIns="0" rIns="0" bIns="0" rtlCol="0" anchor="t"/>
          <a:lstStyle/>
          <a:p>
            <a:pPr indent="0" marL="0">
              <a:lnSpc>
                <a:spcPct val="120000"/>
              </a:lnSpc>
              <a:buNone/>
            </a:pPr>
            <a:r>
              <a:rPr lang="en-US" sz="2000" dirty="0">
                <a:solidFill>
                  <a:srgbClr val="5A6270"/>
                </a:solidFill>
              </a:rPr>
              <a:t>// 器具で前歯側を隠すと、臼歯群（赤）が姿勢を引き継ぐ</a:t>
            </a:r>
            <a:endParaRPr lang="en-US" sz="2000" dirty="0"/>
          </a:p>
        </p:txBody>
      </p:sp>
      <p:sp>
        <p:nvSpPr>
          <p:cNvPr id="133" name="Text 125"/>
          <p:cNvSpPr txBox="1"/>
          <p:nvPr/>
        </p:nvSpPr>
        <p:spPr>
          <a:xfrm>
            <a:off x="23184612" y="17130713"/>
            <a:ext cx="5948172" cy="548640"/>
          </a:xfrm>
          <a:prstGeom prst="rect">
            <a:avLst/>
          </a:prstGeom>
          <a:noFill/>
          <a:ln/>
        </p:spPr>
        <p:txBody>
          <a:bodyPr wrap="square" lIns="0" tIns="0" rIns="0" bIns="0" rtlCol="0" anchor="t"/>
          <a:lstStyle/>
          <a:p>
            <a:pPr indent="0" marL="0">
              <a:lnSpc>
                <a:spcPct val="125000"/>
              </a:lnSpc>
              <a:buNone/>
            </a:pPr>
            <a:r>
              <a:rPr lang="en-US" sz="2200" b="1" dirty="0">
                <a:solidFill>
                  <a:srgbClr val="14213D"/>
                </a:solidFill>
              </a:rPr>
              <a:t>輪郭の色 ＝ いま姿勢を出しているモデル</a:t>
            </a:r>
            <a:endParaRPr lang="en-US" sz="2200" dirty="0"/>
          </a:p>
        </p:txBody>
      </p:sp>
      <p:sp>
        <p:nvSpPr>
          <p:cNvPr id="134" name="Shape 126"/>
          <p:cNvSpPr/>
          <p:nvPr/>
        </p:nvSpPr>
        <p:spPr>
          <a:xfrm>
            <a:off x="23184612" y="17816513"/>
            <a:ext cx="640080" cy="548640"/>
          </a:xfrm>
          <a:prstGeom prst="roundRect">
            <a:avLst>
              <a:gd name="adj" fmla="val 13333"/>
            </a:avLst>
          </a:prstGeom>
          <a:solidFill>
            <a:srgbClr val="FFFFFF"/>
          </a:solidFill>
          <a:ln w="19050">
            <a:solidFill>
              <a:srgbClr val="C9CED8"/>
            </a:solidFill>
            <a:prstDash val="solid"/>
          </a:ln>
        </p:spPr>
      </p:sp>
      <p:sp>
        <p:nvSpPr>
          <p:cNvPr id="135" name="Text 127"/>
          <p:cNvSpPr txBox="1"/>
          <p:nvPr/>
        </p:nvSpPr>
        <p:spPr>
          <a:xfrm>
            <a:off x="24007572" y="17816513"/>
            <a:ext cx="5125212" cy="548640"/>
          </a:xfrm>
          <a:prstGeom prst="rect">
            <a:avLst/>
          </a:prstGeom>
          <a:noFill/>
          <a:ln/>
        </p:spPr>
        <p:txBody>
          <a:bodyPr wrap="square" lIns="0" tIns="0" rIns="0" bIns="0" rtlCol="0" anchor="ctr"/>
          <a:lstStyle/>
          <a:p>
            <a:pPr indent="0" marL="0">
              <a:lnSpc>
                <a:spcPct val="125000"/>
              </a:lnSpc>
              <a:buNone/>
            </a:pPr>
            <a:r>
              <a:rPr lang="en-US" sz="2200" dirty="0">
                <a:solidFill>
                  <a:srgbClr val="14213D"/>
                </a:solidFill>
              </a:rPr>
              <a:t>歯列全体</a:t>
            </a:r>
            <a:endParaRPr lang="en-US" sz="2200" dirty="0"/>
          </a:p>
        </p:txBody>
      </p:sp>
      <p:sp>
        <p:nvSpPr>
          <p:cNvPr id="136" name="Shape 128"/>
          <p:cNvSpPr/>
          <p:nvPr/>
        </p:nvSpPr>
        <p:spPr>
          <a:xfrm>
            <a:off x="23184612" y="18593753"/>
            <a:ext cx="640080" cy="548640"/>
          </a:xfrm>
          <a:prstGeom prst="roundRect">
            <a:avLst>
              <a:gd name="adj" fmla="val 13333"/>
            </a:avLst>
          </a:prstGeom>
          <a:solidFill>
            <a:srgbClr val="D6453D"/>
          </a:solidFill>
          <a:ln w="19050">
            <a:solidFill>
              <a:srgbClr val="D6453D"/>
            </a:solidFill>
            <a:prstDash val="solid"/>
          </a:ln>
        </p:spPr>
      </p:sp>
      <p:sp>
        <p:nvSpPr>
          <p:cNvPr id="137" name="Text 129"/>
          <p:cNvSpPr txBox="1"/>
          <p:nvPr/>
        </p:nvSpPr>
        <p:spPr>
          <a:xfrm>
            <a:off x="24007572" y="18593753"/>
            <a:ext cx="5125212" cy="548640"/>
          </a:xfrm>
          <a:prstGeom prst="rect">
            <a:avLst/>
          </a:prstGeom>
          <a:noFill/>
          <a:ln/>
        </p:spPr>
        <p:txBody>
          <a:bodyPr wrap="square" lIns="0" tIns="0" rIns="0" bIns="0" rtlCol="0" anchor="ctr"/>
          <a:lstStyle/>
          <a:p>
            <a:pPr indent="0" marL="0">
              <a:lnSpc>
                <a:spcPct val="125000"/>
              </a:lnSpc>
              <a:buNone/>
            </a:pPr>
            <a:r>
              <a:rPr lang="en-US" sz="2200" dirty="0">
                <a:solidFill>
                  <a:srgbClr val="14213D"/>
                </a:solidFill>
              </a:rPr>
              <a:t>A 臼歯群</a:t>
            </a:r>
            <a:endParaRPr lang="en-US" sz="2200" dirty="0"/>
          </a:p>
        </p:txBody>
      </p:sp>
      <p:sp>
        <p:nvSpPr>
          <p:cNvPr id="138" name="Shape 130"/>
          <p:cNvSpPr/>
          <p:nvPr/>
        </p:nvSpPr>
        <p:spPr>
          <a:xfrm>
            <a:off x="23184612" y="19370993"/>
            <a:ext cx="640080" cy="548640"/>
          </a:xfrm>
          <a:prstGeom prst="roundRect">
            <a:avLst>
              <a:gd name="adj" fmla="val 13333"/>
            </a:avLst>
          </a:prstGeom>
          <a:solidFill>
            <a:srgbClr val="3DBB5A"/>
          </a:solidFill>
          <a:ln w="19050">
            <a:solidFill>
              <a:srgbClr val="3DBB5A"/>
            </a:solidFill>
            <a:prstDash val="solid"/>
          </a:ln>
        </p:spPr>
      </p:sp>
      <p:sp>
        <p:nvSpPr>
          <p:cNvPr id="139" name="Text 131"/>
          <p:cNvSpPr txBox="1"/>
          <p:nvPr/>
        </p:nvSpPr>
        <p:spPr>
          <a:xfrm>
            <a:off x="24007572" y="19370993"/>
            <a:ext cx="5125212" cy="548640"/>
          </a:xfrm>
          <a:prstGeom prst="rect">
            <a:avLst/>
          </a:prstGeom>
          <a:noFill/>
          <a:ln/>
        </p:spPr>
        <p:txBody>
          <a:bodyPr wrap="square" lIns="0" tIns="0" rIns="0" bIns="0" rtlCol="0" anchor="ctr"/>
          <a:lstStyle/>
          <a:p>
            <a:pPr indent="0" marL="0">
              <a:lnSpc>
                <a:spcPct val="125000"/>
              </a:lnSpc>
              <a:buNone/>
            </a:pPr>
            <a:r>
              <a:rPr lang="en-US" sz="2200" dirty="0">
                <a:solidFill>
                  <a:srgbClr val="14213D"/>
                </a:solidFill>
              </a:rPr>
              <a:t>B 小臼歯〜犬歯群</a:t>
            </a:r>
            <a:endParaRPr lang="en-US" sz="2200" dirty="0"/>
          </a:p>
        </p:txBody>
      </p:sp>
      <p:sp>
        <p:nvSpPr>
          <p:cNvPr id="140" name="Shape 132"/>
          <p:cNvSpPr/>
          <p:nvPr/>
        </p:nvSpPr>
        <p:spPr>
          <a:xfrm>
            <a:off x="23184612" y="20148233"/>
            <a:ext cx="640080" cy="548640"/>
          </a:xfrm>
          <a:prstGeom prst="roundRect">
            <a:avLst>
              <a:gd name="adj" fmla="val 13333"/>
            </a:avLst>
          </a:prstGeom>
          <a:solidFill>
            <a:srgbClr val="E8C547"/>
          </a:solidFill>
          <a:ln w="19050">
            <a:solidFill>
              <a:srgbClr val="E8C547"/>
            </a:solidFill>
            <a:prstDash val="solid"/>
          </a:ln>
        </p:spPr>
      </p:sp>
      <p:sp>
        <p:nvSpPr>
          <p:cNvPr id="141" name="Text 133"/>
          <p:cNvSpPr txBox="1"/>
          <p:nvPr/>
        </p:nvSpPr>
        <p:spPr>
          <a:xfrm>
            <a:off x="24007572" y="20148233"/>
            <a:ext cx="5125212" cy="548640"/>
          </a:xfrm>
          <a:prstGeom prst="rect">
            <a:avLst/>
          </a:prstGeom>
          <a:noFill/>
          <a:ln/>
        </p:spPr>
        <p:txBody>
          <a:bodyPr wrap="square" lIns="0" tIns="0" rIns="0" bIns="0" rtlCol="0" anchor="ctr"/>
          <a:lstStyle/>
          <a:p>
            <a:pPr indent="0" marL="0">
              <a:lnSpc>
                <a:spcPct val="125000"/>
              </a:lnSpc>
              <a:buNone/>
            </a:pPr>
            <a:r>
              <a:rPr lang="en-US" sz="2200" dirty="0">
                <a:solidFill>
                  <a:srgbClr val="14213D"/>
                </a:solidFill>
              </a:rPr>
              <a:t>C 切歯群</a:t>
            </a:r>
            <a:endParaRPr lang="en-US" sz="2200" dirty="0"/>
          </a:p>
        </p:txBody>
      </p:sp>
      <p:sp>
        <p:nvSpPr>
          <p:cNvPr id="142" name="Text 134"/>
          <p:cNvSpPr txBox="1"/>
          <p:nvPr/>
        </p:nvSpPr>
        <p:spPr>
          <a:xfrm>
            <a:off x="23184612" y="21016913"/>
            <a:ext cx="5948172" cy="1188720"/>
          </a:xfrm>
          <a:prstGeom prst="rect">
            <a:avLst/>
          </a:prstGeom>
          <a:noFill/>
          <a:ln/>
        </p:spPr>
        <p:txBody>
          <a:bodyPr wrap="square" lIns="0" tIns="0" rIns="0" bIns="0" rtlCol="0" anchor="t"/>
          <a:lstStyle/>
          <a:p>
            <a:pPr indent="0" marL="0">
              <a:lnSpc>
                <a:spcPct val="120000"/>
              </a:lnSpc>
              <a:buNone/>
            </a:pPr>
            <a:r>
              <a:rPr lang="en-US" sz="2000" dirty="0">
                <a:solidFill>
                  <a:srgbClr val="5A6270"/>
                </a:solidFill>
              </a:rPr>
              <a:t>画面右のバーは各モデルの合い具合（スコア）。来場者が手や器具で隠して、色の切替を体験できる</a:t>
            </a:r>
            <a:endParaRPr lang="en-US" sz="2000" dirty="0"/>
          </a:p>
        </p:txBody>
      </p:sp>
      <p:sp>
        <p:nvSpPr>
          <p:cNvPr id="143" name="Shape 135"/>
          <p:cNvSpPr/>
          <p:nvPr/>
        </p:nvSpPr>
        <p:spPr>
          <a:xfrm>
            <a:off x="15412212" y="23820120"/>
            <a:ext cx="14086332" cy="8595360"/>
          </a:xfrm>
          <a:prstGeom prst="rect">
            <a:avLst/>
          </a:prstGeom>
          <a:solidFill>
            <a:srgbClr val="FFFFFF"/>
          </a:solidFill>
          <a:ln w="19050">
            <a:solidFill>
              <a:srgbClr val="C9CED8"/>
            </a:solidFill>
            <a:prstDash val="solid"/>
          </a:ln>
        </p:spPr>
      </p:sp>
      <p:sp>
        <p:nvSpPr>
          <p:cNvPr id="144" name="Shape 136"/>
          <p:cNvSpPr/>
          <p:nvPr/>
        </p:nvSpPr>
        <p:spPr>
          <a:xfrm>
            <a:off x="15412212" y="23820120"/>
            <a:ext cx="14086332" cy="960120"/>
          </a:xfrm>
          <a:prstGeom prst="rect">
            <a:avLst/>
          </a:prstGeom>
          <a:solidFill>
            <a:srgbClr val="14213D"/>
          </a:solidFill>
          <a:ln w="19050">
            <a:solidFill>
              <a:srgbClr val="14213D"/>
            </a:solidFill>
            <a:prstDash val="solid"/>
          </a:ln>
        </p:spPr>
      </p:sp>
      <p:sp>
        <p:nvSpPr>
          <p:cNvPr id="145" name="Text 137"/>
          <p:cNvSpPr txBox="1"/>
          <p:nvPr/>
        </p:nvSpPr>
        <p:spPr>
          <a:xfrm>
            <a:off x="15732252" y="23820120"/>
            <a:ext cx="1188720" cy="960120"/>
          </a:xfrm>
          <a:prstGeom prst="rect">
            <a:avLst/>
          </a:prstGeom>
          <a:noFill/>
          <a:ln/>
        </p:spPr>
        <p:txBody>
          <a:bodyPr wrap="square" lIns="0" tIns="0" rIns="0" bIns="0" rtlCol="0" anchor="ctr"/>
          <a:lstStyle/>
          <a:p>
            <a:pPr indent="0" marL="0">
              <a:lnSpc>
                <a:spcPct val="125000"/>
              </a:lnSpc>
              <a:buNone/>
            </a:pPr>
            <a:r>
              <a:rPr lang="en-US" sz="4000" b="1" dirty="0">
                <a:solidFill>
                  <a:srgbClr val="FFFFFF"/>
                </a:solidFill>
                <a:latin typeface="Calibri" pitchFamily="34" charset="0"/>
                <a:ea typeface="Calibri" pitchFamily="34" charset="-122"/>
                <a:cs typeface="Calibri" pitchFamily="34" charset="-120"/>
              </a:rPr>
              <a:t>5.</a:t>
            </a:r>
            <a:endParaRPr lang="en-US" sz="4000" dirty="0"/>
          </a:p>
        </p:txBody>
      </p:sp>
      <p:sp>
        <p:nvSpPr>
          <p:cNvPr id="146" name="Text 138"/>
          <p:cNvSpPr txBox="1"/>
          <p:nvPr/>
        </p:nvSpPr>
        <p:spPr>
          <a:xfrm>
            <a:off x="16966692" y="23820120"/>
            <a:ext cx="12257532" cy="960120"/>
          </a:xfrm>
          <a:prstGeom prst="rect">
            <a:avLst/>
          </a:prstGeom>
          <a:noFill/>
          <a:ln/>
        </p:spPr>
        <p:txBody>
          <a:bodyPr wrap="square" lIns="0" tIns="0" rIns="0" bIns="0" rtlCol="0" anchor="ctr"/>
          <a:lstStyle/>
          <a:p>
            <a:pPr indent="0" marL="0">
              <a:lnSpc>
                <a:spcPct val="125000"/>
              </a:lnSpc>
              <a:buNone/>
            </a:pPr>
            <a:r>
              <a:rPr lang="en-US" sz="3800" b="1" dirty="0">
                <a:solidFill>
                  <a:srgbClr val="FFFFFF"/>
                </a:solidFill>
              </a:rPr>
              <a:t>予備測定：切替あり／なし</a:t>
            </a:r>
            <a:endParaRPr lang="en-US" sz="3800" dirty="0"/>
          </a:p>
        </p:txBody>
      </p:sp>
      <p:sp>
        <p:nvSpPr>
          <p:cNvPr id="147" name="Text 139"/>
          <p:cNvSpPr txBox="1"/>
          <p:nvPr/>
        </p:nvSpPr>
        <p:spPr>
          <a:xfrm>
            <a:off x="15777972" y="25008840"/>
            <a:ext cx="13354812" cy="594360"/>
          </a:xfrm>
          <a:prstGeom prst="rect">
            <a:avLst/>
          </a:prstGeom>
          <a:noFill/>
          <a:ln/>
        </p:spPr>
        <p:txBody>
          <a:bodyPr wrap="square" lIns="0" tIns="0" rIns="0" bIns="0" rtlCol="0" anchor="t"/>
          <a:lstStyle/>
          <a:p>
            <a:pPr indent="0" marL="0">
              <a:lnSpc>
                <a:spcPct val="125000"/>
              </a:lnSpc>
              <a:buNone/>
            </a:pPr>
            <a:r>
              <a:rPr lang="en-US" sz="2100" dirty="0">
                <a:solidFill>
                  <a:srgbClr val="5A6270"/>
                </a:solidFill>
              </a:rPr>
              <a:t>同じ模型・同じハンドピース遮蔽で Anchor Switching を ON/OFF（2026-10-02、模型は静止、1〜2 分ずつ）</a:t>
            </a:r>
            <a:endParaRPr lang="en-US" sz="2100" dirty="0"/>
          </a:p>
        </p:txBody>
      </p:sp>
      <p:graphicFrame>
        <p:nvGraphicFramePr>
          <p:cNvPr id="148" name="Chart 0" descr=""/>
          <p:cNvGraphicFramePr/>
          <p:nvPr/>
        </p:nvGraphicFramePr>
        <p:xfrm>
          <a:off x="15777972" y="25694640"/>
          <a:ext cx="6949440" cy="3108960"/>
        </p:xfrm>
        <a:graphic xmlns:a="http://schemas.openxmlformats.org/drawingml/2006/main">
          <a:graphicData uri="http://schemas.openxmlformats.org/drawingml/2006/chart">
            <c:chart xmlns:c="http://schemas.openxmlformats.org/drawingml/2006/chart" r:id="rId7"/>
          </a:graphicData>
        </a:graphic>
      </p:graphicFrame>
      <p:graphicFrame>
        <p:nvGraphicFramePr>
          <p:cNvPr id="149" name="Chart 1" descr=""/>
          <p:cNvGraphicFramePr/>
          <p:nvPr/>
        </p:nvGraphicFramePr>
        <p:xfrm>
          <a:off x="15777972" y="28895040"/>
          <a:ext cx="6949440" cy="3108960"/>
        </p:xfrm>
        <a:graphic xmlns:a="http://schemas.openxmlformats.org/drawingml/2006/main">
          <a:graphicData uri="http://schemas.openxmlformats.org/drawingml/2006/chart">
            <c:chart xmlns:c="http://schemas.openxmlformats.org/drawingml/2006/chart" r:id="rId8"/>
          </a:graphicData>
        </a:graphic>
      </p:graphicFrame>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3184612" y="25694640"/>
          <a:ext cx="5948172" cy="914400"/>
        </p:xfrm>
        <a:graphic>
          <a:graphicData uri="http://schemas.openxmlformats.org/drawingml/2006/table">
            <a:tbl>
              <a:tblPr/>
              <a:tblGrid>
                <a:gridCol w="3204972"/>
                <a:gridCol w="1371600"/>
                <a:gridCol w="1371600"/>
              </a:tblGrid>
              <a:tr h="777240">
                <a:tc>
                  <a:txBody>
                    <a:bodyPr/>
                    <a:lstStyle/>
                    <a:p>
                      <a:pPr algn="l" indent="0" marL="0">
                        <a:buNone/>
                      </a:pPr>
                      <a:r>
                        <a:rPr lang="en-US" sz="1900" b="1" dirty="0">
                          <a:solidFill>
                            <a:srgbClr val="FFFFFF"/>
                          </a:solidFill>
                          <a:latin typeface="BIZ UDPGothic" pitchFamily="34" charset="0"/>
                          <a:ea typeface="BIZ UDPGothic" pitchFamily="34" charset="-122"/>
                          <a:cs typeface="BIZ UDPGothic" pitchFamily="34" charset="-120"/>
                        </a:rPr>
                        <a:t>項目</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14213D"/>
                    </a:solidFill>
                  </a:tcPr>
                </a:tc>
                <a:tc>
                  <a:txBody>
                    <a:bodyPr/>
                    <a:lstStyle/>
                    <a:p>
                      <a:pPr algn="r" indent="0" marL="0">
                        <a:buNone/>
                      </a:pPr>
                      <a:r>
                        <a:rPr lang="en-US" sz="1900" b="1" dirty="0">
                          <a:solidFill>
                            <a:srgbClr val="FFFFFF"/>
                          </a:solidFill>
                          <a:latin typeface="BIZ UDPGothic" pitchFamily="34" charset="0"/>
                          <a:ea typeface="BIZ UDPGothic" pitchFamily="34" charset="-122"/>
                          <a:cs typeface="BIZ UDPGothic" pitchFamily="34" charset="-120"/>
                        </a:rPr>
                        <a:t>なし</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14213D"/>
                    </a:solidFill>
                  </a:tcPr>
                </a:tc>
                <a:tc>
                  <a:txBody>
                    <a:bodyPr/>
                    <a:lstStyle/>
                    <a:p>
                      <a:pPr algn="r" indent="0" marL="0">
                        <a:buNone/>
                      </a:pPr>
                      <a:r>
                        <a:rPr lang="en-US" sz="1900" b="1" dirty="0">
                          <a:solidFill>
                            <a:srgbClr val="FFFFFF"/>
                          </a:solidFill>
                          <a:latin typeface="BIZ UDPGothic" pitchFamily="34" charset="0"/>
                          <a:ea typeface="BIZ UDPGothic" pitchFamily="34" charset="-122"/>
                          <a:cs typeface="BIZ UDPGothic" pitchFamily="34" charset="-120"/>
                        </a:rPr>
                        <a:t>あり</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14213D"/>
                    </a:solidFill>
                  </a:tcPr>
                </a:tc>
              </a:tr>
              <a:tr h="777240">
                <a:tc>
                  <a:txBody>
                    <a:bodyPr/>
                    <a:lstStyle/>
                    <a:p>
                      <a:pPr indent="0" marL="0">
                        <a:buNone/>
                      </a:pPr>
                      <a:r>
                        <a:rPr lang="en-US" sz="1900" dirty="0">
                          <a:solidFill>
                            <a:srgbClr val="14213D"/>
                          </a:solidFill>
                          <a:latin typeface="BIZ UDPGothic" pitchFamily="34" charset="0"/>
                          <a:ea typeface="BIZ UDPGothic" pitchFamily="34" charset="-122"/>
                          <a:cs typeface="BIZ UDPGothic" pitchFamily="34" charset="-120"/>
                        </a:rPr>
                        <a:t>遮蔽の強さ（全体のスコアが閾値未満のフレーム）</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14213D"/>
                          </a:solidFill>
                          <a:latin typeface="BIZ UDPGothic" pitchFamily="34" charset="0"/>
                          <a:ea typeface="BIZ UDPGothic" pitchFamily="34" charset="-122"/>
                          <a:cs typeface="BIZ UDPGothic" pitchFamily="34" charset="-120"/>
                        </a:rPr>
                        <a:t>22%</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14213D"/>
                          </a:solidFill>
                          <a:latin typeface="BIZ UDPGothic" pitchFamily="34" charset="0"/>
                          <a:ea typeface="BIZ UDPGothic" pitchFamily="34" charset="-122"/>
                          <a:cs typeface="BIZ UDPGothic" pitchFamily="34" charset="-120"/>
                        </a:rPr>
                        <a:t>21%</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r>
              <a:tr h="777240">
                <a:tc>
                  <a:txBody>
                    <a:bodyPr/>
                    <a:lstStyle/>
                    <a:p>
                      <a:pPr indent="0" marL="0">
                        <a:buNone/>
                      </a:pPr>
                      <a:r>
                        <a:rPr lang="en-US" sz="1900" dirty="0">
                          <a:solidFill>
                            <a:srgbClr val="14213D"/>
                          </a:solidFill>
                          <a:latin typeface="BIZ UDPGothic" pitchFamily="34" charset="0"/>
                          <a:ea typeface="BIZ UDPGothic" pitchFamily="34" charset="-122"/>
                          <a:cs typeface="BIZ UDPGothic" pitchFamily="34" charset="-120"/>
                        </a:rPr>
                        <a:t>姿勢を出せたフレーム</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14213D"/>
                          </a:solidFill>
                          <a:latin typeface="BIZ UDPGothic" pitchFamily="34" charset="0"/>
                          <a:ea typeface="BIZ UDPGothic" pitchFamily="34" charset="-122"/>
                          <a:cs typeface="BIZ UDPGothic" pitchFamily="34" charset="-120"/>
                        </a:rPr>
                        <a:t>94%</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14213D"/>
                          </a:solidFill>
                          <a:latin typeface="BIZ UDPGothic" pitchFamily="34" charset="0"/>
                          <a:ea typeface="BIZ UDPGothic" pitchFamily="34" charset="-122"/>
                          <a:cs typeface="BIZ UDPGothic" pitchFamily="34" charset="-120"/>
                        </a:rPr>
                        <a:t>99.6%</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r>
              <a:tr h="777240">
                <a:tc>
                  <a:txBody>
                    <a:bodyPr/>
                    <a:lstStyle/>
                    <a:p>
                      <a:pPr indent="0" marL="0">
                        <a:buNone/>
                      </a:pPr>
                      <a:r>
                        <a:rPr lang="en-US" sz="1900" dirty="0">
                          <a:solidFill>
                            <a:srgbClr val="14213D"/>
                          </a:solidFill>
                          <a:latin typeface="BIZ UDPGothic" pitchFamily="34" charset="0"/>
                          <a:ea typeface="BIZ UDPGothic" pitchFamily="34" charset="-122"/>
                          <a:cs typeface="BIZ UDPGothic" pitchFamily="34" charset="-120"/>
                        </a:rPr>
                        <a:t>遮蔽中に歯群が姿勢を肩代わり</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14213D"/>
                          </a:solidFill>
                          <a:latin typeface="BIZ UDPGothic" pitchFamily="34" charset="0"/>
                          <a:ea typeface="BIZ UDPGothic" pitchFamily="34" charset="-122"/>
                          <a:cs typeface="BIZ UDPGothic" pitchFamily="34" charset="-120"/>
                        </a:rPr>
                        <a:t>なし</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14213D"/>
                          </a:solidFill>
                          <a:latin typeface="BIZ UDPGothic" pitchFamily="34" charset="0"/>
                          <a:ea typeface="BIZ UDPGothic" pitchFamily="34" charset="-122"/>
                          <a:cs typeface="BIZ UDPGothic" pitchFamily="34" charset="-120"/>
                        </a:rPr>
                        <a:t>82%</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r>
              <a:tr h="777240">
                <a:tc>
                  <a:txBody>
                    <a:bodyPr/>
                    <a:lstStyle/>
                    <a:p>
                      <a:pPr indent="0" marL="0">
                        <a:buNone/>
                      </a:pPr>
                      <a:r>
                        <a:rPr lang="en-US" sz="1900" dirty="0">
                          <a:solidFill>
                            <a:srgbClr val="14213D"/>
                          </a:solidFill>
                          <a:latin typeface="BIZ UDPGothic" pitchFamily="34" charset="0"/>
                          <a:ea typeface="BIZ UDPGothic" pitchFamily="34" charset="-122"/>
                          <a:cs typeface="BIZ UDPGothic" pitchFamily="34" charset="-120"/>
                        </a:rPr>
                        <a:t>基準から 15 mm 以上ずれたフレーム</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14213D"/>
                          </a:solidFill>
                          <a:latin typeface="BIZ UDPGothic" pitchFamily="34" charset="0"/>
                          <a:ea typeface="BIZ UDPGothic" pitchFamily="34" charset="-122"/>
                          <a:cs typeface="BIZ UDPGothic" pitchFamily="34" charset="-120"/>
                        </a:rPr>
                        <a:t>0%</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14213D"/>
                          </a:solidFill>
                          <a:latin typeface="BIZ UDPGothic" pitchFamily="34" charset="0"/>
                          <a:ea typeface="BIZ UDPGothic" pitchFamily="34" charset="-122"/>
                          <a:cs typeface="BIZ UDPGothic" pitchFamily="34" charset="-120"/>
                        </a:rPr>
                        <a:t>5.7%</a:t>
                      </a:r>
                      <a:endParaRPr lang="en-US" sz="1900" dirty="0">
                        <a:latin typeface="BIZ UDPGothic" charset="0"/>
                        <a:ea typeface="BIZ UDPGothic" charset="0"/>
                        <a:cs typeface="BIZ UDPGothic" charset="0"/>
                      </a:endParaRPr>
                    </a:p>
                  </a:txBody>
                  <a:tcPr marL="54864" marR="54864" marT="54864" marB="54864"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r>
            </a:tbl>
          </a:graphicData>
        </a:graphic>
      </p:graphicFrame>
      <p:sp>
        <p:nvSpPr>
          <p:cNvPr id="151" name="Text 140"/>
          <p:cNvSpPr txBox="1"/>
          <p:nvPr/>
        </p:nvSpPr>
        <p:spPr>
          <a:xfrm>
            <a:off x="23184612" y="29809440"/>
            <a:ext cx="5948172" cy="2011680"/>
          </a:xfrm>
          <a:prstGeom prst="rect">
            <a:avLst/>
          </a:prstGeom>
          <a:noFill/>
          <a:ln/>
        </p:spPr>
        <p:txBody>
          <a:bodyPr wrap="square" lIns="0" tIns="0" rIns="0" bIns="0" rtlCol="0" anchor="t"/>
          <a:lstStyle/>
          <a:p>
            <a:pPr marL="342900" indent="-342900">
              <a:lnSpc>
                <a:spcPct val="125000"/>
              </a:lnSpc>
              <a:spcAft>
                <a:spcPts val="800"/>
              </a:spcAft>
              <a:buSzPct val="100000"/>
              <a:buChar char="•"/>
            </a:pPr>
            <a:r>
              <a:rPr lang="en-US" sz="1800" dirty="0">
                <a:solidFill>
                  <a:srgbClr val="14213D"/>
                </a:solidFill>
              </a:rPr>
              <a:t>止まったガイドは正確なまま。動き続けるガイドは肩代わり中に 5〜10 mm 程度精度が落ちる</a:t>
            </a:r>
            <a:endParaRPr lang="en-US" sz="1800" dirty="0"/>
          </a:p>
          <a:p>
            <a:pPr marL="342900" indent="-342900">
              <a:lnSpc>
                <a:spcPct val="125000"/>
              </a:lnSpc>
              <a:spcAft>
                <a:spcPts val="800"/>
              </a:spcAft>
              <a:buSzPct val="100000"/>
              <a:buChar char="•"/>
            </a:pPr>
            <a:r>
              <a:rPr lang="en-US" sz="1800" dirty="0">
                <a:solidFill>
                  <a:srgbClr val="14213D"/>
                </a:solidFill>
              </a:rPr>
              <a:t>基準は台座の ArUco 板（追跡器の姿勢から登録）。整合性の確認であり絶対精度ではない</a:t>
            </a:r>
            <a:endParaRPr lang="en-US" sz="1800" dirty="0"/>
          </a:p>
        </p:txBody>
      </p:sp>
      <p:sp>
        <p:nvSpPr>
          <p:cNvPr id="152" name="Shape 141"/>
          <p:cNvSpPr/>
          <p:nvPr/>
        </p:nvSpPr>
        <p:spPr>
          <a:xfrm>
            <a:off x="15412212" y="32735520"/>
            <a:ext cx="14086332" cy="8321040"/>
          </a:xfrm>
          <a:prstGeom prst="rect">
            <a:avLst/>
          </a:prstGeom>
          <a:solidFill>
            <a:srgbClr val="FFFFFF"/>
          </a:solidFill>
          <a:ln w="19050">
            <a:solidFill>
              <a:srgbClr val="C9CED8"/>
            </a:solidFill>
            <a:prstDash val="solid"/>
          </a:ln>
        </p:spPr>
      </p:sp>
      <p:sp>
        <p:nvSpPr>
          <p:cNvPr id="153" name="Shape 142"/>
          <p:cNvSpPr/>
          <p:nvPr/>
        </p:nvSpPr>
        <p:spPr>
          <a:xfrm>
            <a:off x="15412212" y="32735520"/>
            <a:ext cx="14086332" cy="960120"/>
          </a:xfrm>
          <a:prstGeom prst="rect">
            <a:avLst/>
          </a:prstGeom>
          <a:solidFill>
            <a:srgbClr val="14213D"/>
          </a:solidFill>
          <a:ln w="19050">
            <a:solidFill>
              <a:srgbClr val="14213D"/>
            </a:solidFill>
            <a:prstDash val="solid"/>
          </a:ln>
        </p:spPr>
      </p:sp>
      <p:sp>
        <p:nvSpPr>
          <p:cNvPr id="154" name="Text 143"/>
          <p:cNvSpPr txBox="1"/>
          <p:nvPr/>
        </p:nvSpPr>
        <p:spPr>
          <a:xfrm>
            <a:off x="15732252" y="32735520"/>
            <a:ext cx="1188720" cy="960120"/>
          </a:xfrm>
          <a:prstGeom prst="rect">
            <a:avLst/>
          </a:prstGeom>
          <a:noFill/>
          <a:ln/>
        </p:spPr>
        <p:txBody>
          <a:bodyPr wrap="square" lIns="0" tIns="0" rIns="0" bIns="0" rtlCol="0" anchor="ctr"/>
          <a:lstStyle/>
          <a:p>
            <a:pPr indent="0" marL="0">
              <a:lnSpc>
                <a:spcPct val="125000"/>
              </a:lnSpc>
              <a:buNone/>
            </a:pPr>
            <a:r>
              <a:rPr lang="en-US" sz="4000" b="1" dirty="0">
                <a:solidFill>
                  <a:srgbClr val="FFFFFF"/>
                </a:solidFill>
                <a:latin typeface="Calibri" pitchFamily="34" charset="0"/>
                <a:ea typeface="Calibri" pitchFamily="34" charset="-122"/>
                <a:cs typeface="Calibri" pitchFamily="34" charset="-120"/>
              </a:rPr>
              <a:t>6.</a:t>
            </a:r>
            <a:endParaRPr lang="en-US" sz="4000" dirty="0"/>
          </a:p>
        </p:txBody>
      </p:sp>
      <p:sp>
        <p:nvSpPr>
          <p:cNvPr id="155" name="Text 144"/>
          <p:cNvSpPr txBox="1"/>
          <p:nvPr/>
        </p:nvSpPr>
        <p:spPr>
          <a:xfrm>
            <a:off x="16966692" y="32735520"/>
            <a:ext cx="12257532" cy="960120"/>
          </a:xfrm>
          <a:prstGeom prst="rect">
            <a:avLst/>
          </a:prstGeom>
          <a:noFill/>
          <a:ln/>
        </p:spPr>
        <p:txBody>
          <a:bodyPr wrap="square" lIns="0" tIns="0" rIns="0" bIns="0" rtlCol="0" anchor="ctr"/>
          <a:lstStyle/>
          <a:p>
            <a:pPr indent="0" marL="0">
              <a:lnSpc>
                <a:spcPct val="125000"/>
              </a:lnSpc>
              <a:buNone/>
            </a:pPr>
            <a:r>
              <a:rPr lang="en-US" sz="3800" b="1" dirty="0">
                <a:solidFill>
                  <a:srgbClr val="FFFFFF"/>
                </a:solidFill>
              </a:rPr>
              <a:t>今後の方針</a:t>
            </a:r>
            <a:endParaRPr lang="en-US" sz="3800" dirty="0"/>
          </a:p>
        </p:txBody>
      </p:sp>
      <p:sp>
        <p:nvSpPr>
          <p:cNvPr id="156" name="Shape 145"/>
          <p:cNvSpPr/>
          <p:nvPr/>
        </p:nvSpPr>
        <p:spPr>
          <a:xfrm>
            <a:off x="15777972" y="33924240"/>
            <a:ext cx="4146804" cy="2834640"/>
          </a:xfrm>
          <a:prstGeom prst="roundRect">
            <a:avLst>
              <a:gd name="adj" fmla="val 3871"/>
            </a:avLst>
          </a:prstGeom>
          <a:solidFill>
            <a:srgbClr val="EEF1F6"/>
          </a:solidFill>
          <a:ln w="19050">
            <a:solidFill>
              <a:srgbClr val="EEF1F6"/>
            </a:solidFill>
            <a:prstDash val="solid"/>
          </a:ln>
        </p:spPr>
      </p:sp>
      <p:sp>
        <p:nvSpPr>
          <p:cNvPr id="157" name="Text 146"/>
          <p:cNvSpPr txBox="1"/>
          <p:nvPr/>
        </p:nvSpPr>
        <p:spPr>
          <a:xfrm>
            <a:off x="16006572" y="34088832"/>
            <a:ext cx="3689604" cy="1190549"/>
          </a:xfrm>
          <a:prstGeom prst="rect">
            <a:avLst/>
          </a:prstGeom>
          <a:noFill/>
          <a:ln/>
        </p:spPr>
        <p:txBody>
          <a:bodyPr wrap="square" lIns="0" tIns="0" rIns="0" bIns="0" rtlCol="0" anchor="t"/>
          <a:lstStyle/>
          <a:p>
            <a:pPr indent="0" marL="0">
              <a:lnSpc>
                <a:spcPct val="115000"/>
              </a:lnSpc>
              <a:buNone/>
            </a:pPr>
            <a:r>
              <a:rPr lang="en-US" sz="2500" b="1" dirty="0">
                <a:solidFill>
                  <a:srgbClr val="14213D"/>
                </a:solidFill>
              </a:rPr>
              <a:t>歯群の統合</a:t>
            </a:r>
            <a:endParaRPr lang="en-US" sz="2500" dirty="0"/>
          </a:p>
        </p:txBody>
      </p:sp>
      <p:sp>
        <p:nvSpPr>
          <p:cNvPr id="158" name="Text 147"/>
          <p:cNvSpPr txBox="1"/>
          <p:nvPr/>
        </p:nvSpPr>
        <p:spPr>
          <a:xfrm>
            <a:off x="16006572" y="35284867"/>
            <a:ext cx="3689604" cy="141732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見えている 2 つの歯群を 1 つの剛体として同時に使い、小さな歯群で弱い回転推定を補う</a:t>
            </a:r>
            <a:endParaRPr lang="en-US" sz="2100" dirty="0"/>
          </a:p>
        </p:txBody>
      </p:sp>
      <p:sp>
        <p:nvSpPr>
          <p:cNvPr id="159" name="Shape 148"/>
          <p:cNvSpPr/>
          <p:nvPr/>
        </p:nvSpPr>
        <p:spPr>
          <a:xfrm>
            <a:off x="20381976" y="33924240"/>
            <a:ext cx="4146804" cy="2834640"/>
          </a:xfrm>
          <a:prstGeom prst="roundRect">
            <a:avLst>
              <a:gd name="adj" fmla="val 3871"/>
            </a:avLst>
          </a:prstGeom>
          <a:solidFill>
            <a:srgbClr val="EEF1F6"/>
          </a:solidFill>
          <a:ln w="19050">
            <a:solidFill>
              <a:srgbClr val="EEF1F6"/>
            </a:solidFill>
            <a:prstDash val="solid"/>
          </a:ln>
        </p:spPr>
      </p:sp>
      <p:sp>
        <p:nvSpPr>
          <p:cNvPr id="160" name="Text 149"/>
          <p:cNvSpPr txBox="1"/>
          <p:nvPr/>
        </p:nvSpPr>
        <p:spPr>
          <a:xfrm>
            <a:off x="20610576" y="34088832"/>
            <a:ext cx="3689604" cy="1190549"/>
          </a:xfrm>
          <a:prstGeom prst="rect">
            <a:avLst/>
          </a:prstGeom>
          <a:noFill/>
          <a:ln/>
        </p:spPr>
        <p:txBody>
          <a:bodyPr wrap="square" lIns="0" tIns="0" rIns="0" bIns="0" rtlCol="0" anchor="t"/>
          <a:lstStyle/>
          <a:p>
            <a:pPr indent="0" marL="0">
              <a:lnSpc>
                <a:spcPct val="115000"/>
              </a:lnSpc>
              <a:buNone/>
            </a:pPr>
            <a:r>
              <a:rPr lang="en-US" sz="2500" b="1" dirty="0">
                <a:solidFill>
                  <a:srgbClr val="14213D"/>
                </a:solidFill>
              </a:rPr>
              <a:t>ハンドピースの追跡</a:t>
            </a:r>
            <a:endParaRPr lang="en-US" sz="2500" dirty="0"/>
          </a:p>
        </p:txBody>
      </p:sp>
      <p:sp>
        <p:nvSpPr>
          <p:cNvPr id="161" name="Text 150"/>
          <p:cNvSpPr txBox="1"/>
          <p:nvPr/>
        </p:nvSpPr>
        <p:spPr>
          <a:xfrm>
            <a:off x="20610576" y="35284867"/>
            <a:ext cx="3689604" cy="141732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同じ枠組みでハンドピースも追跡し、計画した埋入軸と実際のドリル軸を同時に表示</a:t>
            </a:r>
            <a:endParaRPr lang="en-US" sz="2100" dirty="0"/>
          </a:p>
        </p:txBody>
      </p:sp>
      <p:sp>
        <p:nvSpPr>
          <p:cNvPr id="162" name="Shape 151"/>
          <p:cNvSpPr/>
          <p:nvPr/>
        </p:nvSpPr>
        <p:spPr>
          <a:xfrm>
            <a:off x="24985980" y="33924240"/>
            <a:ext cx="4146804" cy="2834640"/>
          </a:xfrm>
          <a:prstGeom prst="roundRect">
            <a:avLst>
              <a:gd name="adj" fmla="val 3871"/>
            </a:avLst>
          </a:prstGeom>
          <a:solidFill>
            <a:srgbClr val="EEF1F6"/>
          </a:solidFill>
          <a:ln w="19050">
            <a:solidFill>
              <a:srgbClr val="EEF1F6"/>
            </a:solidFill>
            <a:prstDash val="solid"/>
          </a:ln>
        </p:spPr>
      </p:sp>
      <p:sp>
        <p:nvSpPr>
          <p:cNvPr id="163" name="Text 152"/>
          <p:cNvSpPr txBox="1"/>
          <p:nvPr/>
        </p:nvSpPr>
        <p:spPr>
          <a:xfrm>
            <a:off x="25214580" y="34088832"/>
            <a:ext cx="3689604" cy="1190549"/>
          </a:xfrm>
          <a:prstGeom prst="rect">
            <a:avLst/>
          </a:prstGeom>
          <a:noFill/>
          <a:ln/>
        </p:spPr>
        <p:txBody>
          <a:bodyPr wrap="square" lIns="0" tIns="0" rIns="0" bIns="0" rtlCol="0" anchor="t"/>
          <a:lstStyle/>
          <a:p>
            <a:pPr indent="0" marL="0">
              <a:lnSpc>
                <a:spcPct val="115000"/>
              </a:lnSpc>
              <a:buNone/>
            </a:pPr>
            <a:r>
              <a:rPr lang="en-US" sz="2500" b="1" dirty="0">
                <a:solidFill>
                  <a:srgbClr val="14213D"/>
                </a:solidFill>
              </a:rPr>
              <a:t>臨床精度へ</a:t>
            </a:r>
            <a:endParaRPr lang="en-US" sz="2500" dirty="0"/>
          </a:p>
        </p:txBody>
      </p:sp>
      <p:sp>
        <p:nvSpPr>
          <p:cNvPr id="164" name="Text 153"/>
          <p:cNvSpPr txBox="1"/>
          <p:nvPr/>
        </p:nvSpPr>
        <p:spPr>
          <a:xfrm>
            <a:off x="25214580" y="35284867"/>
            <a:ext cx="3689604" cy="1417320"/>
          </a:xfrm>
          <a:prstGeom prst="rect">
            <a:avLst/>
          </a:prstGeom>
          <a:noFill/>
          <a:ln/>
        </p:spPr>
        <p:txBody>
          <a:bodyPr wrap="square" lIns="0" tIns="0" rIns="0" bIns="0" rtlCol="0" anchor="t"/>
          <a:lstStyle/>
          <a:p>
            <a:pPr indent="0" marL="0">
              <a:lnSpc>
                <a:spcPct val="120000"/>
              </a:lnSpc>
              <a:buNone/>
            </a:pPr>
            <a:r>
              <a:rPr lang="en-US" sz="2100" dirty="0">
                <a:solidFill>
                  <a:srgbClr val="14213D"/>
                </a:solidFill>
              </a:rPr>
              <a:t>現在は 720p 単眼で数 mm。多視点や深度カメラの併用で 0.5〜1 mm・2° の目標に近づける</a:t>
            </a:r>
            <a:endParaRPr lang="en-US" sz="2100" dirty="0"/>
          </a:p>
        </p:txBody>
      </p:sp>
      <p:sp>
        <p:nvSpPr>
          <p:cNvPr id="165" name="Shape 154"/>
          <p:cNvSpPr/>
          <p:nvPr/>
        </p:nvSpPr>
        <p:spPr>
          <a:xfrm>
            <a:off x="15777972" y="36987480"/>
            <a:ext cx="13354812" cy="658368"/>
          </a:xfrm>
          <a:prstGeom prst="roundRect">
            <a:avLst>
              <a:gd name="adj" fmla="val 11111"/>
            </a:avLst>
          </a:prstGeom>
          <a:solidFill>
            <a:srgbClr val="DCE3EE"/>
          </a:solidFill>
          <a:ln w="19050">
            <a:solidFill>
              <a:srgbClr val="DCE3EE"/>
            </a:solidFill>
            <a:prstDash val="solid"/>
          </a:ln>
        </p:spPr>
      </p:sp>
      <p:sp>
        <p:nvSpPr>
          <p:cNvPr id="166" name="Text 155"/>
          <p:cNvSpPr txBox="1"/>
          <p:nvPr/>
        </p:nvSpPr>
        <p:spPr>
          <a:xfrm>
            <a:off x="16052292" y="36987480"/>
            <a:ext cx="12806172" cy="658368"/>
          </a:xfrm>
          <a:prstGeom prst="rect">
            <a:avLst/>
          </a:prstGeom>
          <a:noFill/>
          <a:ln/>
        </p:spPr>
        <p:txBody>
          <a:bodyPr wrap="square" lIns="0" tIns="0" rIns="0" bIns="0" rtlCol="0" anchor="ctr"/>
          <a:lstStyle/>
          <a:p>
            <a:pPr indent="0" marL="0">
              <a:lnSpc>
                <a:spcPct val="125000"/>
              </a:lnSpc>
              <a:buNone/>
            </a:pPr>
            <a:r>
              <a:rPr lang="en-US" sz="2700" b="1" dirty="0">
                <a:solidFill>
                  <a:srgbClr val="14213D"/>
                </a:solidFill>
              </a:rPr>
              <a:t>先生方にうかがいたいこと</a:t>
            </a:r>
            <a:endParaRPr lang="en-US" sz="2700" dirty="0"/>
          </a:p>
        </p:txBody>
      </p:sp>
      <p:sp>
        <p:nvSpPr>
          <p:cNvPr id="167" name="Text 156"/>
          <p:cNvSpPr txBox="1"/>
          <p:nvPr/>
        </p:nvSpPr>
        <p:spPr>
          <a:xfrm>
            <a:off x="15777972" y="37810440"/>
            <a:ext cx="13354812" cy="2971800"/>
          </a:xfrm>
          <a:prstGeom prst="rect">
            <a:avLst/>
          </a:prstGeom>
          <a:noFill/>
          <a:ln/>
        </p:spPr>
        <p:txBody>
          <a:bodyPr wrap="square" lIns="0" tIns="0" rIns="0" bIns="0" rtlCol="0" anchor="t"/>
          <a:lstStyle/>
          <a:p>
            <a:pPr marL="342900" indent="-342900">
              <a:lnSpc>
                <a:spcPct val="125000"/>
              </a:lnSpc>
              <a:spcAft>
                <a:spcPts val="800"/>
              </a:spcAft>
              <a:buSzPct val="100000"/>
              <a:buChar char="•"/>
            </a:pPr>
            <a:r>
              <a:rPr lang="en-US" sz="2300" dirty="0">
                <a:solidFill>
                  <a:srgbClr val="14213D"/>
                </a:solidFill>
              </a:rPr>
              <a:t>術中に歯列が隠れやすいのはどの部位・どの操作か</a:t>
            </a:r>
            <a:endParaRPr lang="en-US" sz="2300" dirty="0"/>
          </a:p>
          <a:p>
            <a:pPr marL="342900" indent="-342900">
              <a:lnSpc>
                <a:spcPct val="125000"/>
              </a:lnSpc>
              <a:spcAft>
                <a:spcPts val="800"/>
              </a:spcAft>
              <a:buSzPct val="100000"/>
              <a:buChar char="•"/>
            </a:pPr>
            <a:r>
              <a:rPr lang="en-US" sz="2300" dirty="0">
                <a:solidFill>
                  <a:srgbClr val="14213D"/>
                </a:solidFill>
              </a:rPr>
              <a:t>ガイドが止まるのと、数 mm ずれて動き続けるのとでは、どちらが困るか</a:t>
            </a:r>
            <a:endParaRPr lang="en-US" sz="2300" dirty="0"/>
          </a:p>
        </p:txBody>
      </p:sp>
      <p:sp>
        <p:nvSpPr>
          <p:cNvPr id="168" name="Text 157"/>
          <p:cNvSpPr txBox="1"/>
          <p:nvPr/>
        </p:nvSpPr>
        <p:spPr>
          <a:xfrm>
            <a:off x="777240" y="41285160"/>
            <a:ext cx="28721304" cy="1188720"/>
          </a:xfrm>
          <a:prstGeom prst="rect">
            <a:avLst/>
          </a:prstGeom>
          <a:noFill/>
          <a:ln/>
        </p:spPr>
        <p:txBody>
          <a:bodyPr wrap="square" lIns="0" tIns="0" rIns="0" bIns="0" rtlCol="0" anchor="t"/>
          <a:lstStyle/>
          <a:p>
            <a:pPr indent="0" marL="0">
              <a:lnSpc>
                <a:spcPct val="120000"/>
              </a:lnSpc>
              <a:buNone/>
            </a:pPr>
            <a:r>
              <a:rPr lang="en-US" sz="1600" dirty="0">
                <a:solidFill>
                  <a:srgbClr val="14213D"/>
                </a:solidFill>
                <a:latin typeface="Calibri" pitchFamily="34" charset="0"/>
                <a:ea typeface="Calibri" pitchFamily="34" charset="-122"/>
                <a:cs typeface="Calibri" pitchFamily="34" charset="-120"/>
              </a:rPr>
              <a:t>[1] R. Kawasaki, A. Takebayashi, H. Yamamoto, S. Kasugai, and T. Kano, “Development of an AR-Based Dental Implant Treatment Support System Using Anchor Switching,” GCCE 2026 (Demonstration).　[2] R. Kawasaki, T. Kano, A. Takebayashi, and H. Yamamoto, “Development of an AR-based dental implant treatment support system: Improvement of tracking accuracy using attachments,” 2025 IEICE General Conference, Junior and Student Poster Session, p. 158, 2025.　[3] Y. Fukuda, T. Kano, A. Takebayashi, and H. Yamamoto, “Development and improvement of a dental implant surgical guide using augmented reality technology,” 2024 IEICE General Conference, Junior and Student Poster Session, p. 99, 2024.</a:t>
            </a:r>
            <a:endParaRPr lang="en-US" sz="1600" dirty="0"/>
          </a:p>
        </p:txBody>
      </p:sp>
    </p:spTree>
  </p:cSld>
  <p:clrMapOvr>
    <a:masterClrMapping/>
  </p:clrMapOvr>
</p:sld>
</file>

<file path=ppt/theme/theme1.xml><?xml version="1.0" encoding="utf-8"?>
<a:theme xmlns:a="http://schemas.openxmlformats.org/drawingml/2006/main" name="LabPoster">
  <a:themeElements>
    <a:clrScheme name="LabPoster">
      <a:dk1>
        <a:srgbClr val="1A1A1A"/>
      </a:dk1>
      <a:lt1>
        <a:srgbClr val="FFFFFF"/>
      </a:lt1>
      <a:dk2>
        <a:srgbClr val="3C3C3C"/>
      </a:dk2>
      <a:lt2>
        <a:srgbClr val="EFEFEF"/>
      </a:lt2>
      <a:accent1>
        <a:srgbClr val="D6453D"/>
      </a:accent1>
      <a:accent2>
        <a:srgbClr val="3DBB5A"/>
      </a:accent2>
      <a:accent3>
        <a:srgbClr val="E8C547"/>
      </a:accent3>
      <a:accent4>
        <a:srgbClr val="1F8A5B"/>
      </a:accent4>
      <a:accent5>
        <a:srgbClr val="8A8F99"/>
      </a:accent5>
      <a:accent6>
        <a:srgbClr val="2F6FB7"/>
      </a:accent6>
      <a:hlink>
        <a:srgbClr val="2F6FB7"/>
      </a:hlink>
      <a:folHlink>
        <a:srgbClr val="8A8F99"/>
      </a:folHlink>
    </a:clrScheme>
    <a:fontScheme name="LabPoster">
      <a:majorFont>
        <a:latin typeface="BIZ UDP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Anchor Switching を用いた遮蔽に強い AR インプラント治療支援システム</dc:title>
  <dc:subject>PptxGenJS Presentation</dc:subject>
  <dc:creator>Ryota Kawasaki</dc:creator>
  <cp:lastModifiedBy>Ryota Kawasaki</cp:lastModifiedBy>
  <cp:revision>1</cp:revision>
  <dcterms:created xsi:type="dcterms:W3CDTF">2026-10-02T15:05:08Z</dcterms:created>
  <dcterms:modified xsi:type="dcterms:W3CDTF">2026-10-02T15:05:08Z</dcterms:modified>
</cp:coreProperties>
</file>