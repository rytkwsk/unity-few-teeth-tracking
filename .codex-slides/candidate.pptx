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300447fb84627" /><Relationship Type="http://schemas.openxmlformats.org/officeDocument/2006/relationships/extended-properties" Target="/docProps/app.xml" Id="Re8bbbbeacaeb44eb" /><Relationship Type="http://schemas.openxmlformats.org/officeDocument/2006/relationships/officeDocument" Target="/ppt/presentation.xml" Id="R102eb0ea79b34283" /></Relationships>
</file>

<file path=ppt/presentation.xml><?xml version="1.0" encoding="utf-8"?>
<p:presentation xmlns:p="http://schemas.openxmlformats.org/presentationml/2006/main">
  <p:sldMasterIdLst>
    <p:sldMasterId xmlns:r="http://schemas.openxmlformats.org/officeDocument/2006/relationships" id="2147483648" r:id="R01330ec1a4264fb9"/>
  </p:sldMasterIdLst>
  <p:notesMasterIdLst>
    <p:notesMasterId xmlns:r="http://schemas.openxmlformats.org/officeDocument/2006/relationships" r:id="R22f055019ee14725"/>
  </p:notesMasterIdLst>
  <p:sldIdLst>
    <p:sldId xmlns:r="http://schemas.openxmlformats.org/officeDocument/2006/relationships" id="256" r:id="Re45ef68c18f64be4"/>
    <p:sldId xmlns:r="http://schemas.openxmlformats.org/officeDocument/2006/relationships" id="257" r:id="R1bc3d91fe2c346f1"/>
    <p:sldId xmlns:r="http://schemas.openxmlformats.org/officeDocument/2006/relationships" id="258" r:id="R1b6e4f6c510446c9"/>
    <p:sldId xmlns:r="http://schemas.openxmlformats.org/officeDocument/2006/relationships" id="259" r:id="R1ecd15bb8ddf46fb"/>
    <p:sldId xmlns:r="http://schemas.openxmlformats.org/officeDocument/2006/relationships" id="260" r:id="Rc92e711fc39244af"/>
    <p:sldId xmlns:r="http://schemas.openxmlformats.org/officeDocument/2006/relationships" id="261" r:id="R196011f882444127"/>
    <p:sldId xmlns:r="http://schemas.openxmlformats.org/officeDocument/2006/relationships" id="262" r:id="Rbf551e53fe7c4818"/>
    <p:sldId xmlns:r="http://schemas.openxmlformats.org/officeDocument/2006/relationships" id="263" r:id="R9ef007784ae540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f773f141894434" /><Relationship Type="http://schemas.openxmlformats.org/officeDocument/2006/relationships/slideMaster" Target="/ppt/slideMasters/slideMaster1.xml" Id="R01330ec1a4264fb9" /><Relationship Type="http://schemas.openxmlformats.org/officeDocument/2006/relationships/notesMaster" Target="/ppt/notesMasters/notesMaster1.xml" Id="R22f055019ee14725" /><Relationship Type="http://schemas.openxmlformats.org/officeDocument/2006/relationships/presProps" Target="/ppt/presProps.xml" Id="R4005606c7ca7443c" /><Relationship Type="http://schemas.openxmlformats.org/officeDocument/2006/relationships/tableStyles" Target="/ppt/tableStyles.xml" Id="Rad01fa3042f54010" /><Relationship Type="http://schemas.openxmlformats.org/officeDocument/2006/relationships/slide" Target="/ppt/slides/slide1.xml" Id="Re45ef68c18f64be4" /><Relationship Type="http://schemas.openxmlformats.org/officeDocument/2006/relationships/slide" Target="/ppt/slides/slide2.xml" Id="R1bc3d91fe2c346f1" /><Relationship Type="http://schemas.openxmlformats.org/officeDocument/2006/relationships/slide" Target="/ppt/slides/slide3.xml" Id="R1b6e4f6c510446c9" /><Relationship Type="http://schemas.openxmlformats.org/officeDocument/2006/relationships/slide" Target="/ppt/slides/slide4.xml" Id="R1ecd15bb8ddf46fb" /><Relationship Type="http://schemas.openxmlformats.org/officeDocument/2006/relationships/slide" Target="/ppt/slides/slide5.xml" Id="Rc92e711fc39244af" /><Relationship Type="http://schemas.openxmlformats.org/officeDocument/2006/relationships/slide" Target="/ppt/slides/slide6.xml" Id="R196011f882444127" /><Relationship Type="http://schemas.openxmlformats.org/officeDocument/2006/relationships/slide" Target="/ppt/slides/slide7.xml" Id="Rbf551e53fe7c4818" /><Relationship Type="http://schemas.openxmlformats.org/officeDocument/2006/relationships/slide" Target="/ppt/slides/slide8.xml" Id="R9ef007784ae540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9445b07ab5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8b433dcd6245d6" /><Relationship Type="http://schemas.openxmlformats.org/officeDocument/2006/relationships/notesMaster" Target="/ppt/notesMasters/notesMaster1.xml" Id="Rc15cc61e928541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6041256aed41be" /><Relationship Type="http://schemas.openxmlformats.org/officeDocument/2006/relationships/notesMaster" Target="/ppt/notesMasters/notesMaster1.xml" Id="R58f8d17f16284c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5465024074696" /><Relationship Type="http://schemas.openxmlformats.org/officeDocument/2006/relationships/notesMaster" Target="/ppt/notesMasters/notesMaster1.xml" Id="R377f8da4880942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4e60194ae945c5" /><Relationship Type="http://schemas.openxmlformats.org/officeDocument/2006/relationships/notesMaster" Target="/ppt/notesMasters/notesMaster1.xml" Id="R4110e0eeb6e242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28afe0238b4911" /><Relationship Type="http://schemas.openxmlformats.org/officeDocument/2006/relationships/notesMaster" Target="/ppt/notesMasters/notesMaster1.xml" Id="R8fdc9ee5c55d43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f098936705400d" /><Relationship Type="http://schemas.openxmlformats.org/officeDocument/2006/relationships/notesMaster" Target="/ppt/notesMasters/notesMaster1.xml" Id="Rc352b2e01b324b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9190949e3c4db7" /><Relationship Type="http://schemas.openxmlformats.org/officeDocument/2006/relationships/notesMaster" Target="/ppt/notesMasters/notesMaster1.xml" Id="R3d9a401803dd4b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5080f60b7941aa" /><Relationship Type="http://schemas.openxmlformats.org/officeDocument/2006/relationships/notesMaster" Target="/ppt/notesMasters/notesMaster1.xml" Id="R956b5b90dc26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(English): Today I will first summarize this month's implementation progress. Then I will practice the short explanation for the IEEE demonstration. The abstract PDF still needs to be checked, so any statement that depends on the submitted abstract should be confirmed before the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practice: The submitted abstract proposes Anchor Switching. It treats several dental arch models as independent tracking targets and transfers the pose from the most stable target to an output model. The goal is to maintain AR implant guidance when part of the cast is occluded. The submitted experiment used left and right segmented arch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practice: Since submission, the implementation has changed in four ways. We replaced the tracking backend with a Python implementation of M3T. We created smaller tooth-region models and a smooth combined arch. We corrected the physical model scale using an ArUco reference. We also updated the camera calibration and the Unity coordinate conversion for the 720p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 practice: I added a quality-based recovery strategy. A short degradation does not immediately trigger a global search. Instead, the system holds the last reliable pose while continuing to test the current image. If the low-quality state continues, it starts a guarded relock and later expands the search if necessary. We still need systematic measurements under the final demo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progress meeting: this is the central decision. The submitted contribution is dynamic anchor selection. The current default configuration prioritizes stability by using one combined rigid body. If the conference demonstration must visually show switching, set SINGLE_BODY_MODE to false and verify the four independent anchors. If the single-body mode is used, describe it as a post-submission implementation update and do not claim that A-D highlighting is actual switching.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target: 70 to 80 seconds. Stress these words: partial occlusion, Anchor Switching, since submission, implementation update, one rigid body. The sentence 'This is an implementation update rather than anchor switching' is important if SINGLE_BODY_MODE remains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multi-anchor mode is restored and verified before the conference, revise the current-mode statement. Otherwise keep this wording. Do not describe manual A-D highlighting as dynamic anchor switching. The abstract itself already limits the claim to certain partial occlusion conditions and states that anchor design still needs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pattern: one direct sentence, one technical detail if requested, then return to the live demonstration. Do not blur the distinction between Anchor Switching and single-body tracking. If asked about the abstract, say: The abstract describes the submitted multi-anchor method. The stable configuration shown here is a post-submission implementation update that uses one combined rigid 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501dc357b49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c6c5cbfe854962" /><Relationship Type="http://schemas.openxmlformats.org/officeDocument/2006/relationships/slideLayout" Target="/ppt/slideLayouts/slideLayout1.xml" Id="R3c07be9a49194f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07be9a49194f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5ec019658b4bd6" /><Relationship Type="http://schemas.openxmlformats.org/officeDocument/2006/relationships/notesSlide" Target="/ppt/notesSlides/notesSlide1.xml" Id="R6f0ae7a7b35b40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471e9289064f7d" /><Relationship Type="http://schemas.openxmlformats.org/officeDocument/2006/relationships/notesSlide" Target="/ppt/notesSlides/notesSlide2.xml" Id="Rb0f43560136f4b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dee5a95e94499" /><Relationship Type="http://schemas.openxmlformats.org/officeDocument/2006/relationships/notesSlide" Target="/ppt/notesSlides/notesSlide3.xml" Id="R44c7aaaa2a9d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8f89bbe4ab4da2" /><Relationship Type="http://schemas.openxmlformats.org/officeDocument/2006/relationships/notesSlide" Target="/ppt/notesSlides/notesSlide4.xml" Id="Rd7b4affe080140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1ad2e687b94ba9" /><Relationship Type="http://schemas.openxmlformats.org/officeDocument/2006/relationships/notesSlide" Target="/ppt/notesSlides/notesSlide5.xml" Id="R5802c708984843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026bcf458c41a5" /><Relationship Type="http://schemas.openxmlformats.org/officeDocument/2006/relationships/notesSlide" Target="/ppt/notesSlides/notesSlide6.xml" Id="Re06b410cd52044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9ece95984e4841" /><Relationship Type="http://schemas.openxmlformats.org/officeDocument/2006/relationships/notesSlide" Target="/ppt/notesSlides/notesSlide7.xml" Id="R38e63783622a4e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e68b6e0f1b41cb" /><Relationship Type="http://schemas.openxmlformats.org/officeDocument/2006/relationships/notesSlide" Target="/ppt/notesSlides/notesSlide8.xml" Id="R7372fe31ca2945b8" /></Relationships>
</file>

<file path=ppt/slides/slide1.xml><?xml version="1.0" encoding="utf-8"?>
<p:sld xmlns:p="http://schemas.openxmlformats.org/presentationml/2006/main">
  <p:cSld>
    <p:bg>
      <p:bgPr>
        <a:solidFill xmlns:a="http://schemas.openxmlformats.org/drawingml/2006/main">
          <a:srgbClr val="1025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C0C956-434C-442D-A9CE-58F625F53C3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B0E87D-1A97-4614-8EC0-BD3C37D6AB55}"/>
              </a:ext>
            </a:extLst>
          </p:cNvPr>
          <p:cNvSpPr>
            <a:spLocks xmlns:a="http://schemas.openxmlformats.org/drawingml/2006/main" noGrp="1"/>
          </p:cNvSpPr>
          <p:nvPr/>
        </p:nvSpPr>
        <p:spPr>
          <a:xfrm xmlns:a="http://schemas.openxmlformats.org/drawingml/2006/main">
            <a:off x="876300" y="1428750"/>
            <a:ext cx="9906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FFFFFF"/>
                </a:solidFill>
                <a:latin typeface="Yu Gothic"/>
                <a:ea typeface="Yu Gothic"/>
                <a:cs typeface="Yu Gothic"/>
              </a:defRPr>
            </a:pPr>
            <a:r>
              <a:rPr sz="3600" b="1">
                <a:solidFill>
                  <a:srgbClr val="FFFFFF"/>
                </a:solidFill>
                <a:latin typeface="Yu Gothic"/>
                <a:ea typeface="Yu Gothic"/>
                <a:cs typeface="Yu Gothic"/>
              </a:rPr>
              <a:t>Progress Update and IEEE Demo Practice</a:t>
            </a:r>
          </a:p>
        </p:txBody>
      </p:sp>
      <p:sp>
        <p:nvSpPr>
          <p:cNvPr id="3" name="">
            <a:extLst xmlns:a="http://schemas.openxmlformats.org/drawingml/2006/main">
              <a:ext uri="{FF2B5EF4-FFF2-40B4-BE49-F238E27FC236}">
                <a16:creationId xmlns:a16="http://schemas.microsoft.com/office/drawing/2014/main" id="{02287313-5A3C-48F1-AEE7-B3AD17F1BB71}"/>
              </a:ext>
            </a:extLst>
          </p:cNvPr>
          <p:cNvSpPr>
            <a:spLocks xmlns:a="http://schemas.openxmlformats.org/drawingml/2006/main" noGrp="1"/>
          </p:cNvSpPr>
          <p:nvPr/>
        </p:nvSpPr>
        <p:spPr>
          <a:xfrm xmlns:a="http://schemas.openxmlformats.org/drawingml/2006/main">
            <a:off x="914400" y="2905125"/>
            <a:ext cx="914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CAE8EF"/>
                </a:solidFill>
                <a:latin typeface="Yu Gothic"/>
                <a:ea typeface="Yu Gothic"/>
                <a:cs typeface="Yu Gothic"/>
              </a:defRPr>
            </a:pPr>
            <a:r>
              <a:rPr sz="1950" b="0">
                <a:solidFill>
                  <a:srgbClr val="CAE8EF"/>
                </a:solidFill>
                <a:latin typeface="Yu Gothic"/>
                <a:ea typeface="Yu Gothic"/>
                <a:cs typeface="Yu Gothic"/>
              </a:rPr>
              <a:t>Few-teeth tracking for AR-assisted dental treatment</a:t>
            </a:r>
          </a:p>
        </p:txBody>
      </p:sp>
      <p:sp>
        <p:nvSpPr>
          <p:cNvPr id="4" name="">
            <a:extLst xmlns:a="http://schemas.openxmlformats.org/drawingml/2006/main">
              <a:ext uri="{FF2B5EF4-FFF2-40B4-BE49-F238E27FC236}">
                <a16:creationId xmlns:a16="http://schemas.microsoft.com/office/drawing/2014/main" id="{ECA77DFB-3BFC-45D9-928E-46D6AF4BB357}"/>
              </a:ext>
            </a:extLst>
          </p:cNvPr>
          <p:cNvSpPr>
            <a:spLocks xmlns:a="http://schemas.openxmlformats.org/drawingml/2006/main" noGrp="1"/>
          </p:cNvSpPr>
          <p:nvPr/>
        </p:nvSpPr>
        <p:spPr>
          <a:xfrm xmlns:a="http://schemas.openxmlformats.org/drawingml/2006/main">
            <a:off x="914400" y="3857625"/>
            <a:ext cx="1809750" cy="47625"/>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452B0D-3C30-4ADE-B9A0-32A73B197005}"/>
              </a:ext>
            </a:extLst>
          </p:cNvPr>
          <p:cNvSpPr>
            <a:spLocks xmlns:a="http://schemas.openxmlformats.org/drawingml/2006/main" noGrp="1"/>
          </p:cNvSpPr>
          <p:nvPr/>
        </p:nvSpPr>
        <p:spPr>
          <a:xfrm xmlns:a="http://schemas.openxmlformats.org/drawingml/2006/main">
            <a:off x="914400" y="42100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FFFFFF"/>
                </a:solidFill>
                <a:latin typeface="Yu Gothic"/>
                <a:ea typeface="Yu Gothic"/>
                <a:cs typeface="Yu Gothic"/>
              </a:defRPr>
            </a:pPr>
            <a:r>
              <a:rPr sz="1575" b="0">
                <a:solidFill>
                  <a:srgbClr val="FFFFFF"/>
                </a:solidFill>
                <a:latin typeface="Yu Gothic"/>
                <a:ea typeface="Yu Gothic"/>
                <a:cs typeface="Yu Gothic"/>
              </a:rPr>
              <a:t>Meeting: October 3, 2026</a:t>
            </a:r>
          </a:p>
        </p:txBody>
      </p:sp>
      <p:sp>
        <p:nvSpPr>
          <p:cNvPr id="6" name="">
            <a:extLst xmlns:a="http://schemas.openxmlformats.org/drawingml/2006/main">
              <a:ext uri="{FF2B5EF4-FFF2-40B4-BE49-F238E27FC236}">
                <a16:creationId xmlns:a16="http://schemas.microsoft.com/office/drawing/2014/main" id="{92F08419-38E9-413F-B872-774AE7F1BD39}"/>
              </a:ext>
            </a:extLst>
          </p:cNvPr>
          <p:cNvSpPr>
            <a:spLocks xmlns:a="http://schemas.openxmlformats.org/drawingml/2006/main" noGrp="1"/>
          </p:cNvSpPr>
          <p:nvPr/>
        </p:nvSpPr>
        <p:spPr>
          <a:xfrm xmlns:a="http://schemas.openxmlformats.org/drawingml/2006/main">
            <a:off x="914400" y="46863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AFC3D2"/>
                </a:solidFill>
                <a:latin typeface="Yu Gothic"/>
                <a:ea typeface="Yu Gothic"/>
                <a:cs typeface="Yu Gothic"/>
              </a:defRPr>
            </a:pPr>
            <a:r>
              <a:rPr sz="1350" b="0">
                <a:solidFill>
                  <a:srgbClr val="AFC3D2"/>
                </a:solidFill>
                <a:latin typeface="Yu Gothic"/>
                <a:ea typeface="Yu Gothic"/>
                <a:cs typeface="Yu Gothic"/>
              </a:rPr>
              <a:t>Draft based on the current Unity and Python implementation</a:t>
            </a:r>
          </a:p>
        </p:txBody>
      </p:sp>
    </p:spTree>
    <p:extLst>
      <p:ext uri="{BB962C8B-B14F-4D97-AF65-F5344CB8AC3E}">
        <p14:creationId xmlns:p14="http://schemas.microsoft.com/office/powerpoint/2010/main" val="17731409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BDF7BE9-BB29-44A2-A369-AEAE33F97F4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C03703-51E6-4FBC-98DB-F978C7A3B76B}"/>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ABSTRACT BASELINE</a:t>
            </a:r>
          </a:p>
        </p:txBody>
      </p:sp>
      <p:sp>
        <p:nvSpPr>
          <p:cNvPr id="3" name="">
            <a:extLst xmlns:a="http://schemas.openxmlformats.org/drawingml/2006/main">
              <a:ext uri="{FF2B5EF4-FFF2-40B4-BE49-F238E27FC236}">
                <a16:creationId xmlns:a16="http://schemas.microsoft.com/office/drawing/2014/main" id="{91D9175D-2CCD-43BD-AD5D-84A3F536F2F7}"/>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Submitted abstract: Anchor Switching</a:t>
            </a:r>
          </a:p>
        </p:txBody>
      </p:sp>
      <p:sp>
        <p:nvSpPr>
          <p:cNvPr id="4" name="">
            <a:extLst xmlns:a="http://schemas.openxmlformats.org/drawingml/2006/main">
              <a:ext uri="{FF2B5EF4-FFF2-40B4-BE49-F238E27FC236}">
                <a16:creationId xmlns:a16="http://schemas.microsoft.com/office/drawing/2014/main" id="{FD3DC049-2F8D-4021-97C1-897792BDC685}"/>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2F9E4298-34B0-43FC-95F5-676FB9B1AD25}"/>
              </a:ext>
            </a:extLst>
          </p:cNvPr>
          <p:cNvSpPr>
            <a:spLocks xmlns:a="http://schemas.openxmlformats.org/drawingml/2006/main" noGrp="1"/>
          </p:cNvSpPr>
          <p:nvPr/>
        </p:nvSpPr>
        <p:spPr>
          <a:xfrm xmlns:a="http://schemas.openxmlformats.org/drawingml/2006/main">
            <a:off x="781050" y="1619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C6E9E"/>
                </a:solidFill>
                <a:latin typeface="Yu Gothic"/>
                <a:ea typeface="Yu Gothic"/>
                <a:cs typeface="Yu Gothic"/>
              </a:defRPr>
            </a:pPr>
            <a:r>
              <a:rPr sz="1800" b="1">
                <a:solidFill>
                  <a:srgbClr val="1C6E9E"/>
                </a:solidFill>
                <a:latin typeface="Yu Gothic"/>
                <a:ea typeface="Yu Gothic"/>
                <a:cs typeface="Yu Gothic"/>
              </a:rPr>
              <a:t>Objective</a:t>
            </a:r>
          </a:p>
        </p:txBody>
      </p:sp>
      <p:sp>
        <p:nvSpPr>
          <p:cNvPr id="6" name="">
            <a:extLst xmlns:a="http://schemas.openxmlformats.org/drawingml/2006/main">
              <a:ext uri="{FF2B5EF4-FFF2-40B4-BE49-F238E27FC236}">
                <a16:creationId xmlns:a16="http://schemas.microsoft.com/office/drawing/2014/main" id="{AEB6D0E0-3AAB-4CE7-BFDB-CECEE2B8992C}"/>
              </a:ext>
            </a:extLst>
          </p:cNvPr>
          <p:cNvSpPr>
            <a:spLocks xmlns:a="http://schemas.openxmlformats.org/drawingml/2006/main" noGrp="1"/>
          </p:cNvSpPr>
          <p:nvPr/>
        </p:nvSpPr>
        <p:spPr>
          <a:xfrm xmlns:a="http://schemas.openxmlformats.org/drawingml/2006/main">
            <a:off x="781050" y="2038350"/>
            <a:ext cx="4953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172433"/>
                </a:solidFill>
                <a:latin typeface="Yu Gothic"/>
                <a:ea typeface="Yu Gothic"/>
                <a:cs typeface="Yu Gothic"/>
              </a:defRPr>
            </a:pPr>
            <a:r>
              <a:rPr sz="2025" b="0">
                <a:solidFill>
                  <a:srgbClr val="172433"/>
                </a:solidFill>
                <a:latin typeface="Yu Gothic"/>
                <a:ea typeface="Yu Gothic"/>
                <a:cs typeface="Yu Gothic"/>
              </a:rPr>
              <a:t>Maintain AR implant guidance when a hand or contra-angle handpiece partially occludes the dental cast.</a:t>
            </a:r>
          </a:p>
        </p:txBody>
      </p:sp>
      <p:sp>
        <p:nvSpPr>
          <p:cNvPr id="7" name="">
            <a:extLst xmlns:a="http://schemas.openxmlformats.org/drawingml/2006/main">
              <a:ext uri="{FF2B5EF4-FFF2-40B4-BE49-F238E27FC236}">
                <a16:creationId xmlns:a16="http://schemas.microsoft.com/office/drawing/2014/main" id="{CFDAABE4-F189-4BFE-9D9C-41FF33986044}"/>
              </a:ext>
            </a:extLst>
          </p:cNvPr>
          <p:cNvSpPr>
            <a:spLocks xmlns:a="http://schemas.openxmlformats.org/drawingml/2006/main" noGrp="1"/>
          </p:cNvSpPr>
          <p:nvPr/>
        </p:nvSpPr>
        <p:spPr>
          <a:xfrm xmlns:a="http://schemas.openxmlformats.org/drawingml/2006/main">
            <a:off x="6286500" y="2000250"/>
            <a:ext cx="1476375" cy="1428750"/>
          </a:xfrm>
          <a:prstGeom xmlns:a="http://schemas.openxmlformats.org/drawingml/2006/main" prst="roundRect">
            <a:avLst>
              <a:gd name="adj" fmla="val 5333"/>
            </a:avLst>
          </a:prstGeom>
          <a:solidFill xmlns:a="http://schemas.openxmlformats.org/drawingml/2006/main">
            <a:srgbClr val="F5F7F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A4526A-F74D-4535-A9DE-F8AC915B0B51}"/>
              </a:ext>
            </a:extLst>
          </p:cNvPr>
          <p:cNvSpPr>
            <a:spLocks xmlns:a="http://schemas.openxmlformats.org/drawingml/2006/main" noGrp="1"/>
          </p:cNvSpPr>
          <p:nvPr/>
        </p:nvSpPr>
        <p:spPr>
          <a:xfrm xmlns:a="http://schemas.openxmlformats.org/drawingml/2006/main">
            <a:off x="6286500" y="2000250"/>
            <a:ext cx="1476375" cy="114300"/>
          </a:xfrm>
          <a:prstGeom xmlns:a="http://schemas.openxmlformats.org/drawingml/2006/main" prst="rect">
            <a:avLst/>
          </a:prstGeom>
          <a:solidFill xmlns:a="http://schemas.openxmlformats.org/drawingml/2006/main">
            <a:srgbClr val="1C6E9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C7276DA-D377-406B-B2EF-BFCFAFE03CAA}"/>
              </a:ext>
            </a:extLst>
          </p:cNvPr>
          <p:cNvSpPr>
            <a:spLocks xmlns:a="http://schemas.openxmlformats.org/drawingml/2006/main" noGrp="1"/>
          </p:cNvSpPr>
          <p:nvPr/>
        </p:nvSpPr>
        <p:spPr>
          <a:xfrm xmlns:a="http://schemas.openxmlformats.org/drawingml/2006/main">
            <a:off x="6400800" y="2190750"/>
            <a:ext cx="1247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0253F"/>
                </a:solidFill>
                <a:latin typeface="Yu Gothic"/>
                <a:ea typeface="Yu Gothic"/>
                <a:cs typeface="Yu Gothic"/>
              </a:defRPr>
            </a:pPr>
            <a:r>
              <a:rPr sz="1350" b="1">
                <a:solidFill>
                  <a:srgbClr val="10253F"/>
                </a:solidFill>
                <a:latin typeface="Yu Gothic"/>
                <a:ea typeface="Yu Gothic"/>
                <a:cs typeface="Yu Gothic"/>
              </a:rPr>
              <a:t>Multiple models</a:t>
            </a:r>
          </a:p>
        </p:txBody>
      </p:sp>
      <p:sp>
        <p:nvSpPr>
          <p:cNvPr id="10" name="">
            <a:extLst xmlns:a="http://schemas.openxmlformats.org/drawingml/2006/main">
              <a:ext uri="{FF2B5EF4-FFF2-40B4-BE49-F238E27FC236}">
                <a16:creationId xmlns:a16="http://schemas.microsoft.com/office/drawing/2014/main" id="{B54CC7B1-1D62-40DD-9C41-3134CD9777E1}"/>
              </a:ext>
            </a:extLst>
          </p:cNvPr>
          <p:cNvSpPr>
            <a:spLocks xmlns:a="http://schemas.openxmlformats.org/drawingml/2006/main" noGrp="1"/>
          </p:cNvSpPr>
          <p:nvPr/>
        </p:nvSpPr>
        <p:spPr>
          <a:xfrm xmlns:a="http://schemas.openxmlformats.org/drawingml/2006/main">
            <a:off x="6400800" y="2781300"/>
            <a:ext cx="1247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Independent dental</a:t>
            </a:r>
          </a:p>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arch targets</a:t>
            </a:r>
          </a:p>
        </p:txBody>
      </p:sp>
      <p:sp>
        <p:nvSpPr>
          <p:cNvPr id="11" name="">
            <a:extLst xmlns:a="http://schemas.openxmlformats.org/drawingml/2006/main">
              <a:ext uri="{FF2B5EF4-FFF2-40B4-BE49-F238E27FC236}">
                <a16:creationId xmlns:a16="http://schemas.microsoft.com/office/drawing/2014/main" id="{33A9FB20-159B-47E3-AC7F-9A09488F8DA4}"/>
              </a:ext>
            </a:extLst>
          </p:cNvPr>
          <p:cNvSpPr>
            <a:spLocks xmlns:a="http://schemas.openxmlformats.org/drawingml/2006/main" noGrp="1"/>
          </p:cNvSpPr>
          <p:nvPr/>
        </p:nvSpPr>
        <p:spPr>
          <a:xfrm xmlns:a="http://schemas.openxmlformats.org/drawingml/2006/main">
            <a:off x="7781925" y="254317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1">
                <a:solidFill>
                  <a:srgbClr val="35B6C8"/>
                </a:solidFill>
                <a:latin typeface="Yu Gothic"/>
                <a:ea typeface="Yu Gothic"/>
                <a:cs typeface="Yu Gothic"/>
              </a:defRPr>
            </a:pPr>
            <a:r>
              <a:rPr sz="2025" b="1">
                <a:solidFill>
                  <a:srgbClr val="35B6C8"/>
                </a:solidFill>
                <a:latin typeface="Yu Gothic"/>
                <a:ea typeface="Yu Gothic"/>
                <a:cs typeface="Yu Gothic"/>
              </a:rPr>
              <a:t>&gt;</a:t>
            </a:r>
          </a:p>
        </p:txBody>
      </p:sp>
      <p:sp>
        <p:nvSpPr>
          <p:cNvPr id="12" name="">
            <a:extLst xmlns:a="http://schemas.openxmlformats.org/drawingml/2006/main">
              <a:ext uri="{FF2B5EF4-FFF2-40B4-BE49-F238E27FC236}">
                <a16:creationId xmlns:a16="http://schemas.microsoft.com/office/drawing/2014/main" id="{244A796F-CB3A-442D-9C82-2000234D8253}"/>
              </a:ext>
            </a:extLst>
          </p:cNvPr>
          <p:cNvSpPr>
            <a:spLocks xmlns:a="http://schemas.openxmlformats.org/drawingml/2006/main" noGrp="1"/>
          </p:cNvSpPr>
          <p:nvPr/>
        </p:nvSpPr>
        <p:spPr>
          <a:xfrm xmlns:a="http://schemas.openxmlformats.org/drawingml/2006/main">
            <a:off x="8048625" y="2000250"/>
            <a:ext cx="1476375" cy="1428750"/>
          </a:xfrm>
          <a:prstGeom xmlns:a="http://schemas.openxmlformats.org/drawingml/2006/main" prst="roundRect">
            <a:avLst>
              <a:gd name="adj" fmla="val 5333"/>
            </a:avLst>
          </a:prstGeom>
          <a:solidFill xmlns:a="http://schemas.openxmlformats.org/drawingml/2006/main">
            <a:srgbClr val="F5F7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0FF0F06-298A-4ED2-888F-645E7BD7B9F1}"/>
              </a:ext>
            </a:extLst>
          </p:cNvPr>
          <p:cNvSpPr>
            <a:spLocks xmlns:a="http://schemas.openxmlformats.org/drawingml/2006/main" noGrp="1"/>
          </p:cNvSpPr>
          <p:nvPr/>
        </p:nvSpPr>
        <p:spPr>
          <a:xfrm xmlns:a="http://schemas.openxmlformats.org/drawingml/2006/main">
            <a:off x="8048625" y="2000250"/>
            <a:ext cx="1476375" cy="114300"/>
          </a:xfrm>
          <a:prstGeom xmlns:a="http://schemas.openxmlformats.org/drawingml/2006/main" prst="rect">
            <a:avLst/>
          </a:prstGeom>
          <a:solidFill xmlns:a="http://schemas.openxmlformats.org/drawingml/2006/main">
            <a:srgbClr val="2E8B7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DCB605-BED5-432F-9A85-E79EE4C4511E}"/>
              </a:ext>
            </a:extLst>
          </p:cNvPr>
          <p:cNvSpPr>
            <a:spLocks xmlns:a="http://schemas.openxmlformats.org/drawingml/2006/main" noGrp="1"/>
          </p:cNvSpPr>
          <p:nvPr/>
        </p:nvSpPr>
        <p:spPr>
          <a:xfrm xmlns:a="http://schemas.openxmlformats.org/drawingml/2006/main">
            <a:off x="8162925" y="2190750"/>
            <a:ext cx="1247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0253F"/>
                </a:solidFill>
                <a:latin typeface="Yu Gothic"/>
                <a:ea typeface="Yu Gothic"/>
                <a:cs typeface="Yu Gothic"/>
              </a:defRPr>
            </a:pPr>
            <a:r>
              <a:rPr sz="1350" b="1">
                <a:solidFill>
                  <a:srgbClr val="10253F"/>
                </a:solidFill>
                <a:latin typeface="Yu Gothic"/>
                <a:ea typeface="Yu Gothic"/>
                <a:cs typeface="Yu Gothic"/>
              </a:rPr>
              <a:t>Select anchor</a:t>
            </a:r>
          </a:p>
        </p:txBody>
      </p:sp>
      <p:sp>
        <p:nvSpPr>
          <p:cNvPr id="15" name="">
            <a:extLst xmlns:a="http://schemas.openxmlformats.org/drawingml/2006/main">
              <a:ext uri="{FF2B5EF4-FFF2-40B4-BE49-F238E27FC236}">
                <a16:creationId xmlns:a16="http://schemas.microsoft.com/office/drawing/2014/main" id="{EC9A0056-5CC5-44D4-BDA0-D98F9ED3FD14}"/>
              </a:ext>
            </a:extLst>
          </p:cNvPr>
          <p:cNvSpPr>
            <a:spLocks xmlns:a="http://schemas.openxmlformats.org/drawingml/2006/main" noGrp="1"/>
          </p:cNvSpPr>
          <p:nvPr/>
        </p:nvSpPr>
        <p:spPr>
          <a:xfrm xmlns:a="http://schemas.openxmlformats.org/drawingml/2006/main">
            <a:off x="8162925" y="2781300"/>
            <a:ext cx="1247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Use the most stable</a:t>
            </a:r>
          </a:p>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tracking result</a:t>
            </a:r>
          </a:p>
        </p:txBody>
      </p:sp>
      <p:sp>
        <p:nvSpPr>
          <p:cNvPr id="16" name="">
            <a:extLst xmlns:a="http://schemas.openxmlformats.org/drawingml/2006/main">
              <a:ext uri="{FF2B5EF4-FFF2-40B4-BE49-F238E27FC236}">
                <a16:creationId xmlns:a16="http://schemas.microsoft.com/office/drawing/2014/main" id="{9EE36197-9577-4E2F-B972-E78E25740D7D}"/>
              </a:ext>
            </a:extLst>
          </p:cNvPr>
          <p:cNvSpPr>
            <a:spLocks xmlns:a="http://schemas.openxmlformats.org/drawingml/2006/main" noGrp="1"/>
          </p:cNvSpPr>
          <p:nvPr/>
        </p:nvSpPr>
        <p:spPr>
          <a:xfrm xmlns:a="http://schemas.openxmlformats.org/drawingml/2006/main">
            <a:off x="9544050" y="2543175"/>
            <a:ext cx="266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025" b="1">
                <a:solidFill>
                  <a:srgbClr val="35B6C8"/>
                </a:solidFill>
                <a:latin typeface="Yu Gothic"/>
                <a:ea typeface="Yu Gothic"/>
                <a:cs typeface="Yu Gothic"/>
              </a:defRPr>
            </a:pPr>
            <a:r>
              <a:rPr sz="2025" b="1">
                <a:solidFill>
                  <a:srgbClr val="35B6C8"/>
                </a:solidFill>
                <a:latin typeface="Yu Gothic"/>
                <a:ea typeface="Yu Gothic"/>
                <a:cs typeface="Yu Gothic"/>
              </a:rPr>
              <a:t>&gt;</a:t>
            </a:r>
          </a:p>
        </p:txBody>
      </p:sp>
      <p:sp>
        <p:nvSpPr>
          <p:cNvPr id="17" name="">
            <a:extLst xmlns:a="http://schemas.openxmlformats.org/drawingml/2006/main">
              <a:ext uri="{FF2B5EF4-FFF2-40B4-BE49-F238E27FC236}">
                <a16:creationId xmlns:a16="http://schemas.microsoft.com/office/drawing/2014/main" id="{B82C1E14-52DB-4D90-BE6D-4786C7327B90}"/>
              </a:ext>
            </a:extLst>
          </p:cNvPr>
          <p:cNvSpPr>
            <a:spLocks xmlns:a="http://schemas.openxmlformats.org/drawingml/2006/main" noGrp="1"/>
          </p:cNvSpPr>
          <p:nvPr/>
        </p:nvSpPr>
        <p:spPr>
          <a:xfrm xmlns:a="http://schemas.openxmlformats.org/drawingml/2006/main">
            <a:off x="9810750" y="2000250"/>
            <a:ext cx="1476375" cy="1428750"/>
          </a:xfrm>
          <a:prstGeom xmlns:a="http://schemas.openxmlformats.org/drawingml/2006/main" prst="roundRect">
            <a:avLst>
              <a:gd name="adj" fmla="val 5333"/>
            </a:avLst>
          </a:prstGeom>
          <a:solidFill xmlns:a="http://schemas.openxmlformats.org/drawingml/2006/main">
            <a:srgbClr val="F5F7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D364B35-F9BB-436D-9C83-9AE5D219B680}"/>
              </a:ext>
            </a:extLst>
          </p:cNvPr>
          <p:cNvSpPr>
            <a:spLocks xmlns:a="http://schemas.openxmlformats.org/drawingml/2006/main" noGrp="1"/>
          </p:cNvSpPr>
          <p:nvPr/>
        </p:nvSpPr>
        <p:spPr>
          <a:xfrm xmlns:a="http://schemas.openxmlformats.org/drawingml/2006/main">
            <a:off x="9810750" y="2000250"/>
            <a:ext cx="1476375" cy="114300"/>
          </a:xfrm>
          <a:prstGeom xmlns:a="http://schemas.openxmlformats.org/drawingml/2006/main" prst="rect">
            <a:avLst/>
          </a:prstGeom>
          <a:solidFill xmlns:a="http://schemas.openxmlformats.org/drawingml/2006/main">
            <a:srgbClr val="D98C2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883FEDF-8CCC-4A29-BDC0-5BFBE766BB5F}"/>
              </a:ext>
            </a:extLst>
          </p:cNvPr>
          <p:cNvSpPr>
            <a:spLocks xmlns:a="http://schemas.openxmlformats.org/drawingml/2006/main" noGrp="1"/>
          </p:cNvSpPr>
          <p:nvPr/>
        </p:nvSpPr>
        <p:spPr>
          <a:xfrm xmlns:a="http://schemas.openxmlformats.org/drawingml/2006/main">
            <a:off x="9925050" y="2190750"/>
            <a:ext cx="1247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0253F"/>
                </a:solidFill>
                <a:latin typeface="Yu Gothic"/>
                <a:ea typeface="Yu Gothic"/>
                <a:cs typeface="Yu Gothic"/>
              </a:defRPr>
            </a:pPr>
            <a:r>
              <a:rPr sz="1350" b="1">
                <a:solidFill>
                  <a:srgbClr val="10253F"/>
                </a:solidFill>
                <a:latin typeface="Yu Gothic"/>
                <a:ea typeface="Yu Gothic"/>
                <a:cs typeface="Yu Gothic"/>
              </a:rPr>
              <a:t>Output model</a:t>
            </a:r>
          </a:p>
        </p:txBody>
      </p:sp>
      <p:sp>
        <p:nvSpPr>
          <p:cNvPr id="20" name="">
            <a:extLst xmlns:a="http://schemas.openxmlformats.org/drawingml/2006/main">
              <a:ext uri="{FF2B5EF4-FFF2-40B4-BE49-F238E27FC236}">
                <a16:creationId xmlns:a16="http://schemas.microsoft.com/office/drawing/2014/main" id="{5AAEE0B1-7073-4A17-9AE6-B6B7D3A00A41}"/>
              </a:ext>
            </a:extLst>
          </p:cNvPr>
          <p:cNvSpPr>
            <a:spLocks xmlns:a="http://schemas.openxmlformats.org/drawingml/2006/main" noGrp="1"/>
          </p:cNvSpPr>
          <p:nvPr/>
        </p:nvSpPr>
        <p:spPr>
          <a:xfrm xmlns:a="http://schemas.openxmlformats.org/drawingml/2006/main">
            <a:off x="9925050" y="2781300"/>
            <a:ext cx="1247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Keep the AR guidance</a:t>
            </a:r>
          </a:p>
          <a:p xmlns:a="http://schemas.openxmlformats.org/drawingml/2006/main">
            <a:pPr algn="ctr">
              <a:defRPr sz="1125" b="0">
                <a:solidFill>
                  <a:srgbClr val="5D6B78"/>
                </a:solidFill>
                <a:latin typeface="Yu Gothic"/>
                <a:ea typeface="Yu Gothic"/>
                <a:cs typeface="Yu Gothic"/>
              </a:defRPr>
            </a:pPr>
            <a:r>
              <a:rPr sz="1125" b="0">
                <a:solidFill>
                  <a:srgbClr val="5D6B78"/>
                </a:solidFill>
                <a:latin typeface="Yu Gothic"/>
                <a:ea typeface="Yu Gothic"/>
                <a:cs typeface="Yu Gothic"/>
              </a:rPr>
              <a:t>visible</a:t>
            </a:r>
          </a:p>
        </p:txBody>
      </p:sp>
      <p:sp>
        <p:nvSpPr>
          <p:cNvPr id="21" name="">
            <a:extLst xmlns:a="http://schemas.openxmlformats.org/drawingml/2006/main">
              <a:ext uri="{FF2B5EF4-FFF2-40B4-BE49-F238E27FC236}">
                <a16:creationId xmlns:a16="http://schemas.microsoft.com/office/drawing/2014/main" id="{D6B3251A-FC8F-4513-9887-6EBAC0E9F8FC}"/>
              </a:ext>
            </a:extLst>
          </p:cNvPr>
          <p:cNvSpPr>
            <a:spLocks xmlns:a="http://schemas.openxmlformats.org/drawingml/2006/main" noGrp="1"/>
          </p:cNvSpPr>
          <p:nvPr/>
        </p:nvSpPr>
        <p:spPr>
          <a:xfrm xmlns:a="http://schemas.openxmlformats.org/drawingml/2006/main">
            <a:off x="762000" y="3857625"/>
            <a:ext cx="10668000" cy="9525"/>
          </a:xfrm>
          <a:prstGeom xmlns:a="http://schemas.openxmlformats.org/drawingml/2006/main" prst="rect">
            <a:avLst/>
          </a:prstGeom>
          <a:solidFill xmlns:a="http://schemas.openxmlformats.org/drawingml/2006/main">
            <a:srgbClr val="CFD8D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73F214E-4C21-45ED-AC4B-B251A0E20D5D}"/>
              </a:ext>
            </a:extLst>
          </p:cNvPr>
          <p:cNvSpPr>
            <a:spLocks xmlns:a="http://schemas.openxmlformats.org/drawingml/2006/main" noGrp="1"/>
          </p:cNvSpPr>
          <p:nvPr/>
        </p:nvSpPr>
        <p:spPr>
          <a:xfrm xmlns:a="http://schemas.openxmlformats.org/drawingml/2006/main">
            <a:off x="876300" y="4191000"/>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The submitted evaluation divided the full arch into left and right segments.</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The active region was shown by changing color and transparency.</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The paper reports continued visualization under some partial occlusions, but also positional deviations.</a:t>
            </a:r>
          </a:p>
        </p:txBody>
      </p:sp>
    </p:spTree>
    <p:extLst>
      <p:ext uri="{BB962C8B-B14F-4D97-AF65-F5344CB8AC3E}">
        <p14:creationId xmlns:p14="http://schemas.microsoft.com/office/powerpoint/2010/main" val="5381053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31B81BA-9ED7-4EBD-A9EA-696C543ABAD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249AC2-66AC-4D36-B7CB-D513649642FB}"/>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MONTHLY PROGRESS</a:t>
            </a:r>
          </a:p>
        </p:txBody>
      </p:sp>
      <p:sp>
        <p:nvSpPr>
          <p:cNvPr id="3" name="">
            <a:extLst xmlns:a="http://schemas.openxmlformats.org/drawingml/2006/main">
              <a:ext uri="{FF2B5EF4-FFF2-40B4-BE49-F238E27FC236}">
                <a16:creationId xmlns:a16="http://schemas.microsoft.com/office/drawing/2014/main" id="{A1F370CC-6E35-4090-BFC3-205FF145DACF}"/>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Changes completed this month</a:t>
            </a:r>
          </a:p>
        </p:txBody>
      </p:sp>
      <p:sp>
        <p:nvSpPr>
          <p:cNvPr id="4" name="">
            <a:extLst xmlns:a="http://schemas.openxmlformats.org/drawingml/2006/main">
              <a:ext uri="{FF2B5EF4-FFF2-40B4-BE49-F238E27FC236}">
                <a16:creationId xmlns:a16="http://schemas.microsoft.com/office/drawing/2014/main" id="{A562DB27-7E34-4D3B-AB23-18F1801AC627}"/>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7D9BA93F-ED53-4EEA-9E4E-940D8B75AA71}"/>
              </a:ext>
            </a:extLst>
          </p:cNvPr>
          <p:cNvSpPr>
            <a:spLocks xmlns:a="http://schemas.openxmlformats.org/drawingml/2006/main" noGrp="1"/>
          </p:cNvSpPr>
          <p:nvPr/>
        </p:nvSpPr>
        <p:spPr>
          <a:xfrm xmlns:a="http://schemas.openxmlformats.org/drawingml/2006/main">
            <a:off x="762000" y="16002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D6B78"/>
                </a:solidFill>
                <a:latin typeface="Yu Gothic"/>
                <a:ea typeface="Yu Gothic"/>
                <a:cs typeface="Yu Gothic"/>
              </a:defRPr>
            </a:pPr>
            <a:r>
              <a:rPr sz="1350" b="1">
                <a:solidFill>
                  <a:srgbClr val="5D6B78"/>
                </a:solidFill>
                <a:latin typeface="Yu Gothic"/>
                <a:ea typeface="Yu Gothic"/>
                <a:cs typeface="Yu Gothic"/>
              </a:rPr>
              <a:t>Area</a:t>
            </a:r>
          </a:p>
        </p:txBody>
      </p:sp>
      <p:sp>
        <p:nvSpPr>
          <p:cNvPr id="6" name="">
            <a:extLst xmlns:a="http://schemas.openxmlformats.org/drawingml/2006/main">
              <a:ext uri="{FF2B5EF4-FFF2-40B4-BE49-F238E27FC236}">
                <a16:creationId xmlns:a16="http://schemas.microsoft.com/office/drawing/2014/main" id="{1B029ECD-58B0-43BE-8D65-4AAAAC2F23F7}"/>
              </a:ext>
            </a:extLst>
          </p:cNvPr>
          <p:cNvSpPr>
            <a:spLocks xmlns:a="http://schemas.openxmlformats.org/drawingml/2006/main" noGrp="1"/>
          </p:cNvSpPr>
          <p:nvPr/>
        </p:nvSpPr>
        <p:spPr>
          <a:xfrm xmlns:a="http://schemas.openxmlformats.org/drawingml/2006/main">
            <a:off x="3143250" y="160020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D6B78"/>
                </a:solidFill>
                <a:latin typeface="Yu Gothic"/>
                <a:ea typeface="Yu Gothic"/>
                <a:cs typeface="Yu Gothic"/>
              </a:defRPr>
            </a:pPr>
            <a:r>
              <a:rPr sz="1350" b="1">
                <a:solidFill>
                  <a:srgbClr val="5D6B78"/>
                </a:solidFill>
                <a:latin typeface="Yu Gothic"/>
                <a:ea typeface="Yu Gothic"/>
                <a:cs typeface="Yu Gothic"/>
              </a:rPr>
              <a:t>Previous</a:t>
            </a:r>
          </a:p>
        </p:txBody>
      </p:sp>
      <p:sp>
        <p:nvSpPr>
          <p:cNvPr id="7" name="">
            <a:extLst xmlns:a="http://schemas.openxmlformats.org/drawingml/2006/main">
              <a:ext uri="{FF2B5EF4-FFF2-40B4-BE49-F238E27FC236}">
                <a16:creationId xmlns:a16="http://schemas.microsoft.com/office/drawing/2014/main" id="{6747AA0E-9B2E-4C22-93C3-C48890592CE5}"/>
              </a:ext>
            </a:extLst>
          </p:cNvPr>
          <p:cNvSpPr>
            <a:spLocks xmlns:a="http://schemas.openxmlformats.org/drawingml/2006/main" noGrp="1"/>
          </p:cNvSpPr>
          <p:nvPr/>
        </p:nvSpPr>
        <p:spPr>
          <a:xfrm xmlns:a="http://schemas.openxmlformats.org/drawingml/2006/main">
            <a:off x="6858000" y="16002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5D6B78"/>
                </a:solidFill>
                <a:latin typeface="Yu Gothic"/>
                <a:ea typeface="Yu Gothic"/>
                <a:cs typeface="Yu Gothic"/>
              </a:defRPr>
            </a:pPr>
            <a:r>
              <a:rPr sz="1350" b="1">
                <a:solidFill>
                  <a:srgbClr val="5D6B78"/>
                </a:solidFill>
                <a:latin typeface="Yu Gothic"/>
                <a:ea typeface="Yu Gothic"/>
                <a:cs typeface="Yu Gothic"/>
              </a:rPr>
              <a:t>Current</a:t>
            </a:r>
          </a:p>
        </p:txBody>
      </p:sp>
      <p:sp>
        <p:nvSpPr>
          <p:cNvPr id="8" name="">
            <a:extLst xmlns:a="http://schemas.openxmlformats.org/drawingml/2006/main">
              <a:ext uri="{FF2B5EF4-FFF2-40B4-BE49-F238E27FC236}">
                <a16:creationId xmlns:a16="http://schemas.microsoft.com/office/drawing/2014/main" id="{6226D207-262D-468B-A065-232F1F87041B}"/>
              </a:ext>
            </a:extLst>
          </p:cNvPr>
          <p:cNvSpPr>
            <a:spLocks xmlns:a="http://schemas.openxmlformats.org/drawingml/2006/main" noGrp="1"/>
          </p:cNvSpPr>
          <p:nvPr/>
        </p:nvSpPr>
        <p:spPr>
          <a:xfrm xmlns:a="http://schemas.openxmlformats.org/drawingml/2006/main">
            <a:off x="647700" y="1962150"/>
            <a:ext cx="10782300" cy="781050"/>
          </a:xfrm>
          <a:prstGeom xmlns:a="http://schemas.openxmlformats.org/drawingml/2006/main" prst="rect">
            <a:avLst/>
          </a:prstGeom>
          <a:solidFill xmlns:a="http://schemas.openxmlformats.org/drawingml/2006/main">
            <a:srgbClr val="F5F7F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F50F86-810B-4E0B-BB42-C886A7199DBC}"/>
              </a:ext>
            </a:extLst>
          </p:cNvPr>
          <p:cNvSpPr>
            <a:spLocks xmlns:a="http://schemas.openxmlformats.org/drawingml/2006/main" noGrp="1"/>
          </p:cNvSpPr>
          <p:nvPr/>
        </p:nvSpPr>
        <p:spPr>
          <a:xfrm xmlns:a="http://schemas.openxmlformats.org/drawingml/2006/main">
            <a:off x="762000" y="2066925"/>
            <a:ext cx="76200" cy="476250"/>
          </a:xfrm>
          <a:prstGeom xmlns:a="http://schemas.openxmlformats.org/drawingml/2006/main" prst="rect">
            <a:avLst/>
          </a:prstGeom>
          <a:solidFill xmlns:a="http://schemas.openxmlformats.org/drawingml/2006/main">
            <a:srgbClr val="2E8B7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13A5FF-E48C-4DA5-8B98-6613EE6C207B}"/>
              </a:ext>
            </a:extLst>
          </p:cNvPr>
          <p:cNvSpPr>
            <a:spLocks xmlns:a="http://schemas.openxmlformats.org/drawingml/2006/main" noGrp="1"/>
          </p:cNvSpPr>
          <p:nvPr/>
        </p:nvSpPr>
        <p:spPr>
          <a:xfrm xmlns:a="http://schemas.openxmlformats.org/drawingml/2006/main">
            <a:off x="1000125" y="2038350"/>
            <a:ext cx="1857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Tracker</a:t>
            </a:r>
          </a:p>
        </p:txBody>
      </p:sp>
      <p:sp>
        <p:nvSpPr>
          <p:cNvPr id="11" name="">
            <a:extLst xmlns:a="http://schemas.openxmlformats.org/drawingml/2006/main">
              <a:ext uri="{FF2B5EF4-FFF2-40B4-BE49-F238E27FC236}">
                <a16:creationId xmlns:a16="http://schemas.microsoft.com/office/drawing/2014/main" id="{4BE61338-1FE5-4250-A922-3454E84EA684}"/>
              </a:ext>
            </a:extLst>
          </p:cNvPr>
          <p:cNvSpPr>
            <a:spLocks xmlns:a="http://schemas.openxmlformats.org/drawingml/2006/main" noGrp="1"/>
          </p:cNvSpPr>
          <p:nvPr/>
        </p:nvSpPr>
        <p:spPr>
          <a:xfrm xmlns:a="http://schemas.openxmlformats.org/drawingml/2006/main">
            <a:off x="3143250" y="20383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6B78"/>
                </a:solidFill>
                <a:latin typeface="Yu Gothic"/>
                <a:ea typeface="Yu Gothic"/>
                <a:cs typeface="Yu Gothic"/>
              </a:defRPr>
            </a:pPr>
            <a:r>
              <a:rPr sz="1500" b="0">
                <a:solidFill>
                  <a:srgbClr val="5D6B78"/>
                </a:solidFill>
                <a:latin typeface="Yu Gothic"/>
                <a:ea typeface="Yu Gothic"/>
                <a:cs typeface="Yu Gothic"/>
              </a:rPr>
              <a:t>VisionLib</a:t>
            </a:r>
          </a:p>
        </p:txBody>
      </p:sp>
      <p:sp>
        <p:nvSpPr>
          <p:cNvPr id="12" name="">
            <a:extLst xmlns:a="http://schemas.openxmlformats.org/drawingml/2006/main">
              <a:ext uri="{FF2B5EF4-FFF2-40B4-BE49-F238E27FC236}">
                <a16:creationId xmlns:a16="http://schemas.microsoft.com/office/drawing/2014/main" id="{C375F2D1-14F2-4DB2-94B4-23739820F614}"/>
              </a:ext>
            </a:extLst>
          </p:cNvPr>
          <p:cNvSpPr>
            <a:spLocks xmlns:a="http://schemas.openxmlformats.org/drawingml/2006/main" noGrp="1"/>
          </p:cNvSpPr>
          <p:nvPr/>
        </p:nvSpPr>
        <p:spPr>
          <a:xfrm xmlns:a="http://schemas.openxmlformats.org/drawingml/2006/main">
            <a:off x="6858000" y="20383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72433"/>
                </a:solidFill>
                <a:latin typeface="Yu Gothic"/>
                <a:ea typeface="Yu Gothic"/>
                <a:cs typeface="Yu Gothic"/>
              </a:defRPr>
            </a:pPr>
            <a:r>
              <a:rPr sz="1500" b="1">
                <a:solidFill>
                  <a:srgbClr val="172433"/>
                </a:solidFill>
                <a:latin typeface="Yu Gothic"/>
                <a:ea typeface="Yu Gothic"/>
                <a:cs typeface="Yu Gothic"/>
              </a:rPr>
              <a:t>Python implementation of M3T</a:t>
            </a:r>
          </a:p>
        </p:txBody>
      </p:sp>
      <p:sp>
        <p:nvSpPr>
          <p:cNvPr id="13" name="">
            <a:extLst xmlns:a="http://schemas.openxmlformats.org/drawingml/2006/main">
              <a:ext uri="{FF2B5EF4-FFF2-40B4-BE49-F238E27FC236}">
                <a16:creationId xmlns:a16="http://schemas.microsoft.com/office/drawing/2014/main" id="{3B82BCE2-0670-4E1C-B6B7-2346923EB654}"/>
              </a:ext>
            </a:extLst>
          </p:cNvPr>
          <p:cNvSpPr>
            <a:spLocks xmlns:a="http://schemas.openxmlformats.org/drawingml/2006/main" noGrp="1"/>
          </p:cNvSpPr>
          <p:nvPr/>
        </p:nvSpPr>
        <p:spPr>
          <a:xfrm xmlns:a="http://schemas.openxmlformats.org/drawingml/2006/main">
            <a:off x="762000" y="3019425"/>
            <a:ext cx="76200" cy="476250"/>
          </a:xfrm>
          <a:prstGeom xmlns:a="http://schemas.openxmlformats.org/drawingml/2006/main" prst="rect">
            <a:avLst/>
          </a:prstGeom>
          <a:solidFill xmlns:a="http://schemas.openxmlformats.org/drawingml/2006/main">
            <a:srgbClr val="1C6E9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06C1E68-A6C7-4526-953D-34F635B902AA}"/>
              </a:ext>
            </a:extLst>
          </p:cNvPr>
          <p:cNvSpPr>
            <a:spLocks xmlns:a="http://schemas.openxmlformats.org/drawingml/2006/main" noGrp="1"/>
          </p:cNvSpPr>
          <p:nvPr/>
        </p:nvSpPr>
        <p:spPr>
          <a:xfrm xmlns:a="http://schemas.openxmlformats.org/drawingml/2006/main">
            <a:off x="1000125" y="2990850"/>
            <a:ext cx="1857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Anchor geometry</a:t>
            </a:r>
          </a:p>
        </p:txBody>
      </p:sp>
      <p:sp>
        <p:nvSpPr>
          <p:cNvPr id="15" name="">
            <a:extLst xmlns:a="http://schemas.openxmlformats.org/drawingml/2006/main">
              <a:ext uri="{FF2B5EF4-FFF2-40B4-BE49-F238E27FC236}">
                <a16:creationId xmlns:a16="http://schemas.microsoft.com/office/drawing/2014/main" id="{4390A9A1-5F60-4307-AE5F-2AE4EBF547D9}"/>
              </a:ext>
            </a:extLst>
          </p:cNvPr>
          <p:cNvSpPr>
            <a:spLocks xmlns:a="http://schemas.openxmlformats.org/drawingml/2006/main" noGrp="1"/>
          </p:cNvSpPr>
          <p:nvPr/>
        </p:nvSpPr>
        <p:spPr>
          <a:xfrm xmlns:a="http://schemas.openxmlformats.org/drawingml/2006/main">
            <a:off x="3143250" y="29908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6B78"/>
                </a:solidFill>
                <a:latin typeface="Yu Gothic"/>
                <a:ea typeface="Yu Gothic"/>
                <a:cs typeface="Yu Gothic"/>
              </a:defRPr>
            </a:pPr>
            <a:r>
              <a:rPr sz="1500" b="0">
                <a:solidFill>
                  <a:srgbClr val="5D6B78"/>
                </a:solidFill>
                <a:latin typeface="Yu Gothic"/>
                <a:ea typeface="Yu Gothic"/>
                <a:cs typeface="Yu Gothic"/>
              </a:rPr>
              <a:t>Left and right arch segments</a:t>
            </a:r>
          </a:p>
        </p:txBody>
      </p:sp>
      <p:sp>
        <p:nvSpPr>
          <p:cNvPr id="16" name="">
            <a:extLst xmlns:a="http://schemas.openxmlformats.org/drawingml/2006/main">
              <a:ext uri="{FF2B5EF4-FFF2-40B4-BE49-F238E27FC236}">
                <a16:creationId xmlns:a16="http://schemas.microsoft.com/office/drawing/2014/main" id="{6E4793FA-C64F-493C-A870-102466ADD13C}"/>
              </a:ext>
            </a:extLst>
          </p:cNvPr>
          <p:cNvSpPr>
            <a:spLocks xmlns:a="http://schemas.openxmlformats.org/drawingml/2006/main" noGrp="1"/>
          </p:cNvSpPr>
          <p:nvPr/>
        </p:nvSpPr>
        <p:spPr>
          <a:xfrm xmlns:a="http://schemas.openxmlformats.org/drawingml/2006/main">
            <a:off x="6858000" y="29908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72433"/>
                </a:solidFill>
                <a:latin typeface="Yu Gothic"/>
                <a:ea typeface="Yu Gothic"/>
                <a:cs typeface="Yu Gothic"/>
              </a:defRPr>
            </a:pPr>
            <a:r>
              <a:rPr sz="1500" b="1">
                <a:solidFill>
                  <a:srgbClr val="172433"/>
                </a:solidFill>
                <a:latin typeface="Yu Gothic"/>
                <a:ea typeface="Yu Gothic"/>
                <a:cs typeface="Yu Gothic"/>
              </a:rPr>
              <a:t>Few-tooth groups and a smooth combined arch</a:t>
            </a:r>
          </a:p>
        </p:txBody>
      </p:sp>
      <p:sp>
        <p:nvSpPr>
          <p:cNvPr id="17" name="">
            <a:extLst xmlns:a="http://schemas.openxmlformats.org/drawingml/2006/main">
              <a:ext uri="{FF2B5EF4-FFF2-40B4-BE49-F238E27FC236}">
                <a16:creationId xmlns:a16="http://schemas.microsoft.com/office/drawing/2014/main" id="{E3914BA0-9A0B-4C8A-A1D7-997A3DA0C43B}"/>
              </a:ext>
            </a:extLst>
          </p:cNvPr>
          <p:cNvSpPr>
            <a:spLocks xmlns:a="http://schemas.openxmlformats.org/drawingml/2006/main" noGrp="1"/>
          </p:cNvSpPr>
          <p:nvPr/>
        </p:nvSpPr>
        <p:spPr>
          <a:xfrm xmlns:a="http://schemas.openxmlformats.org/drawingml/2006/main">
            <a:off x="647700" y="3867150"/>
            <a:ext cx="10782300" cy="781050"/>
          </a:xfrm>
          <a:prstGeom xmlns:a="http://schemas.openxmlformats.org/drawingml/2006/main" prst="rect">
            <a:avLst/>
          </a:prstGeom>
          <a:solidFill xmlns:a="http://schemas.openxmlformats.org/drawingml/2006/main">
            <a:srgbClr val="F5F7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375512B-AF02-4944-AC35-5E59A2BE1247}"/>
              </a:ext>
            </a:extLst>
          </p:cNvPr>
          <p:cNvSpPr>
            <a:spLocks xmlns:a="http://schemas.openxmlformats.org/drawingml/2006/main" noGrp="1"/>
          </p:cNvSpPr>
          <p:nvPr/>
        </p:nvSpPr>
        <p:spPr>
          <a:xfrm xmlns:a="http://schemas.openxmlformats.org/drawingml/2006/main">
            <a:off x="762000" y="3971925"/>
            <a:ext cx="76200" cy="476250"/>
          </a:xfrm>
          <a:prstGeom xmlns:a="http://schemas.openxmlformats.org/drawingml/2006/main" prst="rect">
            <a:avLst/>
          </a:prstGeom>
          <a:solidFill xmlns:a="http://schemas.openxmlformats.org/drawingml/2006/main">
            <a:srgbClr val="D98C2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725AF5E-76F3-41FC-9AFE-F84C7EE8ED63}"/>
              </a:ext>
            </a:extLst>
          </p:cNvPr>
          <p:cNvSpPr>
            <a:spLocks xmlns:a="http://schemas.openxmlformats.org/drawingml/2006/main" noGrp="1"/>
          </p:cNvSpPr>
          <p:nvPr/>
        </p:nvSpPr>
        <p:spPr>
          <a:xfrm xmlns:a="http://schemas.openxmlformats.org/drawingml/2006/main">
            <a:off x="1000125" y="3943350"/>
            <a:ext cx="1857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Physical scale</a:t>
            </a:r>
          </a:p>
        </p:txBody>
      </p:sp>
      <p:sp>
        <p:nvSpPr>
          <p:cNvPr id="20" name="">
            <a:extLst xmlns:a="http://schemas.openxmlformats.org/drawingml/2006/main">
              <a:ext uri="{FF2B5EF4-FFF2-40B4-BE49-F238E27FC236}">
                <a16:creationId xmlns:a16="http://schemas.microsoft.com/office/drawing/2014/main" id="{6D64D646-D8AB-451F-BA1C-9FA4141F87C2}"/>
              </a:ext>
            </a:extLst>
          </p:cNvPr>
          <p:cNvSpPr>
            <a:spLocks xmlns:a="http://schemas.openxmlformats.org/drawingml/2006/main" noGrp="1"/>
          </p:cNvSpPr>
          <p:nvPr/>
        </p:nvSpPr>
        <p:spPr>
          <a:xfrm xmlns:a="http://schemas.openxmlformats.org/drawingml/2006/main">
            <a:off x="3143250" y="39433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6B78"/>
                </a:solidFill>
                <a:latin typeface="Yu Gothic"/>
                <a:ea typeface="Yu Gothic"/>
                <a:cs typeface="Yu Gothic"/>
              </a:defRPr>
            </a:pPr>
            <a:r>
              <a:rPr sz="1500" b="0">
                <a:solidFill>
                  <a:srgbClr val="5D6B78"/>
                </a:solidFill>
                <a:latin typeface="Yu Gothic"/>
                <a:ea typeface="Yu Gothic"/>
                <a:cs typeface="Yu Gothic"/>
              </a:rPr>
              <a:t>Earlier 0.04 m per unit</a:t>
            </a:r>
          </a:p>
        </p:txBody>
      </p:sp>
      <p:sp>
        <p:nvSpPr>
          <p:cNvPr id="21" name="">
            <a:extLst xmlns:a="http://schemas.openxmlformats.org/drawingml/2006/main">
              <a:ext uri="{FF2B5EF4-FFF2-40B4-BE49-F238E27FC236}">
                <a16:creationId xmlns:a16="http://schemas.microsoft.com/office/drawing/2014/main" id="{B338694C-841B-470B-B43D-8337688C95CE}"/>
              </a:ext>
            </a:extLst>
          </p:cNvPr>
          <p:cNvSpPr>
            <a:spLocks xmlns:a="http://schemas.openxmlformats.org/drawingml/2006/main" noGrp="1"/>
          </p:cNvSpPr>
          <p:nvPr/>
        </p:nvSpPr>
        <p:spPr>
          <a:xfrm xmlns:a="http://schemas.openxmlformats.org/drawingml/2006/main">
            <a:off x="6858000" y="39433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72433"/>
                </a:solidFill>
                <a:latin typeface="Yu Gothic"/>
                <a:ea typeface="Yu Gothic"/>
                <a:cs typeface="Yu Gothic"/>
              </a:defRPr>
            </a:pPr>
            <a:r>
              <a:rPr sz="1500" b="1">
                <a:solidFill>
                  <a:srgbClr val="172433"/>
                </a:solidFill>
                <a:latin typeface="Yu Gothic"/>
                <a:ea typeface="Yu Gothic"/>
                <a:cs typeface="Yu Gothic"/>
              </a:rPr>
              <a:t>0.025 m per unit from marker-based measurement</a:t>
            </a:r>
          </a:p>
        </p:txBody>
      </p:sp>
      <p:sp>
        <p:nvSpPr>
          <p:cNvPr id="22" name="">
            <a:extLst xmlns:a="http://schemas.openxmlformats.org/drawingml/2006/main">
              <a:ext uri="{FF2B5EF4-FFF2-40B4-BE49-F238E27FC236}">
                <a16:creationId xmlns:a16="http://schemas.microsoft.com/office/drawing/2014/main" id="{4BE2E6BF-D16B-4358-A5E7-7C6AC45A2ADE}"/>
              </a:ext>
            </a:extLst>
          </p:cNvPr>
          <p:cNvSpPr>
            <a:spLocks xmlns:a="http://schemas.openxmlformats.org/drawingml/2006/main" noGrp="1"/>
          </p:cNvSpPr>
          <p:nvPr/>
        </p:nvSpPr>
        <p:spPr>
          <a:xfrm xmlns:a="http://schemas.openxmlformats.org/drawingml/2006/main">
            <a:off x="762000" y="4924425"/>
            <a:ext cx="76200" cy="4762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57FA385-0087-4423-8DFA-FD21BEC4CB90}"/>
              </a:ext>
            </a:extLst>
          </p:cNvPr>
          <p:cNvSpPr>
            <a:spLocks xmlns:a="http://schemas.openxmlformats.org/drawingml/2006/main" noGrp="1"/>
          </p:cNvSpPr>
          <p:nvPr/>
        </p:nvSpPr>
        <p:spPr>
          <a:xfrm xmlns:a="http://schemas.openxmlformats.org/drawingml/2006/main">
            <a:off x="1000125" y="4895850"/>
            <a:ext cx="1857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Camera and overlay</a:t>
            </a:r>
          </a:p>
        </p:txBody>
      </p:sp>
      <p:sp>
        <p:nvSpPr>
          <p:cNvPr id="24" name="">
            <a:extLst xmlns:a="http://schemas.openxmlformats.org/drawingml/2006/main">
              <a:ext uri="{FF2B5EF4-FFF2-40B4-BE49-F238E27FC236}">
                <a16:creationId xmlns:a16="http://schemas.microsoft.com/office/drawing/2014/main" id="{778F95A0-8F0F-4A94-86BB-B541B4630B29}"/>
              </a:ext>
            </a:extLst>
          </p:cNvPr>
          <p:cNvSpPr>
            <a:spLocks xmlns:a="http://schemas.openxmlformats.org/drawingml/2006/main" noGrp="1"/>
          </p:cNvSpPr>
          <p:nvPr/>
        </p:nvSpPr>
        <p:spPr>
          <a:xfrm xmlns:a="http://schemas.openxmlformats.org/drawingml/2006/main">
            <a:off x="3143250" y="48958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5D6B78"/>
                </a:solidFill>
                <a:latin typeface="Yu Gothic"/>
                <a:ea typeface="Yu Gothic"/>
                <a:cs typeface="Yu Gothic"/>
              </a:defRPr>
            </a:pPr>
            <a:r>
              <a:rPr sz="1500" b="0">
                <a:solidFill>
                  <a:srgbClr val="5D6B78"/>
                </a:solidFill>
                <a:latin typeface="Yu Gothic"/>
                <a:ea typeface="Yu Gothic"/>
                <a:cs typeface="Yu Gothic"/>
              </a:rPr>
              <a:t>Submitted prototype</a:t>
            </a:r>
          </a:p>
        </p:txBody>
      </p:sp>
      <p:sp>
        <p:nvSpPr>
          <p:cNvPr id="25" name="">
            <a:extLst xmlns:a="http://schemas.openxmlformats.org/drawingml/2006/main">
              <a:ext uri="{FF2B5EF4-FFF2-40B4-BE49-F238E27FC236}">
                <a16:creationId xmlns:a16="http://schemas.microsoft.com/office/drawing/2014/main" id="{6FEBD151-C530-4187-9823-6B79C4192F34}"/>
              </a:ext>
            </a:extLst>
          </p:cNvPr>
          <p:cNvSpPr>
            <a:spLocks xmlns:a="http://schemas.openxmlformats.org/drawingml/2006/main" noGrp="1"/>
          </p:cNvSpPr>
          <p:nvPr/>
        </p:nvSpPr>
        <p:spPr>
          <a:xfrm xmlns:a="http://schemas.openxmlformats.org/drawingml/2006/main">
            <a:off x="6858000" y="48958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72433"/>
                </a:solidFill>
                <a:latin typeface="Yu Gothic"/>
                <a:ea typeface="Yu Gothic"/>
                <a:cs typeface="Yu Gothic"/>
              </a:defRPr>
            </a:pPr>
            <a:r>
              <a:rPr sz="1500" b="1">
                <a:solidFill>
                  <a:srgbClr val="172433"/>
                </a:solidFill>
                <a:latin typeface="Yu Gothic"/>
                <a:ea typeface="Yu Gothic"/>
                <a:cs typeface="Yu Gothic"/>
              </a:rPr>
              <a:t>720p calibration and corrected Unity transform</a:t>
            </a:r>
          </a:p>
        </p:txBody>
      </p:sp>
    </p:spTree>
    <p:extLst>
      <p:ext uri="{BB962C8B-B14F-4D97-AF65-F5344CB8AC3E}">
        <p14:creationId xmlns:p14="http://schemas.microsoft.com/office/powerpoint/2010/main" val="8347699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374FEE-2CAB-42CC-BC22-045EC6692B3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3606E5-6BF2-424B-B62D-DA88D352EB20}"/>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MONTHLY PROGRESS</a:t>
            </a:r>
          </a:p>
        </p:txBody>
      </p:sp>
      <p:sp>
        <p:nvSpPr>
          <p:cNvPr id="3" name="">
            <a:extLst xmlns:a="http://schemas.openxmlformats.org/drawingml/2006/main">
              <a:ext uri="{FF2B5EF4-FFF2-40B4-BE49-F238E27FC236}">
                <a16:creationId xmlns:a16="http://schemas.microsoft.com/office/drawing/2014/main" id="{5D1CDAC4-9041-4B50-8AEE-60CD2247F5D1}"/>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Tracking stability and recovery</a:t>
            </a:r>
          </a:p>
        </p:txBody>
      </p:sp>
      <p:sp>
        <p:nvSpPr>
          <p:cNvPr id="4" name="">
            <a:extLst xmlns:a="http://schemas.openxmlformats.org/drawingml/2006/main">
              <a:ext uri="{FF2B5EF4-FFF2-40B4-BE49-F238E27FC236}">
                <a16:creationId xmlns:a16="http://schemas.microsoft.com/office/drawing/2014/main" id="{1793E395-A594-4B41-94FE-5C742505160D}"/>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F140306E-711E-4B97-8C2B-99AB859407AF}"/>
              </a:ext>
            </a:extLst>
          </p:cNvPr>
          <p:cNvSpPr>
            <a:spLocks xmlns:a="http://schemas.openxmlformats.org/drawingml/2006/main" noGrp="1"/>
          </p:cNvSpPr>
          <p:nvPr/>
        </p:nvSpPr>
        <p:spPr>
          <a:xfrm xmlns:a="http://schemas.openxmlformats.org/drawingml/2006/main">
            <a:off x="857250" y="1809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00" b="1">
                <a:solidFill>
                  <a:srgbClr val="1C6E9E"/>
                </a:solidFill>
                <a:latin typeface="Yu Gothic"/>
                <a:ea typeface="Yu Gothic"/>
                <a:cs typeface="Yu Gothic"/>
              </a:defRPr>
            </a:pPr>
            <a:r>
              <a:rPr sz="2400" b="1">
                <a:solidFill>
                  <a:srgbClr val="1C6E9E"/>
                </a:solidFill>
                <a:latin typeface="Yu Gothic"/>
                <a:ea typeface="Yu Gothic"/>
                <a:cs typeface="Yu Gothic"/>
              </a:rPr>
              <a:t>1</a:t>
            </a:r>
          </a:p>
        </p:txBody>
      </p:sp>
      <p:sp>
        <p:nvSpPr>
          <p:cNvPr id="6" name="">
            <a:extLst xmlns:a="http://schemas.openxmlformats.org/drawingml/2006/main">
              <a:ext uri="{FF2B5EF4-FFF2-40B4-BE49-F238E27FC236}">
                <a16:creationId xmlns:a16="http://schemas.microsoft.com/office/drawing/2014/main" id="{A7E58C15-D747-430B-A6B5-BF97962B5667}"/>
              </a:ext>
            </a:extLst>
          </p:cNvPr>
          <p:cNvSpPr>
            <a:spLocks xmlns:a="http://schemas.openxmlformats.org/drawingml/2006/main" noGrp="1"/>
          </p:cNvSpPr>
          <p:nvPr/>
        </p:nvSpPr>
        <p:spPr>
          <a:xfrm xmlns:a="http://schemas.openxmlformats.org/drawingml/2006/main">
            <a:off x="1447800" y="1857375"/>
            <a:ext cx="157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53F"/>
                </a:solidFill>
                <a:latin typeface="Yu Gothic"/>
                <a:ea typeface="Yu Gothic"/>
                <a:cs typeface="Yu Gothic"/>
              </a:defRPr>
            </a:pPr>
            <a:r>
              <a:rPr sz="1800" b="1">
                <a:solidFill>
                  <a:srgbClr val="10253F"/>
                </a:solidFill>
                <a:latin typeface="Yu Gothic"/>
                <a:ea typeface="Yu Gothic"/>
                <a:cs typeface="Yu Gothic"/>
              </a:rPr>
              <a:t>Track</a:t>
            </a:r>
          </a:p>
        </p:txBody>
      </p:sp>
      <p:sp>
        <p:nvSpPr>
          <p:cNvPr id="7" name="">
            <a:extLst xmlns:a="http://schemas.openxmlformats.org/drawingml/2006/main">
              <a:ext uri="{FF2B5EF4-FFF2-40B4-BE49-F238E27FC236}">
                <a16:creationId xmlns:a16="http://schemas.microsoft.com/office/drawing/2014/main" id="{3E603DE5-635B-4CFD-B275-A32C4A6CE148}"/>
              </a:ext>
            </a:extLst>
          </p:cNvPr>
          <p:cNvSpPr>
            <a:spLocks xmlns:a="http://schemas.openxmlformats.org/drawingml/2006/main" noGrp="1"/>
          </p:cNvSpPr>
          <p:nvPr/>
        </p:nvSpPr>
        <p:spPr>
          <a:xfrm xmlns:a="http://schemas.openxmlformats.org/drawingml/2006/main">
            <a:off x="857250" y="2524125"/>
            <a:ext cx="209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72433"/>
                </a:solidFill>
                <a:latin typeface="Yu Gothic"/>
                <a:ea typeface="Yu Gothic"/>
                <a:cs typeface="Yu Gothic"/>
              </a:defRPr>
            </a:pPr>
            <a:r>
              <a:rPr sz="1575" b="0">
                <a:solidFill>
                  <a:srgbClr val="172433"/>
                </a:solidFill>
                <a:latin typeface="Yu Gothic"/>
                <a:ea typeface="Yu Gothic"/>
                <a:cs typeface="Yu Gothic"/>
              </a:rPr>
              <a:t>M3T updates the pose from the current camera frame.</a:t>
            </a:r>
          </a:p>
        </p:txBody>
      </p:sp>
      <p:sp>
        <p:nvSpPr>
          <p:cNvPr id="8" name="">
            <a:extLst xmlns:a="http://schemas.openxmlformats.org/drawingml/2006/main">
              <a:ext uri="{FF2B5EF4-FFF2-40B4-BE49-F238E27FC236}">
                <a16:creationId xmlns:a16="http://schemas.microsoft.com/office/drawing/2014/main" id="{75B1D8D8-F5F6-4082-8FCC-EE5F71E8E3CB}"/>
              </a:ext>
            </a:extLst>
          </p:cNvPr>
          <p:cNvSpPr>
            <a:spLocks xmlns:a="http://schemas.openxmlformats.org/drawingml/2006/main" noGrp="1"/>
          </p:cNvSpPr>
          <p:nvPr/>
        </p:nvSpPr>
        <p:spPr>
          <a:xfrm xmlns:a="http://schemas.openxmlformats.org/drawingml/2006/main">
            <a:off x="3095625" y="195262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5B6C8"/>
                </a:solidFill>
                <a:latin typeface="Yu Gothic"/>
                <a:ea typeface="Yu Gothic"/>
                <a:cs typeface="Yu Gothic"/>
              </a:defRPr>
            </a:pPr>
            <a:r>
              <a:rPr sz="2250" b="1">
                <a:solidFill>
                  <a:srgbClr val="35B6C8"/>
                </a:solidFill>
                <a:latin typeface="Yu Gothic"/>
                <a:ea typeface="Yu Gothic"/>
                <a:cs typeface="Yu Gothic"/>
              </a:rPr>
              <a:t>&gt;</a:t>
            </a:r>
          </a:p>
        </p:txBody>
      </p:sp>
      <p:sp>
        <p:nvSpPr>
          <p:cNvPr id="9" name="">
            <a:extLst xmlns:a="http://schemas.openxmlformats.org/drawingml/2006/main">
              <a:ext uri="{FF2B5EF4-FFF2-40B4-BE49-F238E27FC236}">
                <a16:creationId xmlns:a16="http://schemas.microsoft.com/office/drawing/2014/main" id="{4D256CAA-6235-45A5-9F32-AA210B7AFF09}"/>
              </a:ext>
            </a:extLst>
          </p:cNvPr>
          <p:cNvSpPr>
            <a:spLocks xmlns:a="http://schemas.openxmlformats.org/drawingml/2006/main" noGrp="1"/>
          </p:cNvSpPr>
          <p:nvPr/>
        </p:nvSpPr>
        <p:spPr>
          <a:xfrm xmlns:a="http://schemas.openxmlformats.org/drawingml/2006/main">
            <a:off x="3667125" y="1809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00" b="1">
                <a:solidFill>
                  <a:srgbClr val="2E8B70"/>
                </a:solidFill>
                <a:latin typeface="Yu Gothic"/>
                <a:ea typeface="Yu Gothic"/>
                <a:cs typeface="Yu Gothic"/>
              </a:defRPr>
            </a:pPr>
            <a:r>
              <a:rPr sz="2400" b="1">
                <a:solidFill>
                  <a:srgbClr val="2E8B70"/>
                </a:solidFill>
                <a:latin typeface="Yu Gothic"/>
                <a:ea typeface="Yu Gothic"/>
                <a:cs typeface="Yu Gothic"/>
              </a:rPr>
              <a:t>2</a:t>
            </a:r>
          </a:p>
        </p:txBody>
      </p:sp>
      <p:sp>
        <p:nvSpPr>
          <p:cNvPr id="10" name="">
            <a:extLst xmlns:a="http://schemas.openxmlformats.org/drawingml/2006/main">
              <a:ext uri="{FF2B5EF4-FFF2-40B4-BE49-F238E27FC236}">
                <a16:creationId xmlns:a16="http://schemas.microsoft.com/office/drawing/2014/main" id="{2ABD852F-8925-4C22-8C4A-A226CF8A3920}"/>
              </a:ext>
            </a:extLst>
          </p:cNvPr>
          <p:cNvSpPr>
            <a:spLocks xmlns:a="http://schemas.openxmlformats.org/drawingml/2006/main" noGrp="1"/>
          </p:cNvSpPr>
          <p:nvPr/>
        </p:nvSpPr>
        <p:spPr>
          <a:xfrm xmlns:a="http://schemas.openxmlformats.org/drawingml/2006/main">
            <a:off x="4257675" y="1857375"/>
            <a:ext cx="157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53F"/>
                </a:solidFill>
                <a:latin typeface="Yu Gothic"/>
                <a:ea typeface="Yu Gothic"/>
                <a:cs typeface="Yu Gothic"/>
              </a:defRPr>
            </a:pPr>
            <a:r>
              <a:rPr sz="1800" b="1">
                <a:solidFill>
                  <a:srgbClr val="10253F"/>
                </a:solidFill>
                <a:latin typeface="Yu Gothic"/>
                <a:ea typeface="Yu Gothic"/>
                <a:cs typeface="Yu Gothic"/>
              </a:rPr>
              <a:t>Evaluate</a:t>
            </a:r>
          </a:p>
        </p:txBody>
      </p:sp>
      <p:sp>
        <p:nvSpPr>
          <p:cNvPr id="11" name="">
            <a:extLst xmlns:a="http://schemas.openxmlformats.org/drawingml/2006/main">
              <a:ext uri="{FF2B5EF4-FFF2-40B4-BE49-F238E27FC236}">
                <a16:creationId xmlns:a16="http://schemas.microsoft.com/office/drawing/2014/main" id="{47CBB337-2DE2-4205-9DF7-B7B3424F2805}"/>
              </a:ext>
            </a:extLst>
          </p:cNvPr>
          <p:cNvSpPr>
            <a:spLocks xmlns:a="http://schemas.openxmlformats.org/drawingml/2006/main" noGrp="1"/>
          </p:cNvSpPr>
          <p:nvPr/>
        </p:nvSpPr>
        <p:spPr>
          <a:xfrm xmlns:a="http://schemas.openxmlformats.org/drawingml/2006/main">
            <a:off x="3667125" y="2524125"/>
            <a:ext cx="209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72433"/>
                </a:solidFill>
                <a:latin typeface="Yu Gothic"/>
                <a:ea typeface="Yu Gothic"/>
                <a:cs typeface="Yu Gothic"/>
              </a:defRPr>
            </a:pPr>
            <a:r>
              <a:rPr sz="1575" b="0">
                <a:solidFill>
                  <a:srgbClr val="172433"/>
                </a:solidFill>
                <a:latin typeface="Yu Gothic"/>
                <a:ea typeface="Yu Gothic"/>
                <a:cs typeface="Yu Gothic"/>
              </a:rPr>
              <a:t>Projected model edges are compared with image edges.</a:t>
            </a:r>
          </a:p>
        </p:txBody>
      </p:sp>
      <p:sp>
        <p:nvSpPr>
          <p:cNvPr id="12" name="">
            <a:extLst xmlns:a="http://schemas.openxmlformats.org/drawingml/2006/main">
              <a:ext uri="{FF2B5EF4-FFF2-40B4-BE49-F238E27FC236}">
                <a16:creationId xmlns:a16="http://schemas.microsoft.com/office/drawing/2014/main" id="{FED41BA0-C06D-422B-B854-0FB36FDD93D9}"/>
              </a:ext>
            </a:extLst>
          </p:cNvPr>
          <p:cNvSpPr>
            <a:spLocks xmlns:a="http://schemas.openxmlformats.org/drawingml/2006/main" noGrp="1"/>
          </p:cNvSpPr>
          <p:nvPr/>
        </p:nvSpPr>
        <p:spPr>
          <a:xfrm xmlns:a="http://schemas.openxmlformats.org/drawingml/2006/main">
            <a:off x="5905500" y="195262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5B6C8"/>
                </a:solidFill>
                <a:latin typeface="Yu Gothic"/>
                <a:ea typeface="Yu Gothic"/>
                <a:cs typeface="Yu Gothic"/>
              </a:defRPr>
            </a:pPr>
            <a:r>
              <a:rPr sz="2250" b="1">
                <a:solidFill>
                  <a:srgbClr val="35B6C8"/>
                </a:solidFill>
                <a:latin typeface="Yu Gothic"/>
                <a:ea typeface="Yu Gothic"/>
                <a:cs typeface="Yu Gothic"/>
              </a:rPr>
              <a:t>&gt;</a:t>
            </a:r>
          </a:p>
        </p:txBody>
      </p:sp>
      <p:sp>
        <p:nvSpPr>
          <p:cNvPr id="13" name="">
            <a:extLst xmlns:a="http://schemas.openxmlformats.org/drawingml/2006/main">
              <a:ext uri="{FF2B5EF4-FFF2-40B4-BE49-F238E27FC236}">
                <a16:creationId xmlns:a16="http://schemas.microsoft.com/office/drawing/2014/main" id="{AE4D0348-E613-44D0-95B9-C219DD2B3F72}"/>
              </a:ext>
            </a:extLst>
          </p:cNvPr>
          <p:cNvSpPr>
            <a:spLocks xmlns:a="http://schemas.openxmlformats.org/drawingml/2006/main" noGrp="1"/>
          </p:cNvSpPr>
          <p:nvPr/>
        </p:nvSpPr>
        <p:spPr>
          <a:xfrm xmlns:a="http://schemas.openxmlformats.org/drawingml/2006/main">
            <a:off x="6477000" y="1809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00" b="1">
                <a:solidFill>
                  <a:srgbClr val="D98C2B"/>
                </a:solidFill>
                <a:latin typeface="Yu Gothic"/>
                <a:ea typeface="Yu Gothic"/>
                <a:cs typeface="Yu Gothic"/>
              </a:defRPr>
            </a:pPr>
            <a:r>
              <a:rPr sz="2400" b="1">
                <a:solidFill>
                  <a:srgbClr val="D98C2B"/>
                </a:solidFill>
                <a:latin typeface="Yu Gothic"/>
                <a:ea typeface="Yu Gothic"/>
                <a:cs typeface="Yu Gothic"/>
              </a:rPr>
              <a:t>3</a:t>
            </a:r>
          </a:p>
        </p:txBody>
      </p:sp>
      <p:sp>
        <p:nvSpPr>
          <p:cNvPr id="14" name="">
            <a:extLst xmlns:a="http://schemas.openxmlformats.org/drawingml/2006/main">
              <a:ext uri="{FF2B5EF4-FFF2-40B4-BE49-F238E27FC236}">
                <a16:creationId xmlns:a16="http://schemas.microsoft.com/office/drawing/2014/main" id="{183C0B87-7FAE-42D2-9461-53315C74991E}"/>
              </a:ext>
            </a:extLst>
          </p:cNvPr>
          <p:cNvSpPr>
            <a:spLocks xmlns:a="http://schemas.openxmlformats.org/drawingml/2006/main" noGrp="1"/>
          </p:cNvSpPr>
          <p:nvPr/>
        </p:nvSpPr>
        <p:spPr>
          <a:xfrm xmlns:a="http://schemas.openxmlformats.org/drawingml/2006/main">
            <a:off x="7067550" y="1857375"/>
            <a:ext cx="157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53F"/>
                </a:solidFill>
                <a:latin typeface="Yu Gothic"/>
                <a:ea typeface="Yu Gothic"/>
                <a:cs typeface="Yu Gothic"/>
              </a:defRPr>
            </a:pPr>
            <a:r>
              <a:rPr sz="1800" b="1">
                <a:solidFill>
                  <a:srgbClr val="10253F"/>
                </a:solidFill>
                <a:latin typeface="Yu Gothic"/>
                <a:ea typeface="Yu Gothic"/>
                <a:cs typeface="Yu Gothic"/>
              </a:rPr>
              <a:t>Hold</a:t>
            </a:r>
          </a:p>
        </p:txBody>
      </p:sp>
      <p:sp>
        <p:nvSpPr>
          <p:cNvPr id="15" name="">
            <a:extLst xmlns:a="http://schemas.openxmlformats.org/drawingml/2006/main">
              <a:ext uri="{FF2B5EF4-FFF2-40B4-BE49-F238E27FC236}">
                <a16:creationId xmlns:a16="http://schemas.microsoft.com/office/drawing/2014/main" id="{AFCB4A2C-A41B-4464-893C-3BA6BCB2A88F}"/>
              </a:ext>
            </a:extLst>
          </p:cNvPr>
          <p:cNvSpPr>
            <a:spLocks xmlns:a="http://schemas.openxmlformats.org/drawingml/2006/main" noGrp="1"/>
          </p:cNvSpPr>
          <p:nvPr/>
        </p:nvSpPr>
        <p:spPr>
          <a:xfrm xmlns:a="http://schemas.openxmlformats.org/drawingml/2006/main">
            <a:off x="6477000" y="2524125"/>
            <a:ext cx="209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72433"/>
                </a:solidFill>
                <a:latin typeface="Yu Gothic"/>
                <a:ea typeface="Yu Gothic"/>
                <a:cs typeface="Yu Gothic"/>
              </a:defRPr>
            </a:pPr>
            <a:r>
              <a:rPr sz="1575" b="0">
                <a:solidFill>
                  <a:srgbClr val="172433"/>
                </a:solidFill>
                <a:latin typeface="Yu Gothic"/>
                <a:ea typeface="Yu Gothic"/>
                <a:cs typeface="Yu Gothic"/>
              </a:rPr>
              <a:t>The last reliable pose is kept during short occlusion.</a:t>
            </a:r>
          </a:p>
        </p:txBody>
      </p:sp>
      <p:sp>
        <p:nvSpPr>
          <p:cNvPr id="16" name="">
            <a:extLst xmlns:a="http://schemas.openxmlformats.org/drawingml/2006/main">
              <a:ext uri="{FF2B5EF4-FFF2-40B4-BE49-F238E27FC236}">
                <a16:creationId xmlns:a16="http://schemas.microsoft.com/office/drawing/2014/main" id="{0A16DBA4-DA92-4033-8B3A-8CA6516FF59F}"/>
              </a:ext>
            </a:extLst>
          </p:cNvPr>
          <p:cNvSpPr>
            <a:spLocks xmlns:a="http://schemas.openxmlformats.org/drawingml/2006/main" noGrp="1"/>
          </p:cNvSpPr>
          <p:nvPr/>
        </p:nvSpPr>
        <p:spPr>
          <a:xfrm xmlns:a="http://schemas.openxmlformats.org/drawingml/2006/main">
            <a:off x="8715375" y="195262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5B6C8"/>
                </a:solidFill>
                <a:latin typeface="Yu Gothic"/>
                <a:ea typeface="Yu Gothic"/>
                <a:cs typeface="Yu Gothic"/>
              </a:defRPr>
            </a:pPr>
            <a:r>
              <a:rPr sz="2250" b="1">
                <a:solidFill>
                  <a:srgbClr val="35B6C8"/>
                </a:solidFill>
                <a:latin typeface="Yu Gothic"/>
                <a:ea typeface="Yu Gothic"/>
                <a:cs typeface="Yu Gothic"/>
              </a:rPr>
              <a:t>&gt;</a:t>
            </a:r>
          </a:p>
        </p:txBody>
      </p:sp>
      <p:sp>
        <p:nvSpPr>
          <p:cNvPr id="17" name="">
            <a:extLst xmlns:a="http://schemas.openxmlformats.org/drawingml/2006/main">
              <a:ext uri="{FF2B5EF4-FFF2-40B4-BE49-F238E27FC236}">
                <a16:creationId xmlns:a16="http://schemas.microsoft.com/office/drawing/2014/main" id="{5340318D-EF26-4251-AA51-4B8FA5926BC3}"/>
              </a:ext>
            </a:extLst>
          </p:cNvPr>
          <p:cNvSpPr>
            <a:spLocks xmlns:a="http://schemas.openxmlformats.org/drawingml/2006/main" noGrp="1"/>
          </p:cNvSpPr>
          <p:nvPr/>
        </p:nvSpPr>
        <p:spPr>
          <a:xfrm xmlns:a="http://schemas.openxmlformats.org/drawingml/2006/main">
            <a:off x="9286875" y="1809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00" b="1">
                <a:solidFill>
                  <a:srgbClr val="C9504D"/>
                </a:solidFill>
                <a:latin typeface="Yu Gothic"/>
                <a:ea typeface="Yu Gothic"/>
                <a:cs typeface="Yu Gothic"/>
              </a:defRPr>
            </a:pPr>
            <a:r>
              <a:rPr sz="2400" b="1">
                <a:solidFill>
                  <a:srgbClr val="C9504D"/>
                </a:solidFill>
                <a:latin typeface="Yu Gothic"/>
                <a:ea typeface="Yu Gothic"/>
                <a:cs typeface="Yu Gothic"/>
              </a:rPr>
              <a:t>4</a:t>
            </a:r>
          </a:p>
        </p:txBody>
      </p:sp>
      <p:sp>
        <p:nvSpPr>
          <p:cNvPr id="18" name="">
            <a:extLst xmlns:a="http://schemas.openxmlformats.org/drawingml/2006/main">
              <a:ext uri="{FF2B5EF4-FFF2-40B4-BE49-F238E27FC236}">
                <a16:creationId xmlns:a16="http://schemas.microsoft.com/office/drawing/2014/main" id="{1E41F4DC-74C2-4AD4-B7B9-682E7BDC7DB1}"/>
              </a:ext>
            </a:extLst>
          </p:cNvPr>
          <p:cNvSpPr>
            <a:spLocks xmlns:a="http://schemas.openxmlformats.org/drawingml/2006/main" noGrp="1"/>
          </p:cNvSpPr>
          <p:nvPr/>
        </p:nvSpPr>
        <p:spPr>
          <a:xfrm xmlns:a="http://schemas.openxmlformats.org/drawingml/2006/main">
            <a:off x="9877425" y="1857375"/>
            <a:ext cx="157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0253F"/>
                </a:solidFill>
                <a:latin typeface="Yu Gothic"/>
                <a:ea typeface="Yu Gothic"/>
                <a:cs typeface="Yu Gothic"/>
              </a:defRPr>
            </a:pPr>
            <a:r>
              <a:rPr sz="1800" b="1">
                <a:solidFill>
                  <a:srgbClr val="10253F"/>
                </a:solidFill>
                <a:latin typeface="Yu Gothic"/>
                <a:ea typeface="Yu Gothic"/>
                <a:cs typeface="Yu Gothic"/>
              </a:rPr>
              <a:t>Relock</a:t>
            </a:r>
          </a:p>
        </p:txBody>
      </p:sp>
      <p:sp>
        <p:nvSpPr>
          <p:cNvPr id="19" name="">
            <a:extLst xmlns:a="http://schemas.openxmlformats.org/drawingml/2006/main">
              <a:ext uri="{FF2B5EF4-FFF2-40B4-BE49-F238E27FC236}">
                <a16:creationId xmlns:a16="http://schemas.microsoft.com/office/drawing/2014/main" id="{EBEA5177-B69A-443A-B737-BFBE2524D9ED}"/>
              </a:ext>
            </a:extLst>
          </p:cNvPr>
          <p:cNvSpPr>
            <a:spLocks xmlns:a="http://schemas.openxmlformats.org/drawingml/2006/main" noGrp="1"/>
          </p:cNvSpPr>
          <p:nvPr/>
        </p:nvSpPr>
        <p:spPr>
          <a:xfrm xmlns:a="http://schemas.openxmlformats.org/drawingml/2006/main">
            <a:off x="9286875" y="2524125"/>
            <a:ext cx="209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172433"/>
                </a:solidFill>
                <a:latin typeface="Yu Gothic"/>
                <a:ea typeface="Yu Gothic"/>
                <a:cs typeface="Yu Gothic"/>
              </a:defRPr>
            </a:pPr>
            <a:r>
              <a:rPr sz="1575" b="0">
                <a:solidFill>
                  <a:srgbClr val="172433"/>
                </a:solidFill>
                <a:latin typeface="Yu Gothic"/>
                <a:ea typeface="Yu Gothic"/>
                <a:cs typeface="Yu Gothic"/>
              </a:rPr>
              <a:t>A wider pose search runs after sustained quality loss.</a:t>
            </a:r>
          </a:p>
        </p:txBody>
      </p:sp>
      <p:sp>
        <p:nvSpPr>
          <p:cNvPr id="20" name="">
            <a:extLst xmlns:a="http://schemas.openxmlformats.org/drawingml/2006/main">
              <a:ext uri="{FF2B5EF4-FFF2-40B4-BE49-F238E27FC236}">
                <a16:creationId xmlns:a16="http://schemas.microsoft.com/office/drawing/2014/main" id="{E7F48DE5-148C-4F46-8AD3-E2390F08CFC0}"/>
              </a:ext>
            </a:extLst>
          </p:cNvPr>
          <p:cNvSpPr>
            <a:spLocks xmlns:a="http://schemas.openxmlformats.org/drawingml/2006/main" noGrp="1"/>
          </p:cNvSpPr>
          <p:nvPr/>
        </p:nvSpPr>
        <p:spPr>
          <a:xfrm xmlns:a="http://schemas.openxmlformats.org/drawingml/2006/main">
            <a:off x="800100" y="4333875"/>
            <a:ext cx="10572750" cy="1066800"/>
          </a:xfrm>
          <a:prstGeom xmlns:a="http://schemas.openxmlformats.org/drawingml/2006/main" prst="roundRect">
            <a:avLst>
              <a:gd name="adj" fmla="val 7143"/>
            </a:avLst>
          </a:prstGeom>
          <a:solidFill xmlns:a="http://schemas.openxmlformats.org/drawingml/2006/main">
            <a:srgbClr val="EAF4F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F32ACAA-44EA-4C59-8500-11BC5EFE4783}"/>
              </a:ext>
            </a:extLst>
          </p:cNvPr>
          <p:cNvSpPr>
            <a:spLocks xmlns:a="http://schemas.openxmlformats.org/drawingml/2006/main" noGrp="1"/>
          </p:cNvSpPr>
          <p:nvPr/>
        </p:nvSpPr>
        <p:spPr>
          <a:xfrm xmlns:a="http://schemas.openxmlformats.org/drawingml/2006/main">
            <a:off x="1028700" y="45529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1C6E9E"/>
                </a:solidFill>
                <a:latin typeface="Yu Gothic"/>
                <a:ea typeface="Yu Gothic"/>
                <a:cs typeface="Yu Gothic"/>
              </a:defRPr>
            </a:pPr>
            <a:r>
              <a:rPr sz="1500" b="1">
                <a:solidFill>
                  <a:srgbClr val="1C6E9E"/>
                </a:solidFill>
                <a:latin typeface="Yu Gothic"/>
                <a:ea typeface="Yu Gothic"/>
                <a:cs typeface="Yu Gothic"/>
              </a:rPr>
              <a:t>Current M3T quality logic</a:t>
            </a:r>
          </a:p>
        </p:txBody>
      </p:sp>
      <p:sp>
        <p:nvSpPr>
          <p:cNvPr id="22" name="">
            <a:extLst xmlns:a="http://schemas.openxmlformats.org/drawingml/2006/main">
              <a:ext uri="{FF2B5EF4-FFF2-40B4-BE49-F238E27FC236}">
                <a16:creationId xmlns:a16="http://schemas.microsoft.com/office/drawing/2014/main" id="{D1969952-0C2F-4F5C-9E58-4AD3C7469312}"/>
              </a:ext>
            </a:extLst>
          </p:cNvPr>
          <p:cNvSpPr>
            <a:spLocks xmlns:a="http://schemas.openxmlformats.org/drawingml/2006/main" noGrp="1"/>
          </p:cNvSpPr>
          <p:nvPr/>
        </p:nvSpPr>
        <p:spPr>
          <a:xfrm xmlns:a="http://schemas.openxmlformats.org/drawingml/2006/main">
            <a:off x="3524250" y="452437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433"/>
                </a:solidFill>
                <a:latin typeface="Yu Gothic"/>
                <a:ea typeface="Yu Gothic"/>
                <a:cs typeface="Yu Gothic"/>
              </a:defRPr>
            </a:pPr>
            <a:r>
              <a:rPr sz="1725" b="0">
                <a:solidFill>
                  <a:srgbClr val="172433"/>
                </a:solidFill>
                <a:latin typeface="Yu Gothic"/>
                <a:ea typeface="Yu Gothic"/>
                <a:cs typeface="Yu Gothic"/>
              </a:rPr>
              <a:t>EMA smoothing reduces frame-to-frame noise. Quality checks run on a downscaled image to preserve speed and threshold consistency.</a:t>
            </a:r>
          </a:p>
        </p:txBody>
      </p:sp>
      <p:sp>
        <p:nvSpPr>
          <p:cNvPr id="23" name="">
            <a:extLst xmlns:a="http://schemas.openxmlformats.org/drawingml/2006/main">
              <a:ext uri="{FF2B5EF4-FFF2-40B4-BE49-F238E27FC236}">
                <a16:creationId xmlns:a16="http://schemas.microsoft.com/office/drawing/2014/main" id="{90E55C4B-3D69-4824-9B22-2889BB28EC67}"/>
              </a:ext>
            </a:extLst>
          </p:cNvPr>
          <p:cNvSpPr>
            <a:spLocks xmlns:a="http://schemas.openxmlformats.org/drawingml/2006/main" noGrp="1"/>
          </p:cNvSpPr>
          <p:nvPr/>
        </p:nvSpPr>
        <p:spPr>
          <a:xfrm xmlns:a="http://schemas.openxmlformats.org/drawingml/2006/main">
            <a:off x="895350" y="57626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04D"/>
                </a:solidFill>
                <a:latin typeface="Yu Gothic"/>
                <a:ea typeface="Yu Gothic"/>
                <a:cs typeface="Yu Gothic"/>
              </a:defRPr>
            </a:pPr>
            <a:r>
              <a:rPr sz="1425" b="1">
                <a:solidFill>
                  <a:srgbClr val="C9504D"/>
                </a:solidFill>
                <a:latin typeface="Yu Gothic"/>
                <a:ea typeface="Yu Gothic"/>
                <a:cs typeface="Yu Gothic"/>
              </a:rPr>
              <a:t>Evidence still needed: repeatable accuracy and recovery measurements under the intended demo conditions.</a:t>
            </a:r>
          </a:p>
        </p:txBody>
      </p:sp>
    </p:spTree>
    <p:extLst>
      <p:ext uri="{BB962C8B-B14F-4D97-AF65-F5344CB8AC3E}">
        <p14:creationId xmlns:p14="http://schemas.microsoft.com/office/powerpoint/2010/main" val="9890678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172599-98D0-4927-8572-C159E896F4E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8E67D6-3778-4F13-A940-A6027F868B20}"/>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MONTHLY PROGRESS</a:t>
            </a:r>
          </a:p>
        </p:txBody>
      </p:sp>
      <p:sp>
        <p:nvSpPr>
          <p:cNvPr id="3" name="">
            <a:extLst xmlns:a="http://schemas.openxmlformats.org/drawingml/2006/main">
              <a:ext uri="{FF2B5EF4-FFF2-40B4-BE49-F238E27FC236}">
                <a16:creationId xmlns:a16="http://schemas.microsoft.com/office/drawing/2014/main" id="{A18A6B9E-F821-441C-AFD8-B1711E323052}"/>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Critical difference before the demo</a:t>
            </a:r>
          </a:p>
        </p:txBody>
      </p:sp>
      <p:sp>
        <p:nvSpPr>
          <p:cNvPr id="4" name="">
            <a:extLst xmlns:a="http://schemas.openxmlformats.org/drawingml/2006/main">
              <a:ext uri="{FF2B5EF4-FFF2-40B4-BE49-F238E27FC236}">
                <a16:creationId xmlns:a16="http://schemas.microsoft.com/office/drawing/2014/main" id="{5810E9D8-A9E5-4230-BEC3-996649749A0D}"/>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CB025993-DC4A-40A6-93A3-B0FAE203EE46}"/>
              </a:ext>
            </a:extLst>
          </p:cNvPr>
          <p:cNvSpPr>
            <a:spLocks xmlns:a="http://schemas.openxmlformats.org/drawingml/2006/main" noGrp="1"/>
          </p:cNvSpPr>
          <p:nvPr/>
        </p:nvSpPr>
        <p:spPr>
          <a:xfrm xmlns:a="http://schemas.openxmlformats.org/drawingml/2006/main">
            <a:off x="80962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2E8B70"/>
                </a:solidFill>
                <a:latin typeface="Yu Gothic"/>
                <a:ea typeface="Yu Gothic"/>
                <a:cs typeface="Yu Gothic"/>
              </a:defRPr>
            </a:pPr>
            <a:r>
              <a:rPr sz="1875" b="1">
                <a:solidFill>
                  <a:srgbClr val="2E8B70"/>
                </a:solidFill>
                <a:latin typeface="Yu Gothic"/>
                <a:ea typeface="Yu Gothic"/>
                <a:cs typeface="Yu Gothic"/>
              </a:rPr>
              <a:t>Current single-body mode</a:t>
            </a:r>
          </a:p>
        </p:txBody>
      </p:sp>
      <p:sp>
        <p:nvSpPr>
          <p:cNvPr id="6" name="">
            <a:extLst xmlns:a="http://schemas.openxmlformats.org/drawingml/2006/main">
              <a:ext uri="{FF2B5EF4-FFF2-40B4-BE49-F238E27FC236}">
                <a16:creationId xmlns:a16="http://schemas.microsoft.com/office/drawing/2014/main" id="{C13DC942-207B-4324-AB7A-5F61BEF636E5}"/>
              </a:ext>
            </a:extLst>
          </p:cNvPr>
          <p:cNvSpPr>
            <a:spLocks xmlns:a="http://schemas.openxmlformats.org/drawingml/2006/main" noGrp="1"/>
          </p:cNvSpPr>
          <p:nvPr/>
        </p:nvSpPr>
        <p:spPr>
          <a:xfrm xmlns:a="http://schemas.openxmlformats.org/drawingml/2006/main">
            <a:off x="809625" y="2238375"/>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SINGLE_BODY_MODE is enabled in tracker_four_group.py.</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One combined arch supplies the tracking pose.</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A-D selection changes the Unity highlight only.</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This mode does not demonstrate dynamic anchor switching.</a:t>
            </a:r>
          </a:p>
        </p:txBody>
      </p:sp>
      <p:sp>
        <p:nvSpPr>
          <p:cNvPr id="7" name="">
            <a:extLst xmlns:a="http://schemas.openxmlformats.org/drawingml/2006/main">
              <a:ext uri="{FF2B5EF4-FFF2-40B4-BE49-F238E27FC236}">
                <a16:creationId xmlns:a16="http://schemas.microsoft.com/office/drawing/2014/main" id="{D2DE40DB-9477-4724-B808-326CAA3F39FC}"/>
              </a:ext>
            </a:extLst>
          </p:cNvPr>
          <p:cNvSpPr>
            <a:spLocks xmlns:a="http://schemas.openxmlformats.org/drawingml/2006/main" noGrp="1"/>
          </p:cNvSpPr>
          <p:nvPr/>
        </p:nvSpPr>
        <p:spPr>
          <a:xfrm xmlns:a="http://schemas.openxmlformats.org/drawingml/2006/main">
            <a:off x="6048375" y="1524000"/>
            <a:ext cx="19050" cy="4095750"/>
          </a:xfrm>
          <a:prstGeom xmlns:a="http://schemas.openxmlformats.org/drawingml/2006/main" prst="rect">
            <a:avLst/>
          </a:prstGeom>
          <a:solidFill xmlns:a="http://schemas.openxmlformats.org/drawingml/2006/main">
            <a:srgbClr val="D3DC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D58436-A2E3-4617-AAF6-714DED44737C}"/>
              </a:ext>
            </a:extLst>
          </p:cNvPr>
          <p:cNvSpPr>
            <a:spLocks xmlns:a="http://schemas.openxmlformats.org/drawingml/2006/main" noGrp="1"/>
          </p:cNvSpPr>
          <p:nvPr/>
        </p:nvSpPr>
        <p:spPr>
          <a:xfrm xmlns:a="http://schemas.openxmlformats.org/drawingml/2006/main">
            <a:off x="6524625" y="1666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C9504D"/>
                </a:solidFill>
                <a:latin typeface="Yu Gothic"/>
                <a:ea typeface="Yu Gothic"/>
                <a:cs typeface="Yu Gothic"/>
              </a:defRPr>
            </a:pPr>
            <a:r>
              <a:rPr sz="1875" b="1">
                <a:solidFill>
                  <a:srgbClr val="C9504D"/>
                </a:solidFill>
                <a:latin typeface="Yu Gothic"/>
                <a:ea typeface="Yu Gothic"/>
                <a:cs typeface="Yu Gothic"/>
              </a:rPr>
              <a:t>Decision for the IEEE demo</a:t>
            </a:r>
          </a:p>
        </p:txBody>
      </p:sp>
      <p:sp>
        <p:nvSpPr>
          <p:cNvPr id="9" name="">
            <a:extLst xmlns:a="http://schemas.openxmlformats.org/drawingml/2006/main">
              <a:ext uri="{FF2B5EF4-FFF2-40B4-BE49-F238E27FC236}">
                <a16:creationId xmlns:a16="http://schemas.microsoft.com/office/drawing/2014/main" id="{1B02FA17-BC1D-4FEF-ADB5-C903A6FEA4EE}"/>
              </a:ext>
            </a:extLst>
          </p:cNvPr>
          <p:cNvSpPr>
            <a:spLocks xmlns:a="http://schemas.openxmlformats.org/drawingml/2006/main" noGrp="1"/>
          </p:cNvSpPr>
          <p:nvPr/>
        </p:nvSpPr>
        <p:spPr>
          <a:xfrm xmlns:a="http://schemas.openxmlformats.org/drawingml/2006/main">
            <a:off x="6524625" y="2238375"/>
            <a:ext cx="4762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Use multi-anchor mode if switching itself must be shown.</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Use single-body mode if stable overlay is the priority.</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Explain the difference explicitly in either case.</a:t>
            </a:r>
          </a:p>
          <a:p xmlns:a="http://schemas.openxmlformats.org/drawingml/2006/main">
            <a:pPr marL="254000" indent="-114300">
              <a:spcAft>
                <a:spcPts val="1200"/>
              </a:spcAft>
              <a:buChar char="•"/>
              <a:defRPr sz="1650">
                <a:solidFill>
                  <a:srgbClr val="172433"/>
                </a:solidFill>
                <a:latin typeface="Yu Gothic"/>
                <a:ea typeface="Yu Gothic"/>
                <a:cs typeface="Yu Gothic"/>
              </a:defRPr>
            </a:pPr>
            <a:r>
              <a:rPr sz="1650">
                <a:solidFill>
                  <a:srgbClr val="172433"/>
                </a:solidFill>
                <a:latin typeface="Yu Gothic"/>
                <a:ea typeface="Yu Gothic"/>
                <a:cs typeface="Yu Gothic"/>
              </a:rPr>
              <a:t>Prepare a recorded fallback for the live sequence.</a:t>
            </a:r>
          </a:p>
        </p:txBody>
      </p:sp>
      <p:sp>
        <p:nvSpPr>
          <p:cNvPr id="10" name="">
            <a:extLst xmlns:a="http://schemas.openxmlformats.org/drawingml/2006/main">
              <a:ext uri="{FF2B5EF4-FFF2-40B4-BE49-F238E27FC236}">
                <a16:creationId xmlns:a16="http://schemas.microsoft.com/office/drawing/2014/main" id="{E85D69ED-EDDA-4887-AC21-90A65A710644}"/>
              </a:ext>
            </a:extLst>
          </p:cNvPr>
          <p:cNvSpPr>
            <a:spLocks xmlns:a="http://schemas.openxmlformats.org/drawingml/2006/main" noGrp="1"/>
          </p:cNvSpPr>
          <p:nvPr/>
        </p:nvSpPr>
        <p:spPr>
          <a:xfrm xmlns:a="http://schemas.openxmlformats.org/drawingml/2006/main">
            <a:off x="809625" y="5886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C9504D"/>
                </a:solidFill>
                <a:latin typeface="Yu Gothic"/>
                <a:ea typeface="Yu Gothic"/>
                <a:cs typeface="Yu Gothic"/>
              </a:defRPr>
            </a:pPr>
            <a:r>
              <a:rPr sz="1425" b="1">
                <a:solidFill>
                  <a:srgbClr val="C9504D"/>
                </a:solidFill>
                <a:latin typeface="Yu Gothic"/>
                <a:ea typeface="Yu Gothic"/>
                <a:cs typeface="Yu Gothic"/>
              </a:rPr>
              <a:t>Recommended: rehearse both modes, then select the live mode after a repeatability test.</a:t>
            </a:r>
          </a:p>
        </p:txBody>
      </p:sp>
    </p:spTree>
    <p:extLst>
      <p:ext uri="{BB962C8B-B14F-4D97-AF65-F5344CB8AC3E}">
        <p14:creationId xmlns:p14="http://schemas.microsoft.com/office/powerpoint/2010/main" val="20161297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335416-B4A8-45D7-A219-D439F444B82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04ED4F-0344-4C69-9612-D4F7895BDF6A}"/>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DEMO PRACTICE</a:t>
            </a:r>
          </a:p>
        </p:txBody>
      </p:sp>
      <p:sp>
        <p:nvSpPr>
          <p:cNvPr id="3" name="">
            <a:extLst xmlns:a="http://schemas.openxmlformats.org/drawingml/2006/main">
              <a:ext uri="{FF2B5EF4-FFF2-40B4-BE49-F238E27FC236}">
                <a16:creationId xmlns:a16="http://schemas.microsoft.com/office/drawing/2014/main" id="{8DF832C7-65AA-4C29-8CF6-3F186252E796}"/>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IEEE demo: 75-second explanation</a:t>
            </a:r>
          </a:p>
        </p:txBody>
      </p:sp>
      <p:sp>
        <p:nvSpPr>
          <p:cNvPr id="4" name="">
            <a:extLst xmlns:a="http://schemas.openxmlformats.org/drawingml/2006/main">
              <a:ext uri="{FF2B5EF4-FFF2-40B4-BE49-F238E27FC236}">
                <a16:creationId xmlns:a16="http://schemas.microsoft.com/office/drawing/2014/main" id="{9C443F9F-3C23-4831-BBB7-C50C05FE77FE}"/>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F4874D9B-484E-4595-96E4-EE51A66ED5E2}"/>
              </a:ext>
            </a:extLst>
          </p:cNvPr>
          <p:cNvSpPr>
            <a:spLocks xmlns:a="http://schemas.openxmlformats.org/drawingml/2006/main" noGrp="1"/>
          </p:cNvSpPr>
          <p:nvPr/>
        </p:nvSpPr>
        <p:spPr>
          <a:xfrm xmlns:a="http://schemas.openxmlformats.org/drawingml/2006/main">
            <a:off x="742950" y="1571625"/>
            <a:ext cx="10706100" cy="3810000"/>
          </a:xfrm>
          <a:prstGeom xmlns:a="http://schemas.openxmlformats.org/drawingml/2006/main" prst="roundRect">
            <a:avLst>
              <a:gd name="adj" fmla="val 2000"/>
            </a:avLst>
          </a:prstGeom>
          <a:solidFill xmlns:a="http://schemas.openxmlformats.org/drawingml/2006/main">
            <a:srgbClr val="F5F7F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99A5F77-4B00-47F4-8499-1823312EF145}"/>
              </a:ext>
            </a:extLst>
          </p:cNvPr>
          <p:cNvSpPr>
            <a:spLocks xmlns:a="http://schemas.openxmlformats.org/drawingml/2006/main" noGrp="1"/>
          </p:cNvSpPr>
          <p:nvPr/>
        </p:nvSpPr>
        <p:spPr>
          <a:xfrm xmlns:a="http://schemas.openxmlformats.org/drawingml/2006/main">
            <a:off x="1066800" y="1952625"/>
            <a:ext cx="10058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172433"/>
                </a:solidFill>
                <a:latin typeface="Yu Gothic"/>
                <a:ea typeface="Yu Gothic"/>
                <a:cs typeface="Yu Gothic"/>
              </a:defRPr>
            </a:pPr>
            <a:r>
              <a:rPr sz="1725" b="0">
                <a:solidFill>
                  <a:srgbClr val="172433"/>
                </a:solidFill>
                <a:latin typeface="Yu Gothic"/>
                <a:ea typeface="Yu Gothic"/>
                <a:cs typeface="Yu Gothic"/>
              </a:rPr>
              <a:t>Our submitted demonstration addresses tracking loss caused by partial occlusion during AR-assisted dental implant treatment. The abstract describes Anchor Switching, which selects the most stable pose from multiple dental arch models and transfers it to the AR output. Since submission, we replaced the original tracking backend with a Python implementation of M3T and investigated tooth-region models that avoid the artificial cut surfaces of the earlier left-right segmentation. For the current stable configuration, we combine the visible tooth groups into one rigid-body model. This is an implementation update rather than anchor switching. We also corrected the physical scale, updated the 720p camera calibration, and added quality-based pose holding and relocking. I will demonstrate the current tracking behavior and explain how these changes relate to the submitted method.</a:t>
            </a:r>
          </a:p>
        </p:txBody>
      </p:sp>
      <p:sp>
        <p:nvSpPr>
          <p:cNvPr id="7" name="">
            <a:extLst xmlns:a="http://schemas.openxmlformats.org/drawingml/2006/main">
              <a:ext uri="{FF2B5EF4-FFF2-40B4-BE49-F238E27FC236}">
                <a16:creationId xmlns:a16="http://schemas.microsoft.com/office/drawing/2014/main" id="{8F4DEB27-1A74-4A84-B3BE-55A44C4B2DD4}"/>
              </a:ext>
            </a:extLst>
          </p:cNvPr>
          <p:cNvSpPr>
            <a:spLocks xmlns:a="http://schemas.openxmlformats.org/drawingml/2006/main" noGrp="1"/>
          </p:cNvSpPr>
          <p:nvPr/>
        </p:nvSpPr>
        <p:spPr>
          <a:xfrm xmlns:a="http://schemas.openxmlformats.org/drawingml/2006/main">
            <a:off x="809625" y="58102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425" b="1">
                <a:solidFill>
                  <a:srgbClr val="1C6E9E"/>
                </a:solidFill>
                <a:latin typeface="Yu Gothic"/>
                <a:ea typeface="Yu Gothic"/>
                <a:cs typeface="Yu Gothic"/>
              </a:defRPr>
            </a:pPr>
            <a:r>
              <a:rPr sz="1425" b="1">
                <a:solidFill>
                  <a:srgbClr val="1C6E9E"/>
                </a:solidFill>
                <a:latin typeface="Yu Gothic"/>
                <a:ea typeface="Yu Gothic"/>
                <a:cs typeface="Yu Gothic"/>
              </a:rPr>
              <a:t>Speak slowly: about 125 words per minute</a:t>
            </a:r>
          </a:p>
        </p:txBody>
      </p:sp>
    </p:spTree>
    <p:extLst>
      <p:ext uri="{BB962C8B-B14F-4D97-AF65-F5344CB8AC3E}">
        <p14:creationId xmlns:p14="http://schemas.microsoft.com/office/powerpoint/2010/main" val="12854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B4F88A8-D44D-40FE-8FE3-E7529215FEC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E92F9F-A819-461C-817F-C77B2F7F377D}"/>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DEMO PRACTICE</a:t>
            </a:r>
          </a:p>
        </p:txBody>
      </p:sp>
      <p:sp>
        <p:nvSpPr>
          <p:cNvPr id="3" name="">
            <a:extLst xmlns:a="http://schemas.openxmlformats.org/drawingml/2006/main">
              <a:ext uri="{FF2B5EF4-FFF2-40B4-BE49-F238E27FC236}">
                <a16:creationId xmlns:a16="http://schemas.microsoft.com/office/drawing/2014/main" id="{4615D24C-0736-4363-8CD9-341F48716862}"/>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Submitted method and current demonstration</a:t>
            </a:r>
          </a:p>
        </p:txBody>
      </p:sp>
      <p:sp>
        <p:nvSpPr>
          <p:cNvPr id="4" name="">
            <a:extLst xmlns:a="http://schemas.openxmlformats.org/drawingml/2006/main">
              <a:ext uri="{FF2B5EF4-FFF2-40B4-BE49-F238E27FC236}">
                <a16:creationId xmlns:a16="http://schemas.microsoft.com/office/drawing/2014/main" id="{771631B7-C2FB-47BF-996C-88FCE9A3CA5C}"/>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247AB92D-94DA-4047-B07D-EA7D53C43E9F}"/>
              </a:ext>
            </a:extLst>
          </p:cNvPr>
          <p:cNvSpPr>
            <a:spLocks xmlns:a="http://schemas.openxmlformats.org/drawingml/2006/main" noGrp="1"/>
          </p:cNvSpPr>
          <p:nvPr/>
        </p:nvSpPr>
        <p:spPr>
          <a:xfrm xmlns:a="http://schemas.openxmlformats.org/drawingml/2006/main">
            <a:off x="838200" y="16383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C6E9E"/>
                </a:solidFill>
                <a:latin typeface="Yu Gothic"/>
                <a:ea typeface="Yu Gothic"/>
                <a:cs typeface="Yu Gothic"/>
              </a:defRPr>
            </a:pPr>
            <a:r>
              <a:rPr sz="1725" b="1">
                <a:solidFill>
                  <a:srgbClr val="1C6E9E"/>
                </a:solidFill>
                <a:latin typeface="Yu Gothic"/>
                <a:ea typeface="Yu Gothic"/>
                <a:cs typeface="Yu Gothic"/>
              </a:rPr>
              <a:t>Suggested transition</a:t>
            </a:r>
          </a:p>
        </p:txBody>
      </p:sp>
      <p:sp>
        <p:nvSpPr>
          <p:cNvPr id="6" name="">
            <a:extLst xmlns:a="http://schemas.openxmlformats.org/drawingml/2006/main">
              <a:ext uri="{FF2B5EF4-FFF2-40B4-BE49-F238E27FC236}">
                <a16:creationId xmlns:a16="http://schemas.microsoft.com/office/drawing/2014/main" id="{E19CAC4F-8A49-4E28-9BF6-950782769D49}"/>
              </a:ext>
            </a:extLst>
          </p:cNvPr>
          <p:cNvSpPr>
            <a:spLocks xmlns:a="http://schemas.openxmlformats.org/drawingml/2006/main" noGrp="1"/>
          </p:cNvSpPr>
          <p:nvPr/>
        </p:nvSpPr>
        <p:spPr>
          <a:xfrm xmlns:a="http://schemas.openxmlformats.org/drawingml/2006/main">
            <a:off x="781050" y="2143125"/>
            <a:ext cx="10620375" cy="1428750"/>
          </a:xfrm>
          <a:prstGeom xmlns:a="http://schemas.openxmlformats.org/drawingml/2006/main" prst="roundRect">
            <a:avLst>
              <a:gd name="adj" fmla="val 5333"/>
            </a:avLst>
          </a:prstGeom>
          <a:solidFill xmlns:a="http://schemas.openxmlformats.org/drawingml/2006/main">
            <a:srgbClr val="EAF4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1D398E-7479-445F-A94B-7840ECCFD391}"/>
              </a:ext>
            </a:extLst>
          </p:cNvPr>
          <p:cNvSpPr>
            <a:spLocks xmlns:a="http://schemas.openxmlformats.org/drawingml/2006/main" noGrp="1"/>
          </p:cNvSpPr>
          <p:nvPr/>
        </p:nvSpPr>
        <p:spPr>
          <a:xfrm xmlns:a="http://schemas.openxmlformats.org/drawingml/2006/main">
            <a:off x="1066800" y="2333625"/>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0253F"/>
                </a:solidFill>
                <a:latin typeface="Yu Gothic"/>
                <a:ea typeface="Yu Gothic"/>
                <a:cs typeface="Yu Gothic"/>
              </a:defRPr>
            </a:pPr>
            <a:r>
              <a:rPr sz="1725" b="1">
                <a:solidFill>
                  <a:srgbClr val="10253F"/>
                </a:solidFill>
                <a:latin typeface="Yu Gothic"/>
                <a:ea typeface="Yu Gothic"/>
                <a:cs typeface="Yu Gothic"/>
              </a:rPr>
              <a:t>Since the abstract submission, we revised the implementation to improve the stability of the live demonstration. The objective remains the same, but the current stable mode uses one combined rigid-body model instead of dynamically switching between independent anchors.</a:t>
            </a:r>
          </a:p>
        </p:txBody>
      </p:sp>
      <p:sp>
        <p:nvSpPr>
          <p:cNvPr id="8" name="">
            <a:extLst xmlns:a="http://schemas.openxmlformats.org/drawingml/2006/main">
              <a:ext uri="{FF2B5EF4-FFF2-40B4-BE49-F238E27FC236}">
                <a16:creationId xmlns:a16="http://schemas.microsoft.com/office/drawing/2014/main" id="{1523ED15-9DAC-4744-8ABE-BAD72185706F}"/>
              </a:ext>
            </a:extLst>
          </p:cNvPr>
          <p:cNvSpPr>
            <a:spLocks xmlns:a="http://schemas.openxmlformats.org/drawingml/2006/main" noGrp="1"/>
          </p:cNvSpPr>
          <p:nvPr/>
        </p:nvSpPr>
        <p:spPr>
          <a:xfrm xmlns:a="http://schemas.openxmlformats.org/drawingml/2006/main">
            <a:off x="838200" y="390525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5D6B78"/>
                </a:solidFill>
                <a:latin typeface="Yu Gothic"/>
                <a:ea typeface="Yu Gothic"/>
                <a:cs typeface="Yu Gothic"/>
              </a:defRPr>
            </a:pPr>
            <a:r>
              <a:rPr sz="1725" b="1">
                <a:solidFill>
                  <a:srgbClr val="5D6B78"/>
                </a:solidFill>
                <a:latin typeface="Yu Gothic"/>
                <a:ea typeface="Yu Gothic"/>
                <a:cs typeface="Yu Gothic"/>
              </a:rPr>
              <a:t>Use this structure for each difference</a:t>
            </a:r>
          </a:p>
        </p:txBody>
      </p:sp>
      <p:sp>
        <p:nvSpPr>
          <p:cNvPr id="9" name="">
            <a:extLst xmlns:a="http://schemas.openxmlformats.org/drawingml/2006/main">
              <a:ext uri="{FF2B5EF4-FFF2-40B4-BE49-F238E27FC236}">
                <a16:creationId xmlns:a16="http://schemas.microsoft.com/office/drawing/2014/main" id="{1F0E0F85-69D7-4E8D-BDB0-420AFBA21DC5}"/>
              </a:ext>
            </a:extLst>
          </p:cNvPr>
          <p:cNvSpPr>
            <a:spLocks xmlns:a="http://schemas.openxmlformats.org/drawingml/2006/main" noGrp="1"/>
          </p:cNvSpPr>
          <p:nvPr/>
        </p:nvSpPr>
        <p:spPr>
          <a:xfrm xmlns:a="http://schemas.openxmlformats.org/drawingml/2006/main">
            <a:off x="838200" y="45243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C6E9E"/>
                </a:solidFill>
                <a:latin typeface="Yu Gothic"/>
                <a:ea typeface="Yu Gothic"/>
                <a:cs typeface="Yu Gothic"/>
              </a:defRPr>
            </a:pPr>
            <a:r>
              <a:rPr sz="1575" b="1">
                <a:solidFill>
                  <a:srgbClr val="1C6E9E"/>
                </a:solidFill>
                <a:latin typeface="Yu Gothic"/>
                <a:ea typeface="Yu Gothic"/>
                <a:cs typeface="Yu Gothic"/>
              </a:rPr>
              <a:t>1. Submitted</a:t>
            </a:r>
          </a:p>
        </p:txBody>
      </p:sp>
      <p:sp>
        <p:nvSpPr>
          <p:cNvPr id="10" name="">
            <a:extLst xmlns:a="http://schemas.openxmlformats.org/drawingml/2006/main">
              <a:ext uri="{FF2B5EF4-FFF2-40B4-BE49-F238E27FC236}">
                <a16:creationId xmlns:a16="http://schemas.microsoft.com/office/drawing/2014/main" id="{20E550E1-92D3-498E-84F8-F2790C67D60B}"/>
              </a:ext>
            </a:extLst>
          </p:cNvPr>
          <p:cNvSpPr>
            <a:spLocks xmlns:a="http://schemas.openxmlformats.org/drawingml/2006/main" noGrp="1"/>
          </p:cNvSpPr>
          <p:nvPr/>
        </p:nvSpPr>
        <p:spPr>
          <a:xfrm xmlns:a="http://schemas.openxmlformats.org/drawingml/2006/main">
            <a:off x="838200" y="5000625"/>
            <a:ext cx="2238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433"/>
                </a:solidFill>
                <a:latin typeface="Yu Gothic"/>
                <a:ea typeface="Yu Gothic"/>
                <a:cs typeface="Yu Gothic"/>
              </a:defRPr>
            </a:pPr>
            <a:r>
              <a:rPr sz="1425" b="0">
                <a:solidFill>
                  <a:srgbClr val="172433"/>
                </a:solidFill>
                <a:latin typeface="Yu Gothic"/>
                <a:ea typeface="Yu Gothic"/>
                <a:cs typeface="Yu Gothic"/>
              </a:rPr>
              <a:t>Multiple independent models and dynamic selection.</a:t>
            </a:r>
          </a:p>
        </p:txBody>
      </p:sp>
      <p:sp>
        <p:nvSpPr>
          <p:cNvPr id="11" name="">
            <a:extLst xmlns:a="http://schemas.openxmlformats.org/drawingml/2006/main">
              <a:ext uri="{FF2B5EF4-FFF2-40B4-BE49-F238E27FC236}">
                <a16:creationId xmlns:a16="http://schemas.microsoft.com/office/drawing/2014/main" id="{79161778-D595-4168-A98A-F313C3D76999}"/>
              </a:ext>
            </a:extLst>
          </p:cNvPr>
          <p:cNvSpPr>
            <a:spLocks xmlns:a="http://schemas.openxmlformats.org/drawingml/2006/main" noGrp="1"/>
          </p:cNvSpPr>
          <p:nvPr/>
        </p:nvSpPr>
        <p:spPr>
          <a:xfrm xmlns:a="http://schemas.openxmlformats.org/drawingml/2006/main">
            <a:off x="3505200" y="45243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2E8B70"/>
                </a:solidFill>
                <a:latin typeface="Yu Gothic"/>
                <a:ea typeface="Yu Gothic"/>
                <a:cs typeface="Yu Gothic"/>
              </a:defRPr>
            </a:pPr>
            <a:r>
              <a:rPr sz="1575" b="1">
                <a:solidFill>
                  <a:srgbClr val="2E8B70"/>
                </a:solidFill>
                <a:latin typeface="Yu Gothic"/>
                <a:ea typeface="Yu Gothic"/>
                <a:cs typeface="Yu Gothic"/>
              </a:rPr>
              <a:t>2. Current</a:t>
            </a:r>
          </a:p>
        </p:txBody>
      </p:sp>
      <p:sp>
        <p:nvSpPr>
          <p:cNvPr id="12" name="">
            <a:extLst xmlns:a="http://schemas.openxmlformats.org/drawingml/2006/main">
              <a:ext uri="{FF2B5EF4-FFF2-40B4-BE49-F238E27FC236}">
                <a16:creationId xmlns:a16="http://schemas.microsoft.com/office/drawing/2014/main" id="{03FC9450-B9BB-4662-9166-CE6FEB066A2B}"/>
              </a:ext>
            </a:extLst>
          </p:cNvPr>
          <p:cNvSpPr>
            <a:spLocks xmlns:a="http://schemas.openxmlformats.org/drawingml/2006/main" noGrp="1"/>
          </p:cNvSpPr>
          <p:nvPr/>
        </p:nvSpPr>
        <p:spPr>
          <a:xfrm xmlns:a="http://schemas.openxmlformats.org/drawingml/2006/main">
            <a:off x="3505200" y="5000625"/>
            <a:ext cx="2238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433"/>
                </a:solidFill>
                <a:latin typeface="Yu Gothic"/>
                <a:ea typeface="Yu Gothic"/>
                <a:cs typeface="Yu Gothic"/>
              </a:defRPr>
            </a:pPr>
            <a:r>
              <a:rPr sz="1425" b="0">
                <a:solidFill>
                  <a:srgbClr val="172433"/>
                </a:solidFill>
                <a:latin typeface="Yu Gothic"/>
                <a:ea typeface="Yu Gothic"/>
                <a:cs typeface="Yu Gothic"/>
              </a:rPr>
              <a:t>M3T with one combined model in the stable mode.</a:t>
            </a:r>
          </a:p>
        </p:txBody>
      </p:sp>
      <p:sp>
        <p:nvSpPr>
          <p:cNvPr id="13" name="">
            <a:extLst xmlns:a="http://schemas.openxmlformats.org/drawingml/2006/main">
              <a:ext uri="{FF2B5EF4-FFF2-40B4-BE49-F238E27FC236}">
                <a16:creationId xmlns:a16="http://schemas.microsoft.com/office/drawing/2014/main" id="{4D52E80F-61E5-4900-BCF5-FE0DAAAAEA1F}"/>
              </a:ext>
            </a:extLst>
          </p:cNvPr>
          <p:cNvSpPr>
            <a:spLocks xmlns:a="http://schemas.openxmlformats.org/drawingml/2006/main" noGrp="1"/>
          </p:cNvSpPr>
          <p:nvPr/>
        </p:nvSpPr>
        <p:spPr>
          <a:xfrm xmlns:a="http://schemas.openxmlformats.org/drawingml/2006/main">
            <a:off x="6172200" y="45243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D98C2B"/>
                </a:solidFill>
                <a:latin typeface="Yu Gothic"/>
                <a:ea typeface="Yu Gothic"/>
                <a:cs typeface="Yu Gothic"/>
              </a:defRPr>
            </a:pPr>
            <a:r>
              <a:rPr sz="1575" b="1">
                <a:solidFill>
                  <a:srgbClr val="D98C2B"/>
                </a:solidFill>
                <a:latin typeface="Yu Gothic"/>
                <a:ea typeface="Yu Gothic"/>
                <a:cs typeface="Yu Gothic"/>
              </a:rPr>
              <a:t>3. Reason</a:t>
            </a:r>
          </a:p>
        </p:txBody>
      </p:sp>
      <p:sp>
        <p:nvSpPr>
          <p:cNvPr id="14" name="">
            <a:extLst xmlns:a="http://schemas.openxmlformats.org/drawingml/2006/main">
              <a:ext uri="{FF2B5EF4-FFF2-40B4-BE49-F238E27FC236}">
                <a16:creationId xmlns:a16="http://schemas.microsoft.com/office/drawing/2014/main" id="{1514C527-A474-4247-BC22-34B1520ABB71}"/>
              </a:ext>
            </a:extLst>
          </p:cNvPr>
          <p:cNvSpPr>
            <a:spLocks xmlns:a="http://schemas.openxmlformats.org/drawingml/2006/main" noGrp="1"/>
          </p:cNvSpPr>
          <p:nvPr/>
        </p:nvSpPr>
        <p:spPr>
          <a:xfrm xmlns:a="http://schemas.openxmlformats.org/drawingml/2006/main">
            <a:off x="6172200" y="5000625"/>
            <a:ext cx="2238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433"/>
                </a:solidFill>
                <a:latin typeface="Yu Gothic"/>
                <a:ea typeface="Yu Gothic"/>
                <a:cs typeface="Yu Gothic"/>
              </a:defRPr>
            </a:pPr>
            <a:r>
              <a:rPr sz="1425" b="0">
                <a:solidFill>
                  <a:srgbClr val="172433"/>
                </a:solidFill>
                <a:latin typeface="Yu Gothic"/>
                <a:ea typeface="Yu Gothic"/>
                <a:cs typeface="Yu Gothic"/>
              </a:rPr>
              <a:t>All visible contours constrain one pose estimate.</a:t>
            </a:r>
          </a:p>
        </p:txBody>
      </p:sp>
      <p:sp>
        <p:nvSpPr>
          <p:cNvPr id="15" name="">
            <a:extLst xmlns:a="http://schemas.openxmlformats.org/drawingml/2006/main">
              <a:ext uri="{FF2B5EF4-FFF2-40B4-BE49-F238E27FC236}">
                <a16:creationId xmlns:a16="http://schemas.microsoft.com/office/drawing/2014/main" id="{7BA179AF-AB3A-4A15-943C-214F5C529941}"/>
              </a:ext>
            </a:extLst>
          </p:cNvPr>
          <p:cNvSpPr>
            <a:spLocks xmlns:a="http://schemas.openxmlformats.org/drawingml/2006/main" noGrp="1"/>
          </p:cNvSpPr>
          <p:nvPr/>
        </p:nvSpPr>
        <p:spPr>
          <a:xfrm xmlns:a="http://schemas.openxmlformats.org/drawingml/2006/main">
            <a:off x="8839200" y="45243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C9504D"/>
                </a:solidFill>
                <a:latin typeface="Yu Gothic"/>
                <a:ea typeface="Yu Gothic"/>
                <a:cs typeface="Yu Gothic"/>
              </a:defRPr>
            </a:pPr>
            <a:r>
              <a:rPr sz="1575" b="1">
                <a:solidFill>
                  <a:srgbClr val="C9504D"/>
                </a:solidFill>
                <a:latin typeface="Yu Gothic"/>
                <a:ea typeface="Yu Gothic"/>
                <a:cs typeface="Yu Gothic"/>
              </a:rPr>
              <a:t>4. Scope</a:t>
            </a:r>
          </a:p>
        </p:txBody>
      </p:sp>
      <p:sp>
        <p:nvSpPr>
          <p:cNvPr id="16" name="">
            <a:extLst xmlns:a="http://schemas.openxmlformats.org/drawingml/2006/main">
              <a:ext uri="{FF2B5EF4-FFF2-40B4-BE49-F238E27FC236}">
                <a16:creationId xmlns:a16="http://schemas.microsoft.com/office/drawing/2014/main" id="{E0C271F5-E6F1-475C-8E12-265EF2EF580B}"/>
              </a:ext>
            </a:extLst>
          </p:cNvPr>
          <p:cNvSpPr>
            <a:spLocks xmlns:a="http://schemas.openxmlformats.org/drawingml/2006/main" noGrp="1"/>
          </p:cNvSpPr>
          <p:nvPr/>
        </p:nvSpPr>
        <p:spPr>
          <a:xfrm xmlns:a="http://schemas.openxmlformats.org/drawingml/2006/main">
            <a:off x="8839200" y="5000625"/>
            <a:ext cx="2238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72433"/>
                </a:solidFill>
                <a:latin typeface="Yu Gothic"/>
                <a:ea typeface="Yu Gothic"/>
                <a:cs typeface="Yu Gothic"/>
              </a:defRPr>
            </a:pPr>
            <a:r>
              <a:rPr sz="1425" b="0">
                <a:solidFill>
                  <a:srgbClr val="172433"/>
                </a:solidFill>
                <a:latin typeface="Yu Gothic"/>
                <a:ea typeface="Yu Gothic"/>
                <a:cs typeface="Yu Gothic"/>
              </a:rPr>
              <a:t>A technical demo, not a clinical validation.</a:t>
            </a:r>
          </a:p>
        </p:txBody>
      </p:sp>
    </p:spTree>
    <p:extLst>
      <p:ext uri="{BB962C8B-B14F-4D97-AF65-F5344CB8AC3E}">
        <p14:creationId xmlns:p14="http://schemas.microsoft.com/office/powerpoint/2010/main" val="18647347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A13AC35-3CEC-4FB0-861B-7100967C17A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35B6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DCD96F-F7AE-49C7-A797-91C52F944169}"/>
              </a:ext>
            </a:extLst>
          </p:cNvPr>
          <p:cNvSpPr>
            <a:spLocks xmlns:a="http://schemas.openxmlformats.org/drawingml/2006/main" noGrp="1"/>
          </p:cNvSpPr>
          <p:nvPr/>
        </p:nvSpPr>
        <p:spPr>
          <a:xfrm xmlns:a="http://schemas.openxmlformats.org/drawingml/2006/main">
            <a:off x="685800" y="38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1">
                <a:solidFill>
                  <a:srgbClr val="1C6E9E"/>
                </a:solidFill>
                <a:latin typeface="Yu Gothic"/>
                <a:ea typeface="Yu Gothic"/>
                <a:cs typeface="Yu Gothic"/>
              </a:defRPr>
            </a:pPr>
            <a:r>
              <a:rPr sz="1125" b="1">
                <a:solidFill>
                  <a:srgbClr val="1C6E9E"/>
                </a:solidFill>
                <a:latin typeface="Yu Gothic"/>
                <a:ea typeface="Yu Gothic"/>
                <a:cs typeface="Yu Gothic"/>
              </a:rPr>
              <a:t>DEMO PRACTICE</a:t>
            </a:r>
          </a:p>
        </p:txBody>
      </p:sp>
      <p:sp>
        <p:nvSpPr>
          <p:cNvPr id="3" name="">
            <a:extLst xmlns:a="http://schemas.openxmlformats.org/drawingml/2006/main">
              <a:ext uri="{FF2B5EF4-FFF2-40B4-BE49-F238E27FC236}">
                <a16:creationId xmlns:a16="http://schemas.microsoft.com/office/drawing/2014/main" id="{3772472C-F489-4DBE-BFD4-55188A552248}"/>
              </a:ext>
            </a:extLst>
          </p:cNvPr>
          <p:cNvSpPr>
            <a:spLocks xmlns:a="http://schemas.openxmlformats.org/drawingml/2006/main" noGrp="1"/>
          </p:cNvSpPr>
          <p:nvPr/>
        </p:nvSpPr>
        <p:spPr>
          <a:xfrm xmlns:a="http://schemas.openxmlformats.org/drawingml/2006/main">
            <a:off x="685800" y="742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0253F"/>
                </a:solidFill>
                <a:latin typeface="Yu Gothic"/>
                <a:ea typeface="Yu Gothic"/>
                <a:cs typeface="Yu Gothic"/>
              </a:defRPr>
            </a:pPr>
            <a:r>
              <a:rPr sz="2700" b="1">
                <a:solidFill>
                  <a:srgbClr val="10253F"/>
                </a:solidFill>
                <a:latin typeface="Yu Gothic"/>
                <a:ea typeface="Yu Gothic"/>
                <a:cs typeface="Yu Gothic"/>
              </a:rPr>
              <a:t>Likely questions and concise answers</a:t>
            </a:r>
          </a:p>
        </p:txBody>
      </p:sp>
      <p:sp>
        <p:nvSpPr>
          <p:cNvPr id="4" name="">
            <a:extLst xmlns:a="http://schemas.openxmlformats.org/drawingml/2006/main">
              <a:ext uri="{FF2B5EF4-FFF2-40B4-BE49-F238E27FC236}">
                <a16:creationId xmlns:a16="http://schemas.microsoft.com/office/drawing/2014/main" id="{069803D0-2E10-4AC4-AAC6-09474844EC5E}"/>
              </a:ext>
            </a:extLst>
          </p:cNvPr>
          <p:cNvSpPr>
            <a:spLocks xmlns:a="http://schemas.openxmlformats.org/drawingml/2006/main" noGrp="1"/>
          </p:cNvSpPr>
          <p:nvPr/>
        </p:nvSpPr>
        <p:spPr>
          <a:xfrm xmlns:a="http://schemas.openxmlformats.org/drawingml/2006/main">
            <a:off x="11239500"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050" b="0">
                <a:solidFill>
                  <a:srgbClr val="5D6B78"/>
                </a:solidFill>
                <a:latin typeface="Yu Gothic"/>
                <a:ea typeface="Yu Gothic"/>
                <a:cs typeface="Yu Gothic"/>
              </a:defRPr>
            </a:pPr>
            <a:r>
              <a:rPr sz="1050" b="0">
                <a:solidFill>
                  <a:srgbClr val="5D6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925E5495-6F8F-4086-BFFF-5B8C62E4B64B}"/>
              </a:ext>
            </a:extLst>
          </p:cNvPr>
          <p:cNvSpPr>
            <a:spLocks xmlns:a="http://schemas.openxmlformats.org/drawingml/2006/main" noGrp="1"/>
          </p:cNvSpPr>
          <p:nvPr/>
        </p:nvSpPr>
        <p:spPr>
          <a:xfrm xmlns:a="http://schemas.openxmlformats.org/drawingml/2006/main">
            <a:off x="742950" y="157162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35B6C8"/>
                </a:solidFill>
                <a:latin typeface="Yu Gothic"/>
                <a:ea typeface="Yu Gothic"/>
                <a:cs typeface="Yu Gothic"/>
              </a:defRPr>
            </a:pPr>
            <a:r>
              <a:rPr sz="1500" b="1">
                <a:solidFill>
                  <a:srgbClr val="35B6C8"/>
                </a:solidFill>
                <a:latin typeface="Yu Gothic"/>
                <a:ea typeface="Yu Gothic"/>
                <a:cs typeface="Yu Gothic"/>
              </a:rPr>
              <a:t>Q1</a:t>
            </a:r>
          </a:p>
        </p:txBody>
      </p:sp>
      <p:sp>
        <p:nvSpPr>
          <p:cNvPr id="6" name="">
            <a:extLst xmlns:a="http://schemas.openxmlformats.org/drawingml/2006/main">
              <a:ext uri="{FF2B5EF4-FFF2-40B4-BE49-F238E27FC236}">
                <a16:creationId xmlns:a16="http://schemas.microsoft.com/office/drawing/2014/main" id="{789D9314-E0A0-414F-87FC-D402396E751E}"/>
              </a:ext>
            </a:extLst>
          </p:cNvPr>
          <p:cNvSpPr>
            <a:spLocks xmlns:a="http://schemas.openxmlformats.org/drawingml/2006/main" noGrp="1"/>
          </p:cNvSpPr>
          <p:nvPr/>
        </p:nvSpPr>
        <p:spPr>
          <a:xfrm xmlns:a="http://schemas.openxmlformats.org/drawingml/2006/main">
            <a:off x="1333500" y="15716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Is the current mode Anchor Switching?</a:t>
            </a:r>
          </a:p>
        </p:txBody>
      </p:sp>
      <p:sp>
        <p:nvSpPr>
          <p:cNvPr id="7" name="">
            <a:extLst xmlns:a="http://schemas.openxmlformats.org/drawingml/2006/main">
              <a:ext uri="{FF2B5EF4-FFF2-40B4-BE49-F238E27FC236}">
                <a16:creationId xmlns:a16="http://schemas.microsoft.com/office/drawing/2014/main" id="{3465BE7E-3E6C-47E8-A3F3-AB4B3F1657A6}"/>
              </a:ext>
            </a:extLst>
          </p:cNvPr>
          <p:cNvSpPr>
            <a:spLocks xmlns:a="http://schemas.openxmlformats.org/drawingml/2006/main" noGrp="1"/>
          </p:cNvSpPr>
          <p:nvPr/>
        </p:nvSpPr>
        <p:spPr>
          <a:xfrm xmlns:a="http://schemas.openxmlformats.org/drawingml/2006/main">
            <a:off x="5667375" y="1571625"/>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433"/>
                </a:solidFill>
                <a:latin typeface="Yu Gothic"/>
                <a:ea typeface="Yu Gothic"/>
                <a:cs typeface="Yu Gothic"/>
              </a:defRPr>
            </a:pPr>
            <a:r>
              <a:rPr sz="1500" b="0">
                <a:solidFill>
                  <a:srgbClr val="172433"/>
                </a:solidFill>
                <a:latin typeface="Yu Gothic"/>
                <a:ea typeface="Yu Gothic"/>
                <a:cs typeface="Yu Gothic"/>
              </a:rPr>
              <a:t>No. The stable mode uses one combined rigid body. Multi-anchor mode remains available for evaluation.</a:t>
            </a:r>
          </a:p>
        </p:txBody>
      </p:sp>
      <p:sp>
        <p:nvSpPr>
          <p:cNvPr id="8" name="">
            <a:extLst xmlns:a="http://schemas.openxmlformats.org/drawingml/2006/main">
              <a:ext uri="{FF2B5EF4-FFF2-40B4-BE49-F238E27FC236}">
                <a16:creationId xmlns:a16="http://schemas.microsoft.com/office/drawing/2014/main" id="{623BCD95-4438-4592-9EB4-8D47E4866155}"/>
              </a:ext>
            </a:extLst>
          </p:cNvPr>
          <p:cNvSpPr>
            <a:spLocks xmlns:a="http://schemas.openxmlformats.org/drawingml/2006/main" noGrp="1"/>
          </p:cNvSpPr>
          <p:nvPr/>
        </p:nvSpPr>
        <p:spPr>
          <a:xfrm xmlns:a="http://schemas.openxmlformats.org/drawingml/2006/main">
            <a:off x="1314450" y="2257425"/>
            <a:ext cx="10048875" cy="9525"/>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79845E-BE3F-4442-868C-989F14E41D72}"/>
              </a:ext>
            </a:extLst>
          </p:cNvPr>
          <p:cNvSpPr>
            <a:spLocks xmlns:a="http://schemas.openxmlformats.org/drawingml/2006/main" noGrp="1"/>
          </p:cNvSpPr>
          <p:nvPr/>
        </p:nvSpPr>
        <p:spPr>
          <a:xfrm xmlns:a="http://schemas.openxmlformats.org/drawingml/2006/main">
            <a:off x="742950" y="244792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35B6C8"/>
                </a:solidFill>
                <a:latin typeface="Yu Gothic"/>
                <a:ea typeface="Yu Gothic"/>
                <a:cs typeface="Yu Gothic"/>
              </a:defRPr>
            </a:pPr>
            <a:r>
              <a:rPr sz="1500" b="1">
                <a:solidFill>
                  <a:srgbClr val="35B6C8"/>
                </a:solidFill>
                <a:latin typeface="Yu Gothic"/>
                <a:ea typeface="Yu Gothic"/>
                <a:cs typeface="Yu Gothic"/>
              </a:rPr>
              <a:t>Q2</a:t>
            </a:r>
          </a:p>
        </p:txBody>
      </p:sp>
      <p:sp>
        <p:nvSpPr>
          <p:cNvPr id="10" name="">
            <a:extLst xmlns:a="http://schemas.openxmlformats.org/drawingml/2006/main">
              <a:ext uri="{FF2B5EF4-FFF2-40B4-BE49-F238E27FC236}">
                <a16:creationId xmlns:a16="http://schemas.microsoft.com/office/drawing/2014/main" id="{AC1A1DBB-3CA4-40E2-B403-79EBBB7F8AD8}"/>
              </a:ext>
            </a:extLst>
          </p:cNvPr>
          <p:cNvSpPr>
            <a:spLocks xmlns:a="http://schemas.openxmlformats.org/drawingml/2006/main" noGrp="1"/>
          </p:cNvSpPr>
          <p:nvPr/>
        </p:nvSpPr>
        <p:spPr>
          <a:xfrm xmlns:a="http://schemas.openxmlformats.org/drawingml/2006/main">
            <a:off x="1333500" y="24479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Why change the submitted design?</a:t>
            </a:r>
          </a:p>
        </p:txBody>
      </p:sp>
      <p:sp>
        <p:nvSpPr>
          <p:cNvPr id="11" name="">
            <a:extLst xmlns:a="http://schemas.openxmlformats.org/drawingml/2006/main">
              <a:ext uri="{FF2B5EF4-FFF2-40B4-BE49-F238E27FC236}">
                <a16:creationId xmlns:a16="http://schemas.microsoft.com/office/drawing/2014/main" id="{0749D9F6-7FB5-495A-A85D-3439DD2D6E7C}"/>
              </a:ext>
            </a:extLst>
          </p:cNvPr>
          <p:cNvSpPr>
            <a:spLocks xmlns:a="http://schemas.openxmlformats.org/drawingml/2006/main" noGrp="1"/>
          </p:cNvSpPr>
          <p:nvPr/>
        </p:nvSpPr>
        <p:spPr>
          <a:xfrm xmlns:a="http://schemas.openxmlformats.org/drawingml/2006/main">
            <a:off x="5667375" y="2447925"/>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433"/>
                </a:solidFill>
                <a:latin typeface="Yu Gothic"/>
                <a:ea typeface="Yu Gothic"/>
                <a:cs typeface="Yu Gothic"/>
              </a:defRPr>
            </a:pPr>
            <a:r>
              <a:rPr sz="1500" b="0">
                <a:solidFill>
                  <a:srgbClr val="172433"/>
                </a:solidFill>
                <a:latin typeface="Yu Gothic"/>
                <a:ea typeface="Yu Gothic"/>
                <a:cs typeface="Yu Gothic"/>
              </a:rPr>
              <a:t>Independent small models could drift, while the combined model uses more visible contour information.</a:t>
            </a:r>
          </a:p>
        </p:txBody>
      </p:sp>
      <p:sp>
        <p:nvSpPr>
          <p:cNvPr id="12" name="">
            <a:extLst xmlns:a="http://schemas.openxmlformats.org/drawingml/2006/main">
              <a:ext uri="{FF2B5EF4-FFF2-40B4-BE49-F238E27FC236}">
                <a16:creationId xmlns:a16="http://schemas.microsoft.com/office/drawing/2014/main" id="{975E100A-3830-4E2B-8A7F-0B9C4AABFCBF}"/>
              </a:ext>
            </a:extLst>
          </p:cNvPr>
          <p:cNvSpPr>
            <a:spLocks xmlns:a="http://schemas.openxmlformats.org/drawingml/2006/main" noGrp="1"/>
          </p:cNvSpPr>
          <p:nvPr/>
        </p:nvSpPr>
        <p:spPr>
          <a:xfrm xmlns:a="http://schemas.openxmlformats.org/drawingml/2006/main">
            <a:off x="1314450" y="3133725"/>
            <a:ext cx="10048875" cy="9525"/>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A8D471-BE25-4C49-9346-D604BB18D803}"/>
              </a:ext>
            </a:extLst>
          </p:cNvPr>
          <p:cNvSpPr>
            <a:spLocks xmlns:a="http://schemas.openxmlformats.org/drawingml/2006/main" noGrp="1"/>
          </p:cNvSpPr>
          <p:nvPr/>
        </p:nvSpPr>
        <p:spPr>
          <a:xfrm xmlns:a="http://schemas.openxmlformats.org/drawingml/2006/main">
            <a:off x="742950" y="332422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35B6C8"/>
                </a:solidFill>
                <a:latin typeface="Yu Gothic"/>
                <a:ea typeface="Yu Gothic"/>
                <a:cs typeface="Yu Gothic"/>
              </a:defRPr>
            </a:pPr>
            <a:r>
              <a:rPr sz="1500" b="1">
                <a:solidFill>
                  <a:srgbClr val="35B6C8"/>
                </a:solidFill>
                <a:latin typeface="Yu Gothic"/>
                <a:ea typeface="Yu Gothic"/>
                <a:cs typeface="Yu Gothic"/>
              </a:rPr>
              <a:t>Q3</a:t>
            </a:r>
          </a:p>
        </p:txBody>
      </p:sp>
      <p:sp>
        <p:nvSpPr>
          <p:cNvPr id="14" name="">
            <a:extLst xmlns:a="http://schemas.openxmlformats.org/drawingml/2006/main">
              <a:ext uri="{FF2B5EF4-FFF2-40B4-BE49-F238E27FC236}">
                <a16:creationId xmlns:a16="http://schemas.microsoft.com/office/drawing/2014/main" id="{17B2CAE9-8F86-4B04-BDC3-E1E6387E6BEE}"/>
              </a:ext>
            </a:extLst>
          </p:cNvPr>
          <p:cNvSpPr>
            <a:spLocks xmlns:a="http://schemas.openxmlformats.org/drawingml/2006/main" noGrp="1"/>
          </p:cNvSpPr>
          <p:nvPr/>
        </p:nvSpPr>
        <p:spPr>
          <a:xfrm xmlns:a="http://schemas.openxmlformats.org/drawingml/2006/main">
            <a:off x="1333500" y="33242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What improved after submission?</a:t>
            </a:r>
          </a:p>
        </p:txBody>
      </p:sp>
      <p:sp>
        <p:nvSpPr>
          <p:cNvPr id="15" name="">
            <a:extLst xmlns:a="http://schemas.openxmlformats.org/drawingml/2006/main">
              <a:ext uri="{FF2B5EF4-FFF2-40B4-BE49-F238E27FC236}">
                <a16:creationId xmlns:a16="http://schemas.microsoft.com/office/drawing/2014/main" id="{12DA31A4-4543-4B2D-AED5-C905B8DCD422}"/>
              </a:ext>
            </a:extLst>
          </p:cNvPr>
          <p:cNvSpPr>
            <a:spLocks xmlns:a="http://schemas.openxmlformats.org/drawingml/2006/main" noGrp="1"/>
          </p:cNvSpPr>
          <p:nvPr/>
        </p:nvSpPr>
        <p:spPr>
          <a:xfrm xmlns:a="http://schemas.openxmlformats.org/drawingml/2006/main">
            <a:off x="5667375" y="3324225"/>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433"/>
                </a:solidFill>
                <a:latin typeface="Yu Gothic"/>
                <a:ea typeface="Yu Gothic"/>
                <a:cs typeface="Yu Gothic"/>
              </a:defRPr>
            </a:pPr>
            <a:r>
              <a:rPr sz="1500" b="0">
                <a:solidFill>
                  <a:srgbClr val="172433"/>
                </a:solidFill>
                <a:latin typeface="Yu Gothic"/>
                <a:ea typeface="Yu Gothic"/>
                <a:cs typeface="Yu Gothic"/>
              </a:rPr>
              <a:t>We corrected scale and calibration, revised the model geometry, and added quality-based recovery.</a:t>
            </a:r>
          </a:p>
        </p:txBody>
      </p:sp>
      <p:sp>
        <p:nvSpPr>
          <p:cNvPr id="16" name="">
            <a:extLst xmlns:a="http://schemas.openxmlformats.org/drawingml/2006/main">
              <a:ext uri="{FF2B5EF4-FFF2-40B4-BE49-F238E27FC236}">
                <a16:creationId xmlns:a16="http://schemas.microsoft.com/office/drawing/2014/main" id="{F3866BB8-2C40-407E-B5E1-D7C84FABEA1B}"/>
              </a:ext>
            </a:extLst>
          </p:cNvPr>
          <p:cNvSpPr>
            <a:spLocks xmlns:a="http://schemas.openxmlformats.org/drawingml/2006/main" noGrp="1"/>
          </p:cNvSpPr>
          <p:nvPr/>
        </p:nvSpPr>
        <p:spPr>
          <a:xfrm xmlns:a="http://schemas.openxmlformats.org/drawingml/2006/main">
            <a:off x="1314450" y="4010025"/>
            <a:ext cx="10048875" cy="9525"/>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41E90D-B222-46AD-91A1-13851FCDC271}"/>
              </a:ext>
            </a:extLst>
          </p:cNvPr>
          <p:cNvSpPr>
            <a:spLocks xmlns:a="http://schemas.openxmlformats.org/drawingml/2006/main" noGrp="1"/>
          </p:cNvSpPr>
          <p:nvPr/>
        </p:nvSpPr>
        <p:spPr>
          <a:xfrm xmlns:a="http://schemas.openxmlformats.org/drawingml/2006/main">
            <a:off x="742950" y="420052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35B6C8"/>
                </a:solidFill>
                <a:latin typeface="Yu Gothic"/>
                <a:ea typeface="Yu Gothic"/>
                <a:cs typeface="Yu Gothic"/>
              </a:defRPr>
            </a:pPr>
            <a:r>
              <a:rPr sz="1500" b="1">
                <a:solidFill>
                  <a:srgbClr val="35B6C8"/>
                </a:solidFill>
                <a:latin typeface="Yu Gothic"/>
                <a:ea typeface="Yu Gothic"/>
                <a:cs typeface="Yu Gothic"/>
              </a:rPr>
              <a:t>Q4</a:t>
            </a:r>
          </a:p>
        </p:txBody>
      </p:sp>
      <p:sp>
        <p:nvSpPr>
          <p:cNvPr id="18" name="">
            <a:extLst xmlns:a="http://schemas.openxmlformats.org/drawingml/2006/main">
              <a:ext uri="{FF2B5EF4-FFF2-40B4-BE49-F238E27FC236}">
                <a16:creationId xmlns:a16="http://schemas.microsoft.com/office/drawing/2014/main" id="{7B942AA5-86C0-493A-A143-BCE163FC93F5}"/>
              </a:ext>
            </a:extLst>
          </p:cNvPr>
          <p:cNvSpPr>
            <a:spLocks xmlns:a="http://schemas.openxmlformats.org/drawingml/2006/main" noGrp="1"/>
          </p:cNvSpPr>
          <p:nvPr/>
        </p:nvSpPr>
        <p:spPr>
          <a:xfrm xmlns:a="http://schemas.openxmlformats.org/drawingml/2006/main">
            <a:off x="1333500" y="42005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How do you evaluate accuracy?</a:t>
            </a:r>
          </a:p>
        </p:txBody>
      </p:sp>
      <p:sp>
        <p:nvSpPr>
          <p:cNvPr id="19" name="">
            <a:extLst xmlns:a="http://schemas.openxmlformats.org/drawingml/2006/main">
              <a:ext uri="{FF2B5EF4-FFF2-40B4-BE49-F238E27FC236}">
                <a16:creationId xmlns:a16="http://schemas.microsoft.com/office/drawing/2014/main" id="{2DF29717-D20F-4361-AF9E-9C59DAEAB732}"/>
              </a:ext>
            </a:extLst>
          </p:cNvPr>
          <p:cNvSpPr>
            <a:spLocks xmlns:a="http://schemas.openxmlformats.org/drawingml/2006/main" noGrp="1"/>
          </p:cNvSpPr>
          <p:nvPr/>
        </p:nvSpPr>
        <p:spPr>
          <a:xfrm xmlns:a="http://schemas.openxmlformats.org/drawingml/2006/main">
            <a:off x="5667375" y="4200525"/>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433"/>
                </a:solidFill>
                <a:latin typeface="Yu Gothic"/>
                <a:ea typeface="Yu Gothic"/>
                <a:cs typeface="Yu Gothic"/>
              </a:defRPr>
            </a:pPr>
            <a:r>
              <a:rPr sz="1500" b="0">
                <a:solidFill>
                  <a:srgbClr val="172433"/>
                </a:solidFill>
                <a:latin typeface="Yu Gothic"/>
                <a:ea typeface="Yu Gothic"/>
                <a:cs typeface="Yu Gothic"/>
              </a:rPr>
              <a:t>We log translation and rotation error against a registered ArUco reference.</a:t>
            </a:r>
          </a:p>
        </p:txBody>
      </p:sp>
      <p:sp>
        <p:nvSpPr>
          <p:cNvPr id="20" name="">
            <a:extLst xmlns:a="http://schemas.openxmlformats.org/drawingml/2006/main">
              <a:ext uri="{FF2B5EF4-FFF2-40B4-BE49-F238E27FC236}">
                <a16:creationId xmlns:a16="http://schemas.microsoft.com/office/drawing/2014/main" id="{58464C0F-74FC-486A-A0E6-436A72DB7567}"/>
              </a:ext>
            </a:extLst>
          </p:cNvPr>
          <p:cNvSpPr>
            <a:spLocks xmlns:a="http://schemas.openxmlformats.org/drawingml/2006/main" noGrp="1"/>
          </p:cNvSpPr>
          <p:nvPr/>
        </p:nvSpPr>
        <p:spPr>
          <a:xfrm xmlns:a="http://schemas.openxmlformats.org/drawingml/2006/main">
            <a:off x="1314450" y="4886325"/>
            <a:ext cx="10048875" cy="9525"/>
          </a:xfrm>
          <a:prstGeom xmlns:a="http://schemas.openxmlformats.org/drawingml/2006/main" prst="rect">
            <a:avLst/>
          </a:prstGeom>
          <a:solidFill xmlns:a="http://schemas.openxmlformats.org/drawingml/2006/main">
            <a:srgbClr val="D9E0E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759E794-1EF9-44A0-880A-6EF23928DA53}"/>
              </a:ext>
            </a:extLst>
          </p:cNvPr>
          <p:cNvSpPr>
            <a:spLocks xmlns:a="http://schemas.openxmlformats.org/drawingml/2006/main" noGrp="1"/>
          </p:cNvSpPr>
          <p:nvPr/>
        </p:nvSpPr>
        <p:spPr>
          <a:xfrm xmlns:a="http://schemas.openxmlformats.org/drawingml/2006/main">
            <a:off x="742950" y="507682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35B6C8"/>
                </a:solidFill>
                <a:latin typeface="Yu Gothic"/>
                <a:ea typeface="Yu Gothic"/>
                <a:cs typeface="Yu Gothic"/>
              </a:defRPr>
            </a:pPr>
            <a:r>
              <a:rPr sz="1500" b="1">
                <a:solidFill>
                  <a:srgbClr val="35B6C8"/>
                </a:solidFill>
                <a:latin typeface="Yu Gothic"/>
                <a:ea typeface="Yu Gothic"/>
                <a:cs typeface="Yu Gothic"/>
              </a:rPr>
              <a:t>Q5</a:t>
            </a:r>
          </a:p>
        </p:txBody>
      </p:sp>
      <p:sp>
        <p:nvSpPr>
          <p:cNvPr id="22" name="">
            <a:extLst xmlns:a="http://schemas.openxmlformats.org/drawingml/2006/main">
              <a:ext uri="{FF2B5EF4-FFF2-40B4-BE49-F238E27FC236}">
                <a16:creationId xmlns:a16="http://schemas.microsoft.com/office/drawing/2014/main" id="{B36161FD-745B-42FD-909E-0772D1CF0FAE}"/>
              </a:ext>
            </a:extLst>
          </p:cNvPr>
          <p:cNvSpPr>
            <a:spLocks xmlns:a="http://schemas.openxmlformats.org/drawingml/2006/main" noGrp="1"/>
          </p:cNvSpPr>
          <p:nvPr/>
        </p:nvSpPr>
        <p:spPr>
          <a:xfrm xmlns:a="http://schemas.openxmlformats.org/drawingml/2006/main">
            <a:off x="1333500" y="50768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1">
                <a:solidFill>
                  <a:srgbClr val="10253F"/>
                </a:solidFill>
                <a:latin typeface="Yu Gothic"/>
                <a:ea typeface="Yu Gothic"/>
                <a:cs typeface="Yu Gothic"/>
              </a:defRPr>
            </a:pPr>
            <a:r>
              <a:rPr sz="1575" b="1">
                <a:solidFill>
                  <a:srgbClr val="10253F"/>
                </a:solidFill>
                <a:latin typeface="Yu Gothic"/>
                <a:ea typeface="Yu Gothic"/>
                <a:cs typeface="Yu Gothic"/>
              </a:rPr>
              <a:t>Is it clinically validated?</a:t>
            </a:r>
          </a:p>
        </p:txBody>
      </p:sp>
      <p:sp>
        <p:nvSpPr>
          <p:cNvPr id="23" name="">
            <a:extLst xmlns:a="http://schemas.openxmlformats.org/drawingml/2006/main">
              <a:ext uri="{FF2B5EF4-FFF2-40B4-BE49-F238E27FC236}">
                <a16:creationId xmlns:a16="http://schemas.microsoft.com/office/drawing/2014/main" id="{FC0EF90E-981D-4C05-83A6-4357074D83F4}"/>
              </a:ext>
            </a:extLst>
          </p:cNvPr>
          <p:cNvSpPr>
            <a:spLocks xmlns:a="http://schemas.openxmlformats.org/drawingml/2006/main" noGrp="1"/>
          </p:cNvSpPr>
          <p:nvPr/>
        </p:nvSpPr>
        <p:spPr>
          <a:xfrm xmlns:a="http://schemas.openxmlformats.org/drawingml/2006/main">
            <a:off x="5667375" y="5076825"/>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172433"/>
                </a:solidFill>
                <a:latin typeface="Yu Gothic"/>
                <a:ea typeface="Yu Gothic"/>
                <a:cs typeface="Yu Gothic"/>
              </a:defRPr>
            </a:pPr>
            <a:r>
              <a:rPr sz="1500" b="0">
                <a:solidFill>
                  <a:srgbClr val="172433"/>
                </a:solidFill>
                <a:latin typeface="Yu Gothic"/>
                <a:ea typeface="Yu Gothic"/>
                <a:cs typeface="Yu Gothic"/>
              </a:rPr>
              <a:t>No. This is a technical demonstration, and clinical validation remains future work.</a:t>
            </a:r>
          </a:p>
        </p:txBody>
      </p:sp>
    </p:spTree>
    <p:extLst>
      <p:ext uri="{BB962C8B-B14F-4D97-AF65-F5344CB8AC3E}">
        <p14:creationId xmlns:p14="http://schemas.microsoft.com/office/powerpoint/2010/main" val="17348907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2026-09-29T06:40:14.8490000Z</dcterms:created>
  <dcterms:modified xsi:type="dcterms:W3CDTF">2026-09-29T06:40:14.8490000Z</dcterms:modified>
</coreProperties>
</file>